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3" autoAdjust="0"/>
    <p:restoredTop sz="77234" autoAdjust="0"/>
  </p:normalViewPr>
  <p:slideViewPr>
    <p:cSldViewPr snapToGrid="0" snapToObjects="1">
      <p:cViewPr varScale="1">
        <p:scale>
          <a:sx n="63" d="100"/>
          <a:sy n="63" d="100"/>
        </p:scale>
        <p:origin x="122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003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har beholdt den eksisterende transporten, men bygget et segmentert og overvåkbart overlay oppå den. Målet er å redusere risiko uten å miste dagens funksjonalitet eller kreve store nyanskaffelser.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Nettet</a:t>
            </a:r>
            <a:r>
              <a:rPr lang="en-US" dirty="0"/>
              <a:t> var flatt, private DHCP-</a:t>
            </a:r>
            <a:r>
              <a:rPr lang="en-US" dirty="0" err="1"/>
              <a:t>enheter</a:t>
            </a:r>
            <a:r>
              <a:rPr lang="en-US" dirty="0"/>
              <a:t> </a:t>
            </a:r>
            <a:r>
              <a:rPr lang="en-US" dirty="0" err="1"/>
              <a:t>skapte</a:t>
            </a:r>
            <a:r>
              <a:rPr lang="en-US" dirty="0"/>
              <a:t> ustabilitet, og det </a:t>
            </a:r>
            <a:r>
              <a:rPr lang="en-US" dirty="0" err="1"/>
              <a:t>manglet</a:t>
            </a:r>
            <a:r>
              <a:rPr lang="en-US" dirty="0"/>
              <a:t> sentral logging og synlighet. </a:t>
            </a:r>
            <a:r>
              <a:rPr lang="en-US" dirty="0" err="1"/>
              <a:t>Samtidig</a:t>
            </a:r>
            <a:r>
              <a:rPr lang="en-US" dirty="0"/>
              <a:t> </a:t>
            </a:r>
            <a:r>
              <a:rPr lang="en-US" dirty="0" err="1"/>
              <a:t>måtte</a:t>
            </a:r>
            <a:r>
              <a:rPr lang="en-US" dirty="0"/>
              <a:t> vi gjenbruke eksisterende utstyr og ikke endre det litauiske Layer 3-VPN-et. </a:t>
            </a:r>
            <a:r>
              <a:rPr lang="en-US" dirty="0" err="1"/>
              <a:t>Designmålet</a:t>
            </a:r>
            <a:r>
              <a:rPr lang="en-US" dirty="0"/>
              <a:t> </a:t>
            </a:r>
            <a:r>
              <a:rPr lang="en-US" dirty="0" err="1"/>
              <a:t>ble</a:t>
            </a:r>
            <a:r>
              <a:rPr lang="en-US" dirty="0"/>
              <a:t> derfor å segmentere, begrense, overvåke og standardisere.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 litauiske VPN-en er bare transport og endres ikke. Over den kjører vi separate DMVPN-overlay per VRF. BNHQ er hub og samler sentrale tjenester som AAA, logging, NTP </a:t>
            </a:r>
            <a:r>
              <a:rPr lang="en-US" dirty="0" err="1"/>
              <a:t>og</a:t>
            </a:r>
            <a:r>
              <a:rPr lang="en-US" dirty="0"/>
              <a:t> IDS. Operative overlay beskyttes med IPsec, mens INET ikke trenger samme beskyttelse. Monitoring-</a:t>
            </a:r>
            <a:r>
              <a:rPr lang="en-US" dirty="0" err="1"/>
              <a:t>trafikk</a:t>
            </a:r>
            <a:r>
              <a:rPr lang="en-US" dirty="0"/>
              <a:t> </a:t>
            </a:r>
            <a:r>
              <a:rPr lang="en-US" dirty="0" err="1"/>
              <a:t>speiles</a:t>
            </a:r>
            <a:r>
              <a:rPr lang="en-US" dirty="0"/>
              <a:t> med ERSPAN </a:t>
            </a:r>
            <a:r>
              <a:rPr lang="en-US" dirty="0" err="1"/>
              <a:t>til</a:t>
            </a:r>
            <a:r>
              <a:rPr lang="en-US" dirty="0"/>
              <a:t> IDS.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På</a:t>
            </a:r>
            <a:r>
              <a:rPr lang="en-US" dirty="0"/>
              <a:t> hvert site bruker vi samme fem </a:t>
            </a:r>
            <a:r>
              <a:rPr lang="en-US" dirty="0" err="1"/>
              <a:t>segmenter</a:t>
            </a:r>
            <a:r>
              <a:rPr lang="en-US" dirty="0"/>
              <a:t>, </a:t>
            </a:r>
            <a:r>
              <a:rPr lang="en-US" dirty="0" err="1"/>
              <a:t>hvor</a:t>
            </a:r>
            <a:r>
              <a:rPr lang="en-US" dirty="0"/>
              <a:t> VLAN skiller på Layer 2 og VRF skiller rutingtabellene på Layer 3. Adresseplanen er </a:t>
            </a:r>
            <a:r>
              <a:rPr lang="en-US" dirty="0" err="1"/>
              <a:t>konsekvent</a:t>
            </a:r>
            <a:r>
              <a:rPr lang="en-US" dirty="0"/>
              <a:t>, </a:t>
            </a:r>
            <a:r>
              <a:rPr lang="en-US" dirty="0" err="1"/>
              <a:t>hvor</a:t>
            </a:r>
            <a:r>
              <a:rPr lang="en-US" dirty="0"/>
              <a:t> andre oktett er site </a:t>
            </a:r>
            <a:r>
              <a:rPr lang="en-US" dirty="0" err="1"/>
              <a:t>nummer</a:t>
            </a:r>
            <a:r>
              <a:rPr lang="en-US" dirty="0"/>
              <a:t>, tredje identifiserer tjenesten. Trafikk mellom segmenter følger en eksplisitt tjenestematrise, og hver VRF fortsetter videre i sitt eget DMVPN-overlay.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Hvor</a:t>
            </a:r>
            <a:r>
              <a:rPr lang="en-US" dirty="0"/>
              <a:t> Huben er NHRP-server </a:t>
            </a:r>
            <a:r>
              <a:rPr lang="en-US" dirty="0" err="1"/>
              <a:t>og</a:t>
            </a:r>
            <a:r>
              <a:rPr lang="en-US" dirty="0"/>
              <a:t> </a:t>
            </a:r>
            <a:r>
              <a:rPr lang="en-US" dirty="0" err="1"/>
              <a:t>kontrollpunkt</a:t>
            </a:r>
            <a:r>
              <a:rPr lang="en-US" dirty="0"/>
              <a:t> </a:t>
            </a:r>
            <a:r>
              <a:rPr lang="en-US" dirty="0" err="1"/>
              <a:t>og</a:t>
            </a:r>
            <a:r>
              <a:rPr lang="en-US" dirty="0"/>
              <a:t> </a:t>
            </a:r>
            <a:r>
              <a:rPr lang="en-US" dirty="0" err="1"/>
              <a:t>første</a:t>
            </a:r>
            <a:r>
              <a:rPr lang="en-US" dirty="0"/>
              <a:t> trafikk mellom to spokes kan gå via BNHQ. Huben sender NHRP redirect, og spoke lærer en shortcut. Deretter kan selve datatrafikken gå direkte mellom sites. Det reduserer belastningen på huben og gjør løsningen mer skalerbar.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På</a:t>
            </a:r>
            <a:r>
              <a:rPr lang="en-US" dirty="0"/>
              <a:t> accesslaget stopper DHCP Snooping falske DHCP-servere og gir bindinger som DAI og IP Source Guard kan bruke. STP-beskyttelsen hindrer uautoriserte switcher og loops. Administrasjon begrenses til MGMT, </a:t>
            </a:r>
            <a:r>
              <a:rPr lang="en-US" dirty="0" err="1"/>
              <a:t>som</a:t>
            </a:r>
            <a:r>
              <a:rPr lang="en-US" dirty="0"/>
              <a:t> </a:t>
            </a:r>
            <a:r>
              <a:rPr lang="en-US" dirty="0" err="1"/>
              <a:t>skjer</a:t>
            </a:r>
            <a:r>
              <a:rPr lang="en-US" dirty="0"/>
              <a:t> over SSH og autentiseres med TACACS+. IPsec beskytter de operative DMVPN-overlayene.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er det viktig å skille mellom syslog og ERSPAN. Syslog er hendelser fra nettverksenhetene. ERSPAN er kopier av utvalgte datapakker. NTP sørger for felles tid, og TACACS+ gir sentral kontroll på administrativ tilgang. Samlet gir dette langt bedre </a:t>
            </a:r>
            <a:r>
              <a:rPr lang="en-US" dirty="0" err="1"/>
              <a:t>synlighet</a:t>
            </a:r>
            <a:r>
              <a:rPr lang="en-US" dirty="0"/>
              <a:t> </a:t>
            </a:r>
            <a:r>
              <a:rPr lang="en-US" dirty="0" err="1"/>
              <a:t>enn</a:t>
            </a:r>
            <a:r>
              <a:rPr lang="en-US" dirty="0"/>
              <a:t> </a:t>
            </a:r>
            <a:r>
              <a:rPr lang="en-US" dirty="0" err="1"/>
              <a:t>nettet</a:t>
            </a:r>
            <a:r>
              <a:rPr lang="en-US" dirty="0"/>
              <a:t> </a:t>
            </a:r>
            <a:r>
              <a:rPr lang="en-US" dirty="0" err="1"/>
              <a:t>som</a:t>
            </a:r>
            <a:r>
              <a:rPr lang="en-US" dirty="0"/>
              <a:t> var.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Nettverket</a:t>
            </a:r>
            <a:r>
              <a:rPr lang="en-US" dirty="0"/>
              <a:t> skal være mulig å </a:t>
            </a:r>
            <a:r>
              <a:rPr lang="en-US" dirty="0" err="1"/>
              <a:t>driftes</a:t>
            </a:r>
            <a:r>
              <a:rPr lang="en-US" dirty="0"/>
              <a:t> av de </a:t>
            </a:r>
            <a:r>
              <a:rPr lang="en-US" dirty="0" err="1"/>
              <a:t>som</a:t>
            </a:r>
            <a:r>
              <a:rPr lang="en-US" dirty="0"/>
              <a:t> tar over. Derfor bruker vi samme site-struktur og samme sikkerhetsbaseline overalt. Excel-malen beskriver site, VLAN, VRF, policy og tjenester, og generatoren lager router- og switch-konfigurasjoner. Nye sites blir derfor mer forutsigbare og mindre avhengige av manuell konfigurasjon.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endrer ikke transportnettet, men legger kontroll og sikkerhet i vårt eget overlay. Løsningen gir segmentering, skalerbarhet og synlighet, samtidig som vi gjenbruker eksisterende infrastruktur og </a:t>
            </a:r>
            <a:r>
              <a:rPr lang="en-US" dirty="0" err="1"/>
              <a:t>standardiserer</a:t>
            </a:r>
            <a:r>
              <a:rPr lang="en-US" dirty="0"/>
              <a:t> </a:t>
            </a:r>
            <a:r>
              <a:rPr lang="en-US" dirty="0" err="1"/>
              <a:t>driften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8A745"/>
          </a:solidFill>
          <a:ln w="12700">
            <a:solidFill>
              <a:srgbClr val="28A745"/>
            </a:solidFill>
            <a:prstDash val="solid"/>
          </a:ln>
        </p:spPr>
        <p:txBody>
          <a:bodyPr/>
          <a:lstStyle/>
          <a:p>
            <a:endParaRPr lang="nb-NO"/>
          </a:p>
        </p:txBody>
      </p:sp>
      <p:sp>
        <p:nvSpPr>
          <p:cNvPr id="3" name="Text 1"/>
          <p:cNvSpPr/>
          <p:nvPr/>
        </p:nvSpPr>
        <p:spPr>
          <a:xfrm>
            <a:off x="502920" y="6510528"/>
            <a:ext cx="5760720" cy="164592"/>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Bataljonsnettverk – designpresentasjon</a:t>
            </a:r>
            <a:endParaRPr lang="en-US" sz="850" dirty="0"/>
          </a:p>
        </p:txBody>
      </p:sp>
      <p:sp>
        <p:nvSpPr>
          <p:cNvPr id="4" name="Text 2"/>
          <p:cNvSpPr/>
          <p:nvPr/>
        </p:nvSpPr>
        <p:spPr>
          <a:xfrm>
            <a:off x="9372600" y="6510528"/>
            <a:ext cx="2286000" cy="164592"/>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Design • sikkerhet • drift</a:t>
            </a:r>
            <a:endParaRPr lang="en-US" sz="850" dirty="0"/>
          </a:p>
        </p:txBody>
      </p:sp>
      <p:sp>
        <p:nvSpPr>
          <p:cNvPr id="25"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solidFill>
            <a:prstDash val="solid"/>
          </a:ln>
        </p:spPr>
        <p:txBody>
          <a:bodyPr/>
          <a:lstStyle/>
          <a:p>
            <a:endParaRPr lang="nb-NO"/>
          </a:p>
        </p:txBody>
      </p:sp>
      <p:sp>
        <p:nvSpPr>
          <p:cNvPr id="3" name="Shape 1"/>
          <p:cNvSpPr/>
          <p:nvPr/>
        </p:nvSpPr>
        <p:spPr>
          <a:xfrm>
            <a:off x="0" y="0"/>
            <a:ext cx="12191695" cy="73152"/>
          </a:xfrm>
          <a:prstGeom prst="rect">
            <a:avLst/>
          </a:prstGeom>
          <a:solidFill>
            <a:srgbClr val="28A745"/>
          </a:solidFill>
          <a:ln w="12700">
            <a:solidFill>
              <a:srgbClr val="28A745"/>
            </a:solidFill>
            <a:prstDash val="solid"/>
          </a:ln>
        </p:spPr>
        <p:txBody>
          <a:bodyPr/>
          <a:lstStyle/>
          <a:p>
            <a:endParaRPr lang="nb-NO"/>
          </a:p>
        </p:txBody>
      </p:sp>
      <p:sp>
        <p:nvSpPr>
          <p:cNvPr id="4" name="Text 2"/>
          <p:cNvSpPr/>
          <p:nvPr/>
        </p:nvSpPr>
        <p:spPr>
          <a:xfrm>
            <a:off x="713232" y="658368"/>
            <a:ext cx="3017520" cy="219456"/>
          </a:xfrm>
          <a:prstGeom prst="rect">
            <a:avLst/>
          </a:prstGeom>
          <a:noFill/>
          <a:ln/>
        </p:spPr>
        <p:txBody>
          <a:bodyPr wrap="square" lIns="0" tIns="0" rIns="0" bIns="0" rtlCol="0" anchor="ctr"/>
          <a:lstStyle/>
          <a:p>
            <a:pPr marL="0" indent="0">
              <a:buNone/>
            </a:pPr>
            <a:r>
              <a:rPr lang="en-US" sz="1100" b="1" kern="0" spc="160" dirty="0">
                <a:solidFill>
                  <a:srgbClr val="65D68C"/>
                </a:solidFill>
              </a:rPr>
              <a:t>DESIGNPRESENTASJON</a:t>
            </a:r>
            <a:endParaRPr lang="en-US" sz="1100" dirty="0"/>
          </a:p>
        </p:txBody>
      </p:sp>
      <p:sp>
        <p:nvSpPr>
          <p:cNvPr id="5" name="Text 3"/>
          <p:cNvSpPr/>
          <p:nvPr/>
        </p:nvSpPr>
        <p:spPr>
          <a:xfrm>
            <a:off x="713232" y="1051560"/>
            <a:ext cx="6309360" cy="1417320"/>
          </a:xfrm>
          <a:prstGeom prst="rect">
            <a:avLst/>
          </a:prstGeom>
          <a:noFill/>
          <a:ln/>
        </p:spPr>
        <p:txBody>
          <a:bodyPr wrap="square" lIns="0" tIns="0" rIns="0" bIns="0" rtlCol="0" anchor="ctr">
            <a:normAutofit/>
          </a:bodyPr>
          <a:lstStyle/>
          <a:p>
            <a:pPr marL="0" indent="0">
              <a:buNone/>
            </a:pPr>
            <a:r>
              <a:rPr lang="en-US" sz="3300" b="1" dirty="0">
                <a:solidFill>
                  <a:srgbClr val="FFFFFF"/>
                </a:solidFill>
                <a:latin typeface="Aptos Display" pitchFamily="34" charset="0"/>
                <a:ea typeface="Aptos Display" pitchFamily="34" charset="-122"/>
                <a:cs typeface="Aptos Display" pitchFamily="34" charset="-120"/>
              </a:rPr>
              <a:t>Ny nettverksdesign</a:t>
            </a:r>
            <a:endParaRPr lang="en-US" sz="3300" dirty="0"/>
          </a:p>
          <a:p>
            <a:pPr marL="0" indent="0">
              <a:buNone/>
            </a:pPr>
            <a:r>
              <a:rPr lang="en-US" sz="3300" b="1" dirty="0">
                <a:solidFill>
                  <a:srgbClr val="FFFFFF"/>
                </a:solidFill>
                <a:latin typeface="Aptos Display" pitchFamily="34" charset="0"/>
                <a:ea typeface="Aptos Display" pitchFamily="34" charset="-122"/>
                <a:cs typeface="Aptos Display" pitchFamily="34" charset="-120"/>
              </a:rPr>
              <a:t>for bataljonen</a:t>
            </a:r>
            <a:endParaRPr lang="en-US" sz="3300" dirty="0"/>
          </a:p>
        </p:txBody>
      </p:sp>
      <p:sp>
        <p:nvSpPr>
          <p:cNvPr id="6" name="Text 4"/>
          <p:cNvSpPr/>
          <p:nvPr/>
        </p:nvSpPr>
        <p:spPr>
          <a:xfrm>
            <a:off x="731520" y="2670048"/>
            <a:ext cx="5806440" cy="594360"/>
          </a:xfrm>
          <a:prstGeom prst="rect">
            <a:avLst/>
          </a:prstGeom>
          <a:noFill/>
          <a:ln/>
        </p:spPr>
        <p:txBody>
          <a:bodyPr wrap="square" lIns="0" tIns="0" rIns="0" bIns="0" rtlCol="0" anchor="ctr">
            <a:normAutofit/>
          </a:bodyPr>
          <a:lstStyle/>
          <a:p>
            <a:pPr marL="0" indent="0">
              <a:buNone/>
            </a:pPr>
            <a:r>
              <a:rPr lang="en-US" sz="1700" dirty="0">
                <a:solidFill>
                  <a:srgbClr val="D8E2ED"/>
                </a:solidFill>
              </a:rPr>
              <a:t>Segmentert, skalerbar og overvåkbar løsning over eksisterende Layer 3-VPN</a:t>
            </a:r>
            <a:endParaRPr lang="en-US" sz="1700" dirty="0"/>
          </a:p>
        </p:txBody>
      </p:sp>
      <p:sp>
        <p:nvSpPr>
          <p:cNvPr id="7" name="Shape 5"/>
          <p:cNvSpPr/>
          <p:nvPr/>
        </p:nvSpPr>
        <p:spPr>
          <a:xfrm>
            <a:off x="731520" y="3794760"/>
            <a:ext cx="5440680" cy="1143000"/>
          </a:xfrm>
          <a:prstGeom prst="roundRect">
            <a:avLst>
              <a:gd name="adj" fmla="val 6400"/>
            </a:avLst>
          </a:prstGeom>
          <a:solidFill>
            <a:srgbClr val="132D46">
              <a:alpha val="92000"/>
            </a:srgbClr>
          </a:solidFill>
          <a:ln w="12700">
            <a:solidFill>
              <a:srgbClr val="2D4963"/>
            </a:solidFill>
            <a:prstDash val="solid"/>
          </a:ln>
        </p:spPr>
        <p:txBody>
          <a:bodyPr/>
          <a:lstStyle/>
          <a:p>
            <a:endParaRPr lang="nb-NO"/>
          </a:p>
        </p:txBody>
      </p:sp>
      <p:sp>
        <p:nvSpPr>
          <p:cNvPr id="8" name="Text 6"/>
          <p:cNvSpPr/>
          <p:nvPr/>
        </p:nvSpPr>
        <p:spPr>
          <a:xfrm>
            <a:off x="960120" y="3986784"/>
            <a:ext cx="1097280" cy="201168"/>
          </a:xfrm>
          <a:prstGeom prst="rect">
            <a:avLst/>
          </a:prstGeom>
          <a:noFill/>
          <a:ln/>
        </p:spPr>
        <p:txBody>
          <a:bodyPr wrap="square" lIns="0" tIns="0" rIns="0" bIns="0" rtlCol="0" anchor="ctr"/>
          <a:lstStyle/>
          <a:p>
            <a:pPr marL="0" indent="0">
              <a:buNone/>
            </a:pPr>
            <a:r>
              <a:rPr lang="en-US" sz="1100" b="1" dirty="0">
                <a:solidFill>
                  <a:srgbClr val="65D68C"/>
                </a:solidFill>
              </a:rPr>
              <a:t>Designmål</a:t>
            </a:r>
            <a:endParaRPr lang="en-US" sz="1100" dirty="0"/>
          </a:p>
        </p:txBody>
      </p:sp>
      <p:sp>
        <p:nvSpPr>
          <p:cNvPr id="9" name="Text 7"/>
          <p:cNvSpPr/>
          <p:nvPr/>
        </p:nvSpPr>
        <p:spPr>
          <a:xfrm>
            <a:off x="960120" y="4261104"/>
            <a:ext cx="4892040" cy="457200"/>
          </a:xfrm>
          <a:prstGeom prst="rect">
            <a:avLst/>
          </a:prstGeom>
          <a:noFill/>
          <a:ln/>
        </p:spPr>
        <p:txBody>
          <a:bodyPr wrap="square" lIns="0" tIns="0" rIns="0" bIns="0" rtlCol="0" anchor="ctr">
            <a:normAutofit/>
          </a:bodyPr>
          <a:lstStyle/>
          <a:p>
            <a:pPr marL="0" indent="0">
              <a:buNone/>
            </a:pPr>
            <a:r>
              <a:rPr lang="en-US" sz="1400" dirty="0">
                <a:solidFill>
                  <a:srgbClr val="FFFFFF"/>
                </a:solidFill>
              </a:rPr>
              <a:t>Redusere risiko uten å miste funksjonalitet, endre den litauiske transporttjenesten eller kreve store nyanskaffelser.</a:t>
            </a:r>
            <a:endParaRPr lang="en-US" sz="1400" dirty="0"/>
          </a:p>
        </p:txBody>
      </p:sp>
      <p:sp>
        <p:nvSpPr>
          <p:cNvPr id="10" name="Shape 8"/>
          <p:cNvSpPr/>
          <p:nvPr/>
        </p:nvSpPr>
        <p:spPr>
          <a:xfrm>
            <a:off x="7315200" y="1005840"/>
            <a:ext cx="3886200" cy="4389120"/>
          </a:xfrm>
          <a:prstGeom prst="roundRect">
            <a:avLst>
              <a:gd name="adj" fmla="val 1882"/>
            </a:avLst>
          </a:prstGeom>
          <a:solidFill>
            <a:srgbClr val="102A43"/>
          </a:solidFill>
          <a:ln w="12700">
            <a:solidFill>
              <a:srgbClr val="24435F"/>
            </a:solidFill>
            <a:prstDash val="solid"/>
          </a:ln>
          <a:effectLst>
            <a:outerShdw blurRad="17780" dist="10160" dir="2700000" algn="bl" rotWithShape="0">
              <a:srgbClr val="000000">
                <a:alpha val="16000"/>
              </a:srgbClr>
            </a:outerShdw>
          </a:effectLst>
        </p:spPr>
        <p:txBody>
          <a:bodyPr/>
          <a:lstStyle/>
          <a:p>
            <a:endParaRPr lang="nb-NO"/>
          </a:p>
        </p:txBody>
      </p:sp>
      <p:sp>
        <p:nvSpPr>
          <p:cNvPr id="11" name="Shape 9"/>
          <p:cNvSpPr/>
          <p:nvPr/>
        </p:nvSpPr>
        <p:spPr>
          <a:xfrm>
            <a:off x="7699248" y="1417320"/>
            <a:ext cx="3127248" cy="685800"/>
          </a:xfrm>
          <a:prstGeom prst="roundRect">
            <a:avLst>
              <a:gd name="adj" fmla="val 6667"/>
            </a:avLst>
          </a:prstGeom>
          <a:solidFill>
            <a:srgbClr val="183B57"/>
          </a:solidFill>
          <a:ln w="12700">
            <a:solidFill>
              <a:srgbClr val="183B57"/>
            </a:solidFill>
            <a:prstDash val="solid"/>
          </a:ln>
        </p:spPr>
        <p:txBody>
          <a:bodyPr/>
          <a:lstStyle/>
          <a:p>
            <a:endParaRPr lang="nb-NO"/>
          </a:p>
        </p:txBody>
      </p:sp>
      <p:sp>
        <p:nvSpPr>
          <p:cNvPr id="12" name="Text 10"/>
          <p:cNvSpPr/>
          <p:nvPr/>
        </p:nvSpPr>
        <p:spPr>
          <a:xfrm>
            <a:off x="7909560" y="1536192"/>
            <a:ext cx="2697480" cy="164592"/>
          </a:xfrm>
          <a:prstGeom prst="rect">
            <a:avLst/>
          </a:prstGeom>
          <a:noFill/>
          <a:ln/>
        </p:spPr>
        <p:txBody>
          <a:bodyPr wrap="square" lIns="0" tIns="0" rIns="0" bIns="0" rtlCol="0" anchor="ctr"/>
          <a:lstStyle/>
          <a:p>
            <a:pPr marL="0" indent="0" algn="ctr">
              <a:buNone/>
            </a:pPr>
            <a:r>
              <a:rPr lang="en-US" sz="1120" b="1" dirty="0">
                <a:solidFill>
                  <a:srgbClr val="FFFFFF"/>
                </a:solidFill>
              </a:rPr>
              <a:t>SENTRALE TJENESTER</a:t>
            </a:r>
            <a:endParaRPr lang="en-US" sz="1120" dirty="0"/>
          </a:p>
        </p:txBody>
      </p:sp>
      <p:sp>
        <p:nvSpPr>
          <p:cNvPr id="13" name="Text 11"/>
          <p:cNvSpPr/>
          <p:nvPr/>
        </p:nvSpPr>
        <p:spPr>
          <a:xfrm>
            <a:off x="7882128" y="1773936"/>
            <a:ext cx="2761488" cy="155448"/>
          </a:xfrm>
          <a:prstGeom prst="rect">
            <a:avLst/>
          </a:prstGeom>
          <a:noFill/>
          <a:ln/>
        </p:spPr>
        <p:txBody>
          <a:bodyPr wrap="square" lIns="0" tIns="0" rIns="0" bIns="0" rtlCol="0" anchor="ctr">
            <a:normAutofit/>
          </a:bodyPr>
          <a:lstStyle/>
          <a:p>
            <a:pPr marL="0" indent="0" algn="ctr">
              <a:buNone/>
            </a:pPr>
            <a:r>
              <a:rPr lang="en-US" sz="940" dirty="0">
                <a:solidFill>
                  <a:srgbClr val="D4E5EC"/>
                </a:solidFill>
              </a:rPr>
              <a:t>AAA • Syslog • NTP • Security Onion</a:t>
            </a:r>
            <a:endParaRPr lang="en-US" sz="940" dirty="0"/>
          </a:p>
        </p:txBody>
      </p:sp>
      <p:sp>
        <p:nvSpPr>
          <p:cNvPr id="14" name="Shape 12"/>
          <p:cNvSpPr/>
          <p:nvPr/>
        </p:nvSpPr>
        <p:spPr>
          <a:xfrm>
            <a:off x="7699248" y="2331720"/>
            <a:ext cx="3127248" cy="685800"/>
          </a:xfrm>
          <a:prstGeom prst="roundRect">
            <a:avLst>
              <a:gd name="adj" fmla="val 6667"/>
            </a:avLst>
          </a:prstGeom>
          <a:solidFill>
            <a:srgbClr val="194B67"/>
          </a:solidFill>
          <a:ln w="12700">
            <a:solidFill>
              <a:srgbClr val="194B67"/>
            </a:solidFill>
            <a:prstDash val="solid"/>
          </a:ln>
        </p:spPr>
        <p:txBody>
          <a:bodyPr/>
          <a:lstStyle/>
          <a:p>
            <a:endParaRPr lang="nb-NO"/>
          </a:p>
        </p:txBody>
      </p:sp>
      <p:sp>
        <p:nvSpPr>
          <p:cNvPr id="15" name="Text 13"/>
          <p:cNvSpPr/>
          <p:nvPr/>
        </p:nvSpPr>
        <p:spPr>
          <a:xfrm>
            <a:off x="7909560" y="2450592"/>
            <a:ext cx="2697480" cy="164592"/>
          </a:xfrm>
          <a:prstGeom prst="rect">
            <a:avLst/>
          </a:prstGeom>
          <a:noFill/>
          <a:ln/>
        </p:spPr>
        <p:txBody>
          <a:bodyPr wrap="square" lIns="0" tIns="0" rIns="0" bIns="0" rtlCol="0" anchor="ctr"/>
          <a:lstStyle/>
          <a:p>
            <a:pPr marL="0" indent="0" algn="ctr">
              <a:buNone/>
            </a:pPr>
            <a:r>
              <a:rPr lang="en-US" sz="1120" b="1" dirty="0">
                <a:solidFill>
                  <a:srgbClr val="FFFFFF"/>
                </a:solidFill>
              </a:rPr>
              <a:t>DMVPN PHASE 3</a:t>
            </a:r>
            <a:endParaRPr lang="en-US" sz="1120" dirty="0"/>
          </a:p>
        </p:txBody>
      </p:sp>
      <p:sp>
        <p:nvSpPr>
          <p:cNvPr id="16" name="Text 14"/>
          <p:cNvSpPr/>
          <p:nvPr/>
        </p:nvSpPr>
        <p:spPr>
          <a:xfrm>
            <a:off x="7882128" y="2688336"/>
            <a:ext cx="2761488" cy="155448"/>
          </a:xfrm>
          <a:prstGeom prst="rect">
            <a:avLst/>
          </a:prstGeom>
          <a:noFill/>
          <a:ln/>
        </p:spPr>
        <p:txBody>
          <a:bodyPr wrap="square" lIns="0" tIns="0" rIns="0" bIns="0" rtlCol="0" anchor="ctr">
            <a:normAutofit/>
          </a:bodyPr>
          <a:lstStyle/>
          <a:p>
            <a:pPr marL="0" indent="0" algn="ctr">
              <a:buNone/>
            </a:pPr>
            <a:r>
              <a:rPr lang="en-US" sz="940" dirty="0">
                <a:solidFill>
                  <a:srgbClr val="D4E5EC"/>
                </a:solidFill>
              </a:rPr>
              <a:t>Dynamisk spoke-to-spoke</a:t>
            </a:r>
            <a:endParaRPr lang="en-US" sz="940" dirty="0"/>
          </a:p>
        </p:txBody>
      </p:sp>
      <p:sp>
        <p:nvSpPr>
          <p:cNvPr id="17" name="Shape 15"/>
          <p:cNvSpPr/>
          <p:nvPr/>
        </p:nvSpPr>
        <p:spPr>
          <a:xfrm>
            <a:off x="7699248" y="3246120"/>
            <a:ext cx="3127248" cy="685800"/>
          </a:xfrm>
          <a:prstGeom prst="roundRect">
            <a:avLst>
              <a:gd name="adj" fmla="val 6667"/>
            </a:avLst>
          </a:prstGeom>
          <a:solidFill>
            <a:srgbClr val="1A5B72"/>
          </a:solidFill>
          <a:ln w="12700">
            <a:solidFill>
              <a:srgbClr val="1A5B72"/>
            </a:solidFill>
            <a:prstDash val="solid"/>
          </a:ln>
        </p:spPr>
        <p:txBody>
          <a:bodyPr/>
          <a:lstStyle/>
          <a:p>
            <a:endParaRPr lang="nb-NO"/>
          </a:p>
        </p:txBody>
      </p:sp>
      <p:sp>
        <p:nvSpPr>
          <p:cNvPr id="18" name="Text 16"/>
          <p:cNvSpPr/>
          <p:nvPr/>
        </p:nvSpPr>
        <p:spPr>
          <a:xfrm>
            <a:off x="7909560" y="3364992"/>
            <a:ext cx="2697480" cy="164592"/>
          </a:xfrm>
          <a:prstGeom prst="rect">
            <a:avLst/>
          </a:prstGeom>
          <a:noFill/>
          <a:ln/>
        </p:spPr>
        <p:txBody>
          <a:bodyPr wrap="square" lIns="0" tIns="0" rIns="0" bIns="0" rtlCol="0" anchor="ctr"/>
          <a:lstStyle/>
          <a:p>
            <a:pPr marL="0" indent="0" algn="ctr">
              <a:buNone/>
            </a:pPr>
            <a:r>
              <a:rPr lang="en-US" sz="1120" b="1" dirty="0">
                <a:solidFill>
                  <a:srgbClr val="FFFFFF"/>
                </a:solidFill>
              </a:rPr>
              <a:t>VRF + VLAN</a:t>
            </a:r>
            <a:endParaRPr lang="en-US" sz="1120" dirty="0"/>
          </a:p>
        </p:txBody>
      </p:sp>
      <p:sp>
        <p:nvSpPr>
          <p:cNvPr id="19" name="Text 17"/>
          <p:cNvSpPr/>
          <p:nvPr/>
        </p:nvSpPr>
        <p:spPr>
          <a:xfrm>
            <a:off x="7882128" y="3602736"/>
            <a:ext cx="2761488" cy="155448"/>
          </a:xfrm>
          <a:prstGeom prst="rect">
            <a:avLst/>
          </a:prstGeom>
          <a:noFill/>
          <a:ln/>
        </p:spPr>
        <p:txBody>
          <a:bodyPr wrap="square" lIns="0" tIns="0" rIns="0" bIns="0" rtlCol="0" anchor="ctr">
            <a:normAutofit/>
          </a:bodyPr>
          <a:lstStyle/>
          <a:p>
            <a:pPr marL="0" indent="0" algn="ctr">
              <a:buNone/>
            </a:pPr>
            <a:r>
              <a:rPr lang="en-US" sz="940" dirty="0">
                <a:solidFill>
                  <a:srgbClr val="D4E5EC"/>
                </a:solidFill>
              </a:rPr>
              <a:t>MGMT • INET • UNET • PA • MONITORING</a:t>
            </a:r>
            <a:endParaRPr lang="en-US" sz="940" dirty="0"/>
          </a:p>
        </p:txBody>
      </p:sp>
      <p:sp>
        <p:nvSpPr>
          <p:cNvPr id="20" name="Shape 18"/>
          <p:cNvSpPr/>
          <p:nvPr/>
        </p:nvSpPr>
        <p:spPr>
          <a:xfrm>
            <a:off x="7699248" y="4160520"/>
            <a:ext cx="3127248" cy="685800"/>
          </a:xfrm>
          <a:prstGeom prst="roundRect">
            <a:avLst>
              <a:gd name="adj" fmla="val 6667"/>
            </a:avLst>
          </a:prstGeom>
          <a:solidFill>
            <a:srgbClr val="1D6A6D"/>
          </a:solidFill>
          <a:ln w="12700">
            <a:solidFill>
              <a:srgbClr val="1D6A6D"/>
            </a:solidFill>
            <a:prstDash val="solid"/>
          </a:ln>
        </p:spPr>
        <p:txBody>
          <a:bodyPr/>
          <a:lstStyle/>
          <a:p>
            <a:endParaRPr lang="nb-NO"/>
          </a:p>
        </p:txBody>
      </p:sp>
      <p:sp>
        <p:nvSpPr>
          <p:cNvPr id="21" name="Text 19"/>
          <p:cNvSpPr/>
          <p:nvPr/>
        </p:nvSpPr>
        <p:spPr>
          <a:xfrm>
            <a:off x="7909560" y="4279392"/>
            <a:ext cx="2697480" cy="164592"/>
          </a:xfrm>
          <a:prstGeom prst="rect">
            <a:avLst/>
          </a:prstGeom>
          <a:noFill/>
          <a:ln/>
        </p:spPr>
        <p:txBody>
          <a:bodyPr wrap="square" lIns="0" tIns="0" rIns="0" bIns="0" rtlCol="0" anchor="ctr"/>
          <a:lstStyle/>
          <a:p>
            <a:pPr marL="0" indent="0" algn="ctr">
              <a:buNone/>
            </a:pPr>
            <a:r>
              <a:rPr lang="en-US" sz="1120" b="1" dirty="0">
                <a:solidFill>
                  <a:srgbClr val="FFFFFF"/>
                </a:solidFill>
              </a:rPr>
              <a:t>L3-VPN UNDERLAY</a:t>
            </a:r>
            <a:endParaRPr lang="en-US" sz="1120" dirty="0"/>
          </a:p>
        </p:txBody>
      </p:sp>
      <p:sp>
        <p:nvSpPr>
          <p:cNvPr id="22" name="Text 20"/>
          <p:cNvSpPr/>
          <p:nvPr/>
        </p:nvSpPr>
        <p:spPr>
          <a:xfrm>
            <a:off x="7882128" y="4517136"/>
            <a:ext cx="2761488" cy="155448"/>
          </a:xfrm>
          <a:prstGeom prst="rect">
            <a:avLst/>
          </a:prstGeom>
          <a:noFill/>
          <a:ln/>
        </p:spPr>
        <p:txBody>
          <a:bodyPr wrap="square" lIns="0" tIns="0" rIns="0" bIns="0" rtlCol="0" anchor="ctr">
            <a:normAutofit/>
          </a:bodyPr>
          <a:lstStyle/>
          <a:p>
            <a:pPr marL="0" indent="0" algn="ctr">
              <a:buNone/>
            </a:pPr>
            <a:r>
              <a:rPr lang="en-US" sz="940" dirty="0">
                <a:solidFill>
                  <a:srgbClr val="D4E5EC"/>
                </a:solidFill>
              </a:rPr>
              <a:t>Eksisterende transport – uendret</a:t>
            </a:r>
            <a:endParaRPr lang="en-US" sz="940" dirty="0"/>
          </a:p>
        </p:txBody>
      </p:sp>
      <p:sp>
        <p:nvSpPr>
          <p:cNvPr id="23" name="Text 21"/>
          <p:cNvSpPr/>
          <p:nvPr/>
        </p:nvSpPr>
        <p:spPr>
          <a:xfrm>
            <a:off x="8275320" y="5806440"/>
            <a:ext cx="2011680" cy="228600"/>
          </a:xfrm>
          <a:prstGeom prst="rect">
            <a:avLst/>
          </a:prstGeom>
          <a:noFill/>
          <a:ln/>
        </p:spPr>
        <p:txBody>
          <a:bodyPr wrap="square" lIns="0" tIns="0" rIns="0" bIns="0" rtlCol="0" anchor="ctr"/>
          <a:lstStyle/>
          <a:p>
            <a:pPr marL="0" indent="0" algn="ctr">
              <a:buNone/>
            </a:pPr>
            <a:r>
              <a:rPr lang="en-US" sz="1050" dirty="0">
                <a:solidFill>
                  <a:srgbClr val="A8BECE"/>
                </a:solidFill>
              </a:rPr>
              <a:t>Ca. 8–9 min + spørsmål</a:t>
            </a:r>
            <a:endParaRPr lang="en-US" sz="1050" dirty="0"/>
          </a:p>
        </p:txBody>
      </p:sp>
      <p:sp>
        <p:nvSpPr>
          <p:cNvPr id="25"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1. Utgangspunktet – hva måtte løses?</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Designet er drevet av konkrete problemer i dagens nettverk og klare rammebetingelser.</a:t>
            </a:r>
            <a:endParaRPr lang="en-US" sz="1250" dirty="0"/>
          </a:p>
        </p:txBody>
      </p:sp>
      <p:sp>
        <p:nvSpPr>
          <p:cNvPr id="4" name="Text 2"/>
          <p:cNvSpPr/>
          <p:nvPr/>
        </p:nvSpPr>
        <p:spPr>
          <a:xfrm>
            <a:off x="566928" y="1124712"/>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PROBLEM</a:t>
            </a:r>
            <a:endParaRPr lang="en-US" sz="950" dirty="0"/>
          </a:p>
        </p:txBody>
      </p:sp>
      <p:sp>
        <p:nvSpPr>
          <p:cNvPr id="5" name="Shape 3"/>
          <p:cNvSpPr/>
          <p:nvPr/>
        </p:nvSpPr>
        <p:spPr>
          <a:xfrm>
            <a:off x="594360" y="1417320"/>
            <a:ext cx="2606040" cy="1508760"/>
          </a:xfrm>
          <a:prstGeom prst="roundRect">
            <a:avLst>
              <a:gd name="adj" fmla="val 4848"/>
            </a:avLst>
          </a:prstGeom>
          <a:solidFill>
            <a:srgbClr val="FDECEC"/>
          </a:solidFill>
          <a:ln w="10160">
            <a:solidFill>
              <a:srgbClr val="D8E0EA"/>
            </a:solidFill>
            <a:prstDash val="solid"/>
          </a:ln>
          <a:effectLst>
            <a:outerShdw blurRad="225806000" dist="129032000" algn="bl" rotWithShape="0">
              <a:srgbClr val="000000">
                <a:alpha val="0"/>
              </a:srgbClr>
            </a:outerShdw>
          </a:effectLst>
        </p:spPr>
        <p:txBody>
          <a:bodyPr/>
          <a:lstStyle/>
          <a:p>
            <a:endParaRPr lang="nb-NO"/>
          </a:p>
        </p:txBody>
      </p:sp>
      <p:sp>
        <p:nvSpPr>
          <p:cNvPr id="6" name="Shape 4"/>
          <p:cNvSpPr/>
          <p:nvPr/>
        </p:nvSpPr>
        <p:spPr>
          <a:xfrm>
            <a:off x="594360" y="1417320"/>
            <a:ext cx="64008" cy="1508760"/>
          </a:xfrm>
          <a:prstGeom prst="rect">
            <a:avLst/>
          </a:prstGeom>
          <a:solidFill>
            <a:srgbClr val="DC2626"/>
          </a:solidFill>
          <a:ln w="12700">
            <a:solidFill>
              <a:srgbClr val="DC2626"/>
            </a:solidFill>
            <a:prstDash val="solid"/>
          </a:ln>
        </p:spPr>
        <p:txBody>
          <a:bodyPr/>
          <a:lstStyle/>
          <a:p>
            <a:endParaRPr lang="nb-NO"/>
          </a:p>
        </p:txBody>
      </p:sp>
      <p:sp>
        <p:nvSpPr>
          <p:cNvPr id="7" name="Text 5"/>
          <p:cNvSpPr/>
          <p:nvPr/>
        </p:nvSpPr>
        <p:spPr>
          <a:xfrm>
            <a:off x="777240" y="1554480"/>
            <a:ext cx="22860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Flatt nettverk</a:t>
            </a:r>
            <a:endParaRPr lang="en-US" sz="1650" dirty="0"/>
          </a:p>
        </p:txBody>
      </p:sp>
      <p:sp>
        <p:nvSpPr>
          <p:cNvPr id="8" name="Text 6"/>
          <p:cNvSpPr/>
          <p:nvPr/>
        </p:nvSpPr>
        <p:spPr>
          <a:xfrm>
            <a:off x="777240" y="1856232"/>
            <a:ext cx="2286000" cy="960120"/>
          </a:xfrm>
          <a:prstGeom prst="rect">
            <a:avLst/>
          </a:prstGeom>
          <a:noFill/>
          <a:ln/>
        </p:spPr>
        <p:txBody>
          <a:bodyPr wrap="square" lIns="0" tIns="0" rIns="0" bIns="0" rtlCol="0" anchor="ctr">
            <a:normAutofit/>
          </a:bodyPr>
          <a:lstStyle/>
          <a:p>
            <a:pPr marL="0" indent="0">
              <a:buNone/>
            </a:pPr>
            <a:r>
              <a:rPr lang="en-US" sz="1250" dirty="0">
                <a:solidFill>
                  <a:srgbClr val="1E293B"/>
                </a:solidFill>
              </a:rPr>
              <a:t>Lite eller ingen segmentering gjør at kompromittering eller feil kan få konsekvenser på tvers av tjenester.</a:t>
            </a:r>
            <a:endParaRPr lang="en-US" sz="1250" dirty="0"/>
          </a:p>
        </p:txBody>
      </p:sp>
      <p:sp>
        <p:nvSpPr>
          <p:cNvPr id="9" name="Shape 7"/>
          <p:cNvSpPr/>
          <p:nvPr/>
        </p:nvSpPr>
        <p:spPr>
          <a:xfrm>
            <a:off x="3401568" y="1417320"/>
            <a:ext cx="2606040" cy="1508760"/>
          </a:xfrm>
          <a:prstGeom prst="roundRect">
            <a:avLst>
              <a:gd name="adj" fmla="val 4848"/>
            </a:avLst>
          </a:prstGeom>
          <a:solidFill>
            <a:srgbClr val="FFF4E5"/>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10" name="Shape 8"/>
          <p:cNvSpPr/>
          <p:nvPr/>
        </p:nvSpPr>
        <p:spPr>
          <a:xfrm>
            <a:off x="3401568" y="1417320"/>
            <a:ext cx="64008" cy="1508760"/>
          </a:xfrm>
          <a:prstGeom prst="rect">
            <a:avLst/>
          </a:prstGeom>
          <a:solidFill>
            <a:srgbClr val="D97706"/>
          </a:solidFill>
          <a:ln w="12700">
            <a:solidFill>
              <a:srgbClr val="D97706"/>
            </a:solidFill>
            <a:prstDash val="solid"/>
          </a:ln>
        </p:spPr>
        <p:txBody>
          <a:bodyPr/>
          <a:lstStyle/>
          <a:p>
            <a:endParaRPr lang="nb-NO"/>
          </a:p>
        </p:txBody>
      </p:sp>
      <p:sp>
        <p:nvSpPr>
          <p:cNvPr id="11" name="Text 9"/>
          <p:cNvSpPr/>
          <p:nvPr/>
        </p:nvSpPr>
        <p:spPr>
          <a:xfrm>
            <a:off x="3584448" y="1554480"/>
            <a:ext cx="22860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Ustabilitet</a:t>
            </a:r>
            <a:endParaRPr lang="en-US" sz="1650" dirty="0"/>
          </a:p>
        </p:txBody>
      </p:sp>
      <p:sp>
        <p:nvSpPr>
          <p:cNvPr id="12" name="Text 10"/>
          <p:cNvSpPr/>
          <p:nvPr/>
        </p:nvSpPr>
        <p:spPr>
          <a:xfrm>
            <a:off x="3584448" y="1856232"/>
            <a:ext cx="2286000" cy="960120"/>
          </a:xfrm>
          <a:prstGeom prst="rect">
            <a:avLst/>
          </a:prstGeom>
          <a:noFill/>
          <a:ln/>
        </p:spPr>
        <p:txBody>
          <a:bodyPr wrap="square" lIns="0" tIns="0" rIns="0" bIns="0" rtlCol="0" anchor="ctr">
            <a:normAutofit/>
          </a:bodyPr>
          <a:lstStyle/>
          <a:p>
            <a:pPr marL="0" indent="0">
              <a:buNone/>
            </a:pPr>
            <a:r>
              <a:rPr lang="en-US" sz="1250" dirty="0">
                <a:solidFill>
                  <a:srgbClr val="1E293B"/>
                </a:solidFill>
              </a:rPr>
              <a:t>Private rutere og uautoriserte DHCP-servere har skapt ustabilitet og uforutsigbar klientkonfigurasjon.</a:t>
            </a:r>
            <a:endParaRPr lang="en-US" sz="1250" dirty="0"/>
          </a:p>
        </p:txBody>
      </p:sp>
      <p:sp>
        <p:nvSpPr>
          <p:cNvPr id="13" name="Shape 11"/>
          <p:cNvSpPr/>
          <p:nvPr/>
        </p:nvSpPr>
        <p:spPr>
          <a:xfrm>
            <a:off x="6208776" y="1417320"/>
            <a:ext cx="2606040" cy="1508760"/>
          </a:xfrm>
          <a:prstGeom prst="roundRect">
            <a:avLst>
              <a:gd name="adj" fmla="val 4848"/>
            </a:avLst>
          </a:prstGeom>
          <a:solidFill>
            <a:srgbClr val="F1EBFF"/>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14" name="Shape 12"/>
          <p:cNvSpPr/>
          <p:nvPr/>
        </p:nvSpPr>
        <p:spPr>
          <a:xfrm>
            <a:off x="6208776" y="1417320"/>
            <a:ext cx="64008" cy="1508760"/>
          </a:xfrm>
          <a:prstGeom prst="rect">
            <a:avLst/>
          </a:prstGeom>
          <a:solidFill>
            <a:srgbClr val="7C3AED"/>
          </a:solidFill>
          <a:ln w="12700">
            <a:solidFill>
              <a:srgbClr val="7C3AED"/>
            </a:solidFill>
            <a:prstDash val="solid"/>
          </a:ln>
        </p:spPr>
        <p:txBody>
          <a:bodyPr/>
          <a:lstStyle/>
          <a:p>
            <a:endParaRPr lang="nb-NO"/>
          </a:p>
        </p:txBody>
      </p:sp>
      <p:sp>
        <p:nvSpPr>
          <p:cNvPr id="15" name="Text 13"/>
          <p:cNvSpPr/>
          <p:nvPr/>
        </p:nvSpPr>
        <p:spPr>
          <a:xfrm>
            <a:off x="6391656" y="1554480"/>
            <a:ext cx="22860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Lite synlighet</a:t>
            </a:r>
            <a:endParaRPr lang="en-US" sz="1650" dirty="0"/>
          </a:p>
        </p:txBody>
      </p:sp>
      <p:sp>
        <p:nvSpPr>
          <p:cNvPr id="16" name="Text 14"/>
          <p:cNvSpPr/>
          <p:nvPr/>
        </p:nvSpPr>
        <p:spPr>
          <a:xfrm>
            <a:off x="6391656" y="1856232"/>
            <a:ext cx="2286000" cy="960120"/>
          </a:xfrm>
          <a:prstGeom prst="rect">
            <a:avLst/>
          </a:prstGeom>
          <a:noFill/>
          <a:ln/>
        </p:spPr>
        <p:txBody>
          <a:bodyPr wrap="square" lIns="0" tIns="0" rIns="0" bIns="0" rtlCol="0" anchor="ctr">
            <a:normAutofit/>
          </a:bodyPr>
          <a:lstStyle/>
          <a:p>
            <a:pPr marL="0" indent="0">
              <a:buNone/>
            </a:pPr>
            <a:r>
              <a:rPr lang="en-US" sz="1250" dirty="0">
                <a:solidFill>
                  <a:srgbClr val="1E293B"/>
                </a:solidFill>
              </a:rPr>
              <a:t>Ingen sentral logging, overvåkning eller felles tid gjør feilsøking og hendelseshåndtering vanskelig.</a:t>
            </a:r>
            <a:endParaRPr lang="en-US" sz="1250" dirty="0"/>
          </a:p>
        </p:txBody>
      </p:sp>
      <p:sp>
        <p:nvSpPr>
          <p:cNvPr id="17" name="Shape 15"/>
          <p:cNvSpPr/>
          <p:nvPr/>
        </p:nvSpPr>
        <p:spPr>
          <a:xfrm>
            <a:off x="9015984" y="1417320"/>
            <a:ext cx="2606040" cy="1508760"/>
          </a:xfrm>
          <a:prstGeom prst="roundRect">
            <a:avLst>
              <a:gd name="adj" fmla="val 4848"/>
            </a:avLst>
          </a:prstGeom>
          <a:solidFill>
            <a:srgbClr val="EAF2FF"/>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18" name="Shape 16"/>
          <p:cNvSpPr/>
          <p:nvPr/>
        </p:nvSpPr>
        <p:spPr>
          <a:xfrm>
            <a:off x="9015984" y="1417320"/>
            <a:ext cx="64008" cy="1508760"/>
          </a:xfrm>
          <a:prstGeom prst="rect">
            <a:avLst/>
          </a:prstGeom>
          <a:solidFill>
            <a:srgbClr val="2563EB"/>
          </a:solidFill>
          <a:ln w="12700">
            <a:solidFill>
              <a:srgbClr val="2563EB"/>
            </a:solidFill>
            <a:prstDash val="solid"/>
          </a:ln>
        </p:spPr>
        <p:txBody>
          <a:bodyPr/>
          <a:lstStyle/>
          <a:p>
            <a:endParaRPr lang="nb-NO"/>
          </a:p>
        </p:txBody>
      </p:sp>
      <p:sp>
        <p:nvSpPr>
          <p:cNvPr id="19" name="Text 17"/>
          <p:cNvSpPr/>
          <p:nvPr/>
        </p:nvSpPr>
        <p:spPr>
          <a:xfrm>
            <a:off x="9198864" y="1554480"/>
            <a:ext cx="22860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Stramme rammer</a:t>
            </a:r>
            <a:endParaRPr lang="en-US" sz="1650" dirty="0"/>
          </a:p>
        </p:txBody>
      </p:sp>
      <p:sp>
        <p:nvSpPr>
          <p:cNvPr id="20" name="Text 18"/>
          <p:cNvSpPr/>
          <p:nvPr/>
        </p:nvSpPr>
        <p:spPr>
          <a:xfrm>
            <a:off x="9198864" y="1856232"/>
            <a:ext cx="2286000" cy="960120"/>
          </a:xfrm>
          <a:prstGeom prst="rect">
            <a:avLst/>
          </a:prstGeom>
          <a:noFill/>
          <a:ln/>
        </p:spPr>
        <p:txBody>
          <a:bodyPr wrap="square" lIns="0" tIns="0" rIns="0" bIns="0" rtlCol="0" anchor="ctr">
            <a:normAutofit/>
          </a:bodyPr>
          <a:lstStyle/>
          <a:p>
            <a:pPr marL="0" indent="0">
              <a:buNone/>
            </a:pPr>
            <a:r>
              <a:rPr lang="en-US" sz="1250" dirty="0">
                <a:solidFill>
                  <a:srgbClr val="1E293B"/>
                </a:solidFill>
              </a:rPr>
              <a:t>Eksisterende Cisco-utstyr skal gjenbrukes, og den litauiske Layer 3-VPN-forbindelsen skal ikke endres.</a:t>
            </a:r>
            <a:endParaRPr lang="en-US" sz="1250" dirty="0"/>
          </a:p>
        </p:txBody>
      </p:sp>
      <p:sp>
        <p:nvSpPr>
          <p:cNvPr id="21" name="Text 19"/>
          <p:cNvSpPr/>
          <p:nvPr/>
        </p:nvSpPr>
        <p:spPr>
          <a:xfrm>
            <a:off x="566928" y="3337560"/>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DESIGNMÅL</a:t>
            </a:r>
            <a:endParaRPr lang="en-US" sz="950" dirty="0"/>
          </a:p>
        </p:txBody>
      </p:sp>
      <p:sp>
        <p:nvSpPr>
          <p:cNvPr id="22" name="Shape 20"/>
          <p:cNvSpPr/>
          <p:nvPr/>
        </p:nvSpPr>
        <p:spPr>
          <a:xfrm>
            <a:off x="685800" y="3657600"/>
            <a:ext cx="2487168" cy="1207008"/>
          </a:xfrm>
          <a:prstGeom prst="roundRect">
            <a:avLst>
              <a:gd name="adj" fmla="val 4545"/>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sp>
        <p:nvSpPr>
          <p:cNvPr id="23" name="Text 21"/>
          <p:cNvSpPr/>
          <p:nvPr/>
        </p:nvSpPr>
        <p:spPr>
          <a:xfrm>
            <a:off x="850392" y="3840480"/>
            <a:ext cx="2148840" cy="201168"/>
          </a:xfrm>
          <a:prstGeom prst="rect">
            <a:avLst/>
          </a:prstGeom>
          <a:noFill/>
          <a:ln/>
        </p:spPr>
        <p:txBody>
          <a:bodyPr wrap="square" lIns="0" tIns="0" rIns="0" bIns="0" rtlCol="0" anchor="ctr"/>
          <a:lstStyle/>
          <a:p>
            <a:pPr marL="0" indent="0" algn="ctr">
              <a:buNone/>
            </a:pPr>
            <a:r>
              <a:rPr lang="en-US" sz="1320" b="1" dirty="0">
                <a:solidFill>
                  <a:srgbClr val="16A34A"/>
                </a:solidFill>
              </a:rPr>
              <a:t>SEGMENTERE</a:t>
            </a:r>
            <a:endParaRPr lang="en-US" sz="1320" dirty="0"/>
          </a:p>
        </p:txBody>
      </p:sp>
      <p:sp>
        <p:nvSpPr>
          <p:cNvPr id="24" name="Text 22"/>
          <p:cNvSpPr/>
          <p:nvPr/>
        </p:nvSpPr>
        <p:spPr>
          <a:xfrm>
            <a:off x="868680" y="4169664"/>
            <a:ext cx="2121408" cy="402336"/>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Skille tjenester og brukergrupper</a:t>
            </a:r>
            <a:endParaRPr lang="en-US" sz="1120" dirty="0"/>
          </a:p>
        </p:txBody>
      </p:sp>
      <p:sp>
        <p:nvSpPr>
          <p:cNvPr id="25" name="Shape 23"/>
          <p:cNvSpPr/>
          <p:nvPr/>
        </p:nvSpPr>
        <p:spPr>
          <a:xfrm>
            <a:off x="3502152" y="3657600"/>
            <a:ext cx="2487168" cy="1207008"/>
          </a:xfrm>
          <a:prstGeom prst="roundRect">
            <a:avLst>
              <a:gd name="adj" fmla="val 4545"/>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sp>
        <p:nvSpPr>
          <p:cNvPr id="26" name="Text 24"/>
          <p:cNvSpPr/>
          <p:nvPr/>
        </p:nvSpPr>
        <p:spPr>
          <a:xfrm>
            <a:off x="3666744" y="3840480"/>
            <a:ext cx="2148840" cy="201168"/>
          </a:xfrm>
          <a:prstGeom prst="rect">
            <a:avLst/>
          </a:prstGeom>
          <a:noFill/>
          <a:ln/>
        </p:spPr>
        <p:txBody>
          <a:bodyPr wrap="square" lIns="0" tIns="0" rIns="0" bIns="0" rtlCol="0" anchor="ctr"/>
          <a:lstStyle/>
          <a:p>
            <a:pPr marL="0" indent="0" algn="ctr">
              <a:buNone/>
            </a:pPr>
            <a:r>
              <a:rPr lang="en-US" sz="1320" b="1" dirty="0">
                <a:solidFill>
                  <a:srgbClr val="16A34A"/>
                </a:solidFill>
              </a:rPr>
              <a:t>BEGRENSE</a:t>
            </a:r>
            <a:endParaRPr lang="en-US" sz="1320" dirty="0"/>
          </a:p>
        </p:txBody>
      </p:sp>
      <p:sp>
        <p:nvSpPr>
          <p:cNvPr id="27" name="Text 25"/>
          <p:cNvSpPr/>
          <p:nvPr/>
        </p:nvSpPr>
        <p:spPr>
          <a:xfrm>
            <a:off x="3685032" y="4169664"/>
            <a:ext cx="2121408" cy="402336"/>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Kun nødvendig trafikk mellom soner</a:t>
            </a:r>
            <a:endParaRPr lang="en-US" sz="1120" dirty="0"/>
          </a:p>
        </p:txBody>
      </p:sp>
      <p:sp>
        <p:nvSpPr>
          <p:cNvPr id="28" name="Shape 26"/>
          <p:cNvSpPr/>
          <p:nvPr/>
        </p:nvSpPr>
        <p:spPr>
          <a:xfrm>
            <a:off x="6318504" y="3657600"/>
            <a:ext cx="2487168" cy="1207008"/>
          </a:xfrm>
          <a:prstGeom prst="roundRect">
            <a:avLst>
              <a:gd name="adj" fmla="val 4545"/>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sp>
        <p:nvSpPr>
          <p:cNvPr id="29" name="Text 27"/>
          <p:cNvSpPr/>
          <p:nvPr/>
        </p:nvSpPr>
        <p:spPr>
          <a:xfrm>
            <a:off x="6483096" y="3840480"/>
            <a:ext cx="2148840" cy="201168"/>
          </a:xfrm>
          <a:prstGeom prst="rect">
            <a:avLst/>
          </a:prstGeom>
          <a:noFill/>
          <a:ln/>
        </p:spPr>
        <p:txBody>
          <a:bodyPr wrap="square" lIns="0" tIns="0" rIns="0" bIns="0" rtlCol="0" anchor="ctr"/>
          <a:lstStyle/>
          <a:p>
            <a:pPr marL="0" indent="0" algn="ctr">
              <a:buNone/>
            </a:pPr>
            <a:r>
              <a:rPr lang="en-US" sz="1320" b="1" dirty="0">
                <a:solidFill>
                  <a:srgbClr val="16A34A"/>
                </a:solidFill>
              </a:rPr>
              <a:t>OVERVÅKE</a:t>
            </a:r>
            <a:endParaRPr lang="en-US" sz="1320" dirty="0"/>
          </a:p>
        </p:txBody>
      </p:sp>
      <p:sp>
        <p:nvSpPr>
          <p:cNvPr id="30" name="Text 28"/>
          <p:cNvSpPr/>
          <p:nvPr/>
        </p:nvSpPr>
        <p:spPr>
          <a:xfrm>
            <a:off x="6501384" y="4169664"/>
            <a:ext cx="2121408" cy="402336"/>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Sentral logging </a:t>
            </a:r>
            <a:r>
              <a:rPr lang="en-US" sz="1120" dirty="0" err="1">
                <a:solidFill>
                  <a:srgbClr val="1E293B"/>
                </a:solidFill>
              </a:rPr>
              <a:t>og</a:t>
            </a:r>
            <a:r>
              <a:rPr lang="en-US" sz="1120" dirty="0">
                <a:solidFill>
                  <a:srgbClr val="1E293B"/>
                </a:solidFill>
              </a:rPr>
              <a:t> IDS/SIEM</a:t>
            </a:r>
            <a:endParaRPr lang="en-US" sz="1120" dirty="0"/>
          </a:p>
        </p:txBody>
      </p:sp>
      <p:sp>
        <p:nvSpPr>
          <p:cNvPr id="31" name="Shape 29"/>
          <p:cNvSpPr/>
          <p:nvPr/>
        </p:nvSpPr>
        <p:spPr>
          <a:xfrm>
            <a:off x="9134856" y="3657600"/>
            <a:ext cx="2487168" cy="1207008"/>
          </a:xfrm>
          <a:prstGeom prst="roundRect">
            <a:avLst>
              <a:gd name="adj" fmla="val 4545"/>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sp>
        <p:nvSpPr>
          <p:cNvPr id="32" name="Text 30"/>
          <p:cNvSpPr/>
          <p:nvPr/>
        </p:nvSpPr>
        <p:spPr>
          <a:xfrm>
            <a:off x="9299448" y="3840480"/>
            <a:ext cx="2148840" cy="201168"/>
          </a:xfrm>
          <a:prstGeom prst="rect">
            <a:avLst/>
          </a:prstGeom>
          <a:noFill/>
          <a:ln/>
        </p:spPr>
        <p:txBody>
          <a:bodyPr wrap="square" lIns="0" tIns="0" rIns="0" bIns="0" rtlCol="0" anchor="ctr"/>
          <a:lstStyle/>
          <a:p>
            <a:pPr marL="0" indent="0" algn="ctr">
              <a:buNone/>
            </a:pPr>
            <a:r>
              <a:rPr lang="en-US" sz="1320" b="1" dirty="0">
                <a:solidFill>
                  <a:srgbClr val="16A34A"/>
                </a:solidFill>
              </a:rPr>
              <a:t>STANDARDISERE</a:t>
            </a:r>
            <a:endParaRPr lang="en-US" sz="1320" dirty="0"/>
          </a:p>
        </p:txBody>
      </p:sp>
      <p:sp>
        <p:nvSpPr>
          <p:cNvPr id="33" name="Text 31"/>
          <p:cNvSpPr/>
          <p:nvPr/>
        </p:nvSpPr>
        <p:spPr>
          <a:xfrm>
            <a:off x="9317736" y="4169664"/>
            <a:ext cx="2121408" cy="402336"/>
          </a:xfrm>
          <a:prstGeom prst="rect">
            <a:avLst/>
          </a:prstGeom>
          <a:noFill/>
          <a:ln/>
        </p:spPr>
        <p:txBody>
          <a:bodyPr wrap="square" lIns="0" tIns="0" rIns="0" bIns="0" rtlCol="0" anchor="ctr">
            <a:normAutofit/>
          </a:bodyPr>
          <a:lstStyle/>
          <a:p>
            <a:pPr marL="0" indent="0" algn="ctr">
              <a:buNone/>
            </a:pPr>
            <a:r>
              <a:rPr lang="en-US" sz="1120" dirty="0">
                <a:solidFill>
                  <a:srgbClr val="1E293B"/>
                </a:solidFill>
              </a:rPr>
              <a:t>Lik baseline og generator</a:t>
            </a:r>
            <a:endParaRPr lang="en-US" sz="1120" dirty="0"/>
          </a:p>
        </p:txBody>
      </p:sp>
      <p:sp>
        <p:nvSpPr>
          <p:cNvPr id="34" name="Shape 32"/>
          <p:cNvSpPr/>
          <p:nvPr/>
        </p:nvSpPr>
        <p:spPr>
          <a:xfrm>
            <a:off x="694944" y="5321808"/>
            <a:ext cx="10927080" cy="658368"/>
          </a:xfrm>
          <a:prstGeom prst="roundRect">
            <a:avLst>
              <a:gd name="adj" fmla="val 8333"/>
            </a:avLst>
          </a:prstGeom>
          <a:solidFill>
            <a:srgbClr val="E9F7EE"/>
          </a:solidFill>
          <a:ln w="12700">
            <a:solidFill>
              <a:srgbClr val="BFE8CD"/>
            </a:solidFill>
            <a:prstDash val="solid"/>
          </a:ln>
        </p:spPr>
        <p:txBody>
          <a:bodyPr/>
          <a:lstStyle/>
          <a:p>
            <a:endParaRPr lang="nb-NO"/>
          </a:p>
        </p:txBody>
      </p:sp>
      <p:sp>
        <p:nvSpPr>
          <p:cNvPr id="35" name="Text 33"/>
          <p:cNvSpPr/>
          <p:nvPr/>
        </p:nvSpPr>
        <p:spPr>
          <a:xfrm>
            <a:off x="914400" y="5522976"/>
            <a:ext cx="10469880" cy="228600"/>
          </a:xfrm>
          <a:prstGeom prst="rect">
            <a:avLst/>
          </a:prstGeom>
          <a:noFill/>
          <a:ln/>
        </p:spPr>
        <p:txBody>
          <a:bodyPr wrap="square" lIns="0" tIns="0" rIns="0" bIns="0" rtlCol="0" anchor="ctr"/>
          <a:lstStyle/>
          <a:p>
            <a:pPr marL="0" indent="0" algn="ctr">
              <a:buNone/>
            </a:pPr>
            <a:r>
              <a:rPr lang="en-US" sz="1520" b="1" dirty="0" err="1">
                <a:solidFill>
                  <a:srgbClr val="166534"/>
                </a:solidFill>
              </a:rPr>
              <a:t>Mål</a:t>
            </a:r>
            <a:r>
              <a:rPr lang="en-US" sz="1520" b="1" dirty="0">
                <a:solidFill>
                  <a:srgbClr val="166534"/>
                </a:solidFill>
              </a:rPr>
              <a:t>: behold underlayet – flytt kontroll, sikkerhet og standardisering inn i eget overlay.</a:t>
            </a:r>
            <a:endParaRPr lang="en-US" sz="1520" dirty="0"/>
          </a:p>
        </p:txBody>
      </p:sp>
      <p:sp>
        <p:nvSpPr>
          <p:cNvPr id="36"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2. Løsningen i ett bilde</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Eksisterende transport beholdes som underlay; sikkerhet og segmentering bygges som overlay.</a:t>
            </a:r>
            <a:endParaRPr lang="en-US" sz="1250" dirty="0"/>
          </a:p>
        </p:txBody>
      </p:sp>
      <p:sp>
        <p:nvSpPr>
          <p:cNvPr id="4" name="Shape 2"/>
          <p:cNvSpPr/>
          <p:nvPr/>
        </p:nvSpPr>
        <p:spPr>
          <a:xfrm>
            <a:off x="603504" y="1115568"/>
            <a:ext cx="2578608" cy="530352"/>
          </a:xfrm>
          <a:prstGeom prst="roundRect">
            <a:avLst>
              <a:gd name="adj" fmla="val 8621"/>
            </a:avLst>
          </a:prstGeom>
          <a:solidFill>
            <a:srgbClr val="FFFFFF"/>
          </a:solidFill>
          <a:ln w="12700">
            <a:solidFill>
              <a:srgbClr val="D8E0EA"/>
            </a:solidFill>
            <a:prstDash val="solid"/>
          </a:ln>
          <a:effectLst>
            <a:outerShdw blurRad="6350" dist="2540" dir="2700000" algn="bl" rotWithShape="0">
              <a:srgbClr val="000000">
                <a:alpha val="10000"/>
              </a:srgbClr>
            </a:outerShdw>
          </a:effectLst>
        </p:spPr>
        <p:txBody>
          <a:bodyPr/>
          <a:lstStyle/>
          <a:p>
            <a:endParaRPr lang="nb-NO"/>
          </a:p>
        </p:txBody>
      </p:sp>
      <p:sp>
        <p:nvSpPr>
          <p:cNvPr id="5" name="Shape 3"/>
          <p:cNvSpPr/>
          <p:nvPr/>
        </p:nvSpPr>
        <p:spPr>
          <a:xfrm>
            <a:off x="713232" y="1188720"/>
            <a:ext cx="384048" cy="384048"/>
          </a:xfrm>
          <a:prstGeom prst="ellipse">
            <a:avLst/>
          </a:prstGeom>
          <a:solidFill>
            <a:srgbClr val="28A745"/>
          </a:solidFill>
          <a:ln w="12700">
            <a:solidFill>
              <a:srgbClr val="28A745"/>
            </a:solidFill>
            <a:prstDash val="solid"/>
          </a:ln>
          <a:effectLst>
            <a:outerShdw blurRad="10160" dist="5080" dir="2700000" algn="bl" rotWithShape="0">
              <a:srgbClr val="000000">
                <a:alpha val="12000"/>
              </a:srgbClr>
            </a:outerShdw>
          </a:effectLst>
        </p:spPr>
        <p:txBody>
          <a:bodyPr/>
          <a:lstStyle/>
          <a:p>
            <a:endParaRPr lang="nb-NO"/>
          </a:p>
        </p:txBody>
      </p:sp>
      <p:sp>
        <p:nvSpPr>
          <p:cNvPr id="6" name="Text 4"/>
          <p:cNvSpPr/>
          <p:nvPr/>
        </p:nvSpPr>
        <p:spPr>
          <a:xfrm>
            <a:off x="713232" y="1225296"/>
            <a:ext cx="384048" cy="164592"/>
          </a:xfrm>
          <a:prstGeom prst="rect">
            <a:avLst/>
          </a:prstGeom>
          <a:noFill/>
          <a:ln/>
        </p:spPr>
        <p:txBody>
          <a:bodyPr wrap="square" lIns="0" tIns="0" rIns="0" bIns="0" rtlCol="0" anchor="ctr"/>
          <a:lstStyle/>
          <a:p>
            <a:pPr marL="0" indent="0" algn="ctr">
              <a:buNone/>
            </a:pPr>
            <a:r>
              <a:rPr lang="en-US" sz="1250" b="1" dirty="0">
                <a:solidFill>
                  <a:srgbClr val="FFFFFF"/>
                </a:solidFill>
              </a:rPr>
              <a:t>1</a:t>
            </a:r>
            <a:endParaRPr lang="en-US" sz="1250" dirty="0"/>
          </a:p>
        </p:txBody>
      </p:sp>
      <p:sp>
        <p:nvSpPr>
          <p:cNvPr id="7" name="Text 5"/>
          <p:cNvSpPr/>
          <p:nvPr/>
        </p:nvSpPr>
        <p:spPr>
          <a:xfrm>
            <a:off x="1170432" y="1179576"/>
            <a:ext cx="1783080" cy="146304"/>
          </a:xfrm>
          <a:prstGeom prst="rect">
            <a:avLst/>
          </a:prstGeom>
          <a:noFill/>
          <a:ln/>
        </p:spPr>
        <p:txBody>
          <a:bodyPr wrap="square" lIns="0" tIns="0" rIns="0" bIns="0" rtlCol="0" anchor="ctr">
            <a:normAutofit/>
          </a:bodyPr>
          <a:lstStyle/>
          <a:p>
            <a:pPr marL="0" indent="0">
              <a:buNone/>
            </a:pPr>
            <a:r>
              <a:rPr lang="en-US" sz="1070" b="1" dirty="0">
                <a:solidFill>
                  <a:srgbClr val="0F172A"/>
                </a:solidFill>
              </a:rPr>
              <a:t>L3-VPN underlay</a:t>
            </a:r>
            <a:endParaRPr lang="en-US" sz="1070" dirty="0"/>
          </a:p>
        </p:txBody>
      </p:sp>
      <p:sp>
        <p:nvSpPr>
          <p:cNvPr id="8" name="Text 6"/>
          <p:cNvSpPr/>
          <p:nvPr/>
        </p:nvSpPr>
        <p:spPr>
          <a:xfrm>
            <a:off x="1170432" y="1362456"/>
            <a:ext cx="1783080" cy="128016"/>
          </a:xfrm>
          <a:prstGeom prst="rect">
            <a:avLst/>
          </a:prstGeom>
          <a:noFill/>
          <a:ln/>
        </p:spPr>
        <p:txBody>
          <a:bodyPr wrap="square" lIns="0" tIns="0" rIns="0" bIns="0" rtlCol="0" anchor="ctr">
            <a:normAutofit/>
          </a:bodyPr>
          <a:lstStyle/>
          <a:p>
            <a:pPr marL="0" indent="0">
              <a:buNone/>
            </a:pPr>
            <a:r>
              <a:rPr lang="en-US" sz="890" dirty="0">
                <a:solidFill>
                  <a:srgbClr val="64748B"/>
                </a:solidFill>
              </a:rPr>
              <a:t>Uendret transport</a:t>
            </a:r>
            <a:endParaRPr lang="en-US" sz="890" dirty="0"/>
          </a:p>
        </p:txBody>
      </p:sp>
      <p:sp>
        <p:nvSpPr>
          <p:cNvPr id="9" name="Shape 7"/>
          <p:cNvSpPr/>
          <p:nvPr/>
        </p:nvSpPr>
        <p:spPr>
          <a:xfrm>
            <a:off x="3419856" y="1115568"/>
            <a:ext cx="2578608" cy="530352"/>
          </a:xfrm>
          <a:prstGeom prst="roundRect">
            <a:avLst>
              <a:gd name="adj" fmla="val 8621"/>
            </a:avLst>
          </a:prstGeom>
          <a:solidFill>
            <a:srgbClr val="FFFFFF"/>
          </a:solidFill>
          <a:ln w="12700">
            <a:solidFill>
              <a:srgbClr val="D8E0EA"/>
            </a:solidFill>
            <a:prstDash val="solid"/>
          </a:ln>
          <a:effectLst>
            <a:outerShdw blurRad="6350" dist="2540" dir="2700000" algn="bl" rotWithShape="0">
              <a:srgbClr val="000000">
                <a:alpha val="10000"/>
              </a:srgbClr>
            </a:outerShdw>
          </a:effectLst>
        </p:spPr>
        <p:txBody>
          <a:bodyPr/>
          <a:lstStyle/>
          <a:p>
            <a:endParaRPr lang="nb-NO"/>
          </a:p>
        </p:txBody>
      </p:sp>
      <p:sp>
        <p:nvSpPr>
          <p:cNvPr id="10" name="Shape 8"/>
          <p:cNvSpPr/>
          <p:nvPr/>
        </p:nvSpPr>
        <p:spPr>
          <a:xfrm>
            <a:off x="3529584" y="1188720"/>
            <a:ext cx="384048" cy="384048"/>
          </a:xfrm>
          <a:prstGeom prst="ellipse">
            <a:avLst/>
          </a:prstGeom>
          <a:solidFill>
            <a:srgbClr val="28A745"/>
          </a:solidFill>
          <a:ln w="12700">
            <a:solidFill>
              <a:srgbClr val="28A745"/>
            </a:solidFill>
            <a:prstDash val="solid"/>
          </a:ln>
          <a:effectLst>
            <a:outerShdw blurRad="10160" dist="5080" dir="2700000" algn="bl" rotWithShape="0">
              <a:srgbClr val="000000">
                <a:alpha val="12000"/>
              </a:srgbClr>
            </a:outerShdw>
          </a:effectLst>
        </p:spPr>
        <p:txBody>
          <a:bodyPr/>
          <a:lstStyle/>
          <a:p>
            <a:endParaRPr lang="nb-NO"/>
          </a:p>
        </p:txBody>
      </p:sp>
      <p:sp>
        <p:nvSpPr>
          <p:cNvPr id="11" name="Text 9"/>
          <p:cNvSpPr/>
          <p:nvPr/>
        </p:nvSpPr>
        <p:spPr>
          <a:xfrm>
            <a:off x="3529584" y="1225296"/>
            <a:ext cx="384048" cy="164592"/>
          </a:xfrm>
          <a:prstGeom prst="rect">
            <a:avLst/>
          </a:prstGeom>
          <a:noFill/>
          <a:ln/>
        </p:spPr>
        <p:txBody>
          <a:bodyPr wrap="square" lIns="0" tIns="0" rIns="0" bIns="0" rtlCol="0" anchor="ctr"/>
          <a:lstStyle/>
          <a:p>
            <a:pPr marL="0" indent="0" algn="ctr">
              <a:buNone/>
            </a:pPr>
            <a:r>
              <a:rPr lang="en-US" sz="1250" b="1" dirty="0">
                <a:solidFill>
                  <a:srgbClr val="FFFFFF"/>
                </a:solidFill>
              </a:rPr>
              <a:t>2</a:t>
            </a:r>
            <a:endParaRPr lang="en-US" sz="1250" dirty="0"/>
          </a:p>
        </p:txBody>
      </p:sp>
      <p:sp>
        <p:nvSpPr>
          <p:cNvPr id="12" name="Text 10"/>
          <p:cNvSpPr/>
          <p:nvPr/>
        </p:nvSpPr>
        <p:spPr>
          <a:xfrm>
            <a:off x="3986784" y="1179576"/>
            <a:ext cx="1783080" cy="146304"/>
          </a:xfrm>
          <a:prstGeom prst="rect">
            <a:avLst/>
          </a:prstGeom>
          <a:noFill/>
          <a:ln/>
        </p:spPr>
        <p:txBody>
          <a:bodyPr wrap="square" lIns="0" tIns="0" rIns="0" bIns="0" rtlCol="0" anchor="ctr">
            <a:normAutofit/>
          </a:bodyPr>
          <a:lstStyle/>
          <a:p>
            <a:pPr marL="0" indent="0">
              <a:buNone/>
            </a:pPr>
            <a:r>
              <a:rPr lang="en-US" sz="1070" b="1" dirty="0">
                <a:solidFill>
                  <a:srgbClr val="0F172A"/>
                </a:solidFill>
              </a:rPr>
              <a:t>DMVPN per VRF</a:t>
            </a:r>
            <a:endParaRPr lang="en-US" sz="1070" dirty="0"/>
          </a:p>
        </p:txBody>
      </p:sp>
      <p:sp>
        <p:nvSpPr>
          <p:cNvPr id="13" name="Text 11"/>
          <p:cNvSpPr/>
          <p:nvPr/>
        </p:nvSpPr>
        <p:spPr>
          <a:xfrm>
            <a:off x="3986784" y="1362456"/>
            <a:ext cx="1783080" cy="128016"/>
          </a:xfrm>
          <a:prstGeom prst="rect">
            <a:avLst/>
          </a:prstGeom>
          <a:noFill/>
          <a:ln/>
        </p:spPr>
        <p:txBody>
          <a:bodyPr wrap="square" lIns="0" tIns="0" rIns="0" bIns="0" rtlCol="0" anchor="ctr">
            <a:normAutofit/>
          </a:bodyPr>
          <a:lstStyle/>
          <a:p>
            <a:pPr marL="0" indent="0">
              <a:buNone/>
            </a:pPr>
            <a:r>
              <a:rPr lang="en-US" sz="890" dirty="0">
                <a:solidFill>
                  <a:srgbClr val="64748B"/>
                </a:solidFill>
              </a:rPr>
              <a:t>Segmentert overlay</a:t>
            </a:r>
            <a:endParaRPr lang="en-US" sz="890" dirty="0"/>
          </a:p>
        </p:txBody>
      </p:sp>
      <p:sp>
        <p:nvSpPr>
          <p:cNvPr id="14" name="Shape 12"/>
          <p:cNvSpPr/>
          <p:nvPr/>
        </p:nvSpPr>
        <p:spPr>
          <a:xfrm>
            <a:off x="6236208" y="1115568"/>
            <a:ext cx="2578608" cy="530352"/>
          </a:xfrm>
          <a:prstGeom prst="roundRect">
            <a:avLst>
              <a:gd name="adj" fmla="val 8621"/>
            </a:avLst>
          </a:prstGeom>
          <a:solidFill>
            <a:srgbClr val="FFFFFF"/>
          </a:solidFill>
          <a:ln w="12700">
            <a:solidFill>
              <a:srgbClr val="D8E0EA"/>
            </a:solidFill>
            <a:prstDash val="solid"/>
          </a:ln>
          <a:effectLst>
            <a:outerShdw blurRad="6350" dist="2540" dir="2700000" algn="bl" rotWithShape="0">
              <a:srgbClr val="000000">
                <a:alpha val="10000"/>
              </a:srgbClr>
            </a:outerShdw>
          </a:effectLst>
        </p:spPr>
        <p:txBody>
          <a:bodyPr/>
          <a:lstStyle/>
          <a:p>
            <a:endParaRPr lang="nb-NO"/>
          </a:p>
        </p:txBody>
      </p:sp>
      <p:sp>
        <p:nvSpPr>
          <p:cNvPr id="15" name="Shape 13"/>
          <p:cNvSpPr/>
          <p:nvPr/>
        </p:nvSpPr>
        <p:spPr>
          <a:xfrm>
            <a:off x="6345936" y="1188720"/>
            <a:ext cx="384048" cy="384048"/>
          </a:xfrm>
          <a:prstGeom prst="ellipse">
            <a:avLst/>
          </a:prstGeom>
          <a:solidFill>
            <a:srgbClr val="28A745"/>
          </a:solidFill>
          <a:ln w="12700">
            <a:solidFill>
              <a:srgbClr val="28A745"/>
            </a:solidFill>
            <a:prstDash val="solid"/>
          </a:ln>
          <a:effectLst>
            <a:outerShdw blurRad="10160" dist="5080" dir="2700000" algn="bl" rotWithShape="0">
              <a:srgbClr val="000000">
                <a:alpha val="12000"/>
              </a:srgbClr>
            </a:outerShdw>
          </a:effectLst>
        </p:spPr>
        <p:txBody>
          <a:bodyPr/>
          <a:lstStyle/>
          <a:p>
            <a:endParaRPr lang="nb-NO"/>
          </a:p>
        </p:txBody>
      </p:sp>
      <p:sp>
        <p:nvSpPr>
          <p:cNvPr id="16" name="Text 14"/>
          <p:cNvSpPr/>
          <p:nvPr/>
        </p:nvSpPr>
        <p:spPr>
          <a:xfrm>
            <a:off x="6345936" y="1225296"/>
            <a:ext cx="384048" cy="164592"/>
          </a:xfrm>
          <a:prstGeom prst="rect">
            <a:avLst/>
          </a:prstGeom>
          <a:noFill/>
          <a:ln/>
        </p:spPr>
        <p:txBody>
          <a:bodyPr wrap="square" lIns="0" tIns="0" rIns="0" bIns="0" rtlCol="0" anchor="ctr"/>
          <a:lstStyle/>
          <a:p>
            <a:pPr marL="0" indent="0" algn="ctr">
              <a:buNone/>
            </a:pPr>
            <a:r>
              <a:rPr lang="en-US" sz="1250" b="1" dirty="0">
                <a:solidFill>
                  <a:srgbClr val="FFFFFF"/>
                </a:solidFill>
              </a:rPr>
              <a:t>3</a:t>
            </a:r>
            <a:endParaRPr lang="en-US" sz="1250" dirty="0"/>
          </a:p>
        </p:txBody>
      </p:sp>
      <p:sp>
        <p:nvSpPr>
          <p:cNvPr id="17" name="Text 15"/>
          <p:cNvSpPr/>
          <p:nvPr/>
        </p:nvSpPr>
        <p:spPr>
          <a:xfrm>
            <a:off x="6803136" y="1179576"/>
            <a:ext cx="1783080" cy="146304"/>
          </a:xfrm>
          <a:prstGeom prst="rect">
            <a:avLst/>
          </a:prstGeom>
          <a:noFill/>
          <a:ln/>
        </p:spPr>
        <p:txBody>
          <a:bodyPr wrap="square" lIns="0" tIns="0" rIns="0" bIns="0" rtlCol="0" anchor="ctr">
            <a:normAutofit/>
          </a:bodyPr>
          <a:lstStyle/>
          <a:p>
            <a:pPr marL="0" indent="0">
              <a:buNone/>
            </a:pPr>
            <a:r>
              <a:rPr lang="en-US" sz="1070" b="1" dirty="0">
                <a:solidFill>
                  <a:srgbClr val="0F172A"/>
                </a:solidFill>
              </a:rPr>
              <a:t>BNHQ som hub</a:t>
            </a:r>
            <a:endParaRPr lang="en-US" sz="1070" dirty="0"/>
          </a:p>
        </p:txBody>
      </p:sp>
      <p:sp>
        <p:nvSpPr>
          <p:cNvPr id="18" name="Text 16"/>
          <p:cNvSpPr/>
          <p:nvPr/>
        </p:nvSpPr>
        <p:spPr>
          <a:xfrm>
            <a:off x="6803136" y="1362456"/>
            <a:ext cx="1783080" cy="128016"/>
          </a:xfrm>
          <a:prstGeom prst="rect">
            <a:avLst/>
          </a:prstGeom>
          <a:noFill/>
          <a:ln/>
        </p:spPr>
        <p:txBody>
          <a:bodyPr wrap="square" lIns="0" tIns="0" rIns="0" bIns="0" rtlCol="0" anchor="ctr">
            <a:normAutofit/>
          </a:bodyPr>
          <a:lstStyle/>
          <a:p>
            <a:pPr marL="0" indent="0">
              <a:buNone/>
            </a:pPr>
            <a:r>
              <a:rPr lang="en-US" sz="890" dirty="0">
                <a:solidFill>
                  <a:srgbClr val="64748B"/>
                </a:solidFill>
              </a:rPr>
              <a:t>Sentrale tjenester</a:t>
            </a:r>
            <a:endParaRPr lang="en-US" sz="890" dirty="0"/>
          </a:p>
        </p:txBody>
      </p:sp>
      <p:sp>
        <p:nvSpPr>
          <p:cNvPr id="19" name="Shape 17"/>
          <p:cNvSpPr/>
          <p:nvPr/>
        </p:nvSpPr>
        <p:spPr>
          <a:xfrm>
            <a:off x="9052560" y="1115568"/>
            <a:ext cx="2578608" cy="530352"/>
          </a:xfrm>
          <a:prstGeom prst="roundRect">
            <a:avLst>
              <a:gd name="adj" fmla="val 8621"/>
            </a:avLst>
          </a:prstGeom>
          <a:solidFill>
            <a:srgbClr val="FFFFFF"/>
          </a:solidFill>
          <a:ln w="12700">
            <a:solidFill>
              <a:srgbClr val="D8E0EA"/>
            </a:solidFill>
            <a:prstDash val="solid"/>
          </a:ln>
          <a:effectLst>
            <a:outerShdw blurRad="6350" dist="2540" dir="2700000" algn="bl" rotWithShape="0">
              <a:srgbClr val="000000">
                <a:alpha val="10000"/>
              </a:srgbClr>
            </a:outerShdw>
          </a:effectLst>
        </p:spPr>
        <p:txBody>
          <a:bodyPr/>
          <a:lstStyle/>
          <a:p>
            <a:endParaRPr lang="nb-NO"/>
          </a:p>
        </p:txBody>
      </p:sp>
      <p:sp>
        <p:nvSpPr>
          <p:cNvPr id="20" name="Shape 18"/>
          <p:cNvSpPr/>
          <p:nvPr/>
        </p:nvSpPr>
        <p:spPr>
          <a:xfrm>
            <a:off x="9162288" y="1188720"/>
            <a:ext cx="384048" cy="384048"/>
          </a:xfrm>
          <a:prstGeom prst="ellipse">
            <a:avLst/>
          </a:prstGeom>
          <a:solidFill>
            <a:srgbClr val="28A745"/>
          </a:solidFill>
          <a:ln w="12700">
            <a:solidFill>
              <a:srgbClr val="28A745"/>
            </a:solidFill>
            <a:prstDash val="solid"/>
          </a:ln>
          <a:effectLst>
            <a:outerShdw blurRad="10160" dist="5080" dir="2700000" algn="bl" rotWithShape="0">
              <a:srgbClr val="000000">
                <a:alpha val="12000"/>
              </a:srgbClr>
            </a:outerShdw>
          </a:effectLst>
        </p:spPr>
        <p:txBody>
          <a:bodyPr/>
          <a:lstStyle/>
          <a:p>
            <a:endParaRPr lang="nb-NO"/>
          </a:p>
        </p:txBody>
      </p:sp>
      <p:sp>
        <p:nvSpPr>
          <p:cNvPr id="21" name="Text 19"/>
          <p:cNvSpPr/>
          <p:nvPr/>
        </p:nvSpPr>
        <p:spPr>
          <a:xfrm>
            <a:off x="9162288" y="1225296"/>
            <a:ext cx="384048" cy="164592"/>
          </a:xfrm>
          <a:prstGeom prst="rect">
            <a:avLst/>
          </a:prstGeom>
          <a:noFill/>
          <a:ln/>
        </p:spPr>
        <p:txBody>
          <a:bodyPr wrap="square" lIns="0" tIns="0" rIns="0" bIns="0" rtlCol="0" anchor="ctr"/>
          <a:lstStyle/>
          <a:p>
            <a:pPr marL="0" indent="0" algn="ctr">
              <a:buNone/>
            </a:pPr>
            <a:r>
              <a:rPr lang="en-US" sz="1250" b="1" dirty="0">
                <a:solidFill>
                  <a:srgbClr val="FFFFFF"/>
                </a:solidFill>
              </a:rPr>
              <a:t>4</a:t>
            </a:r>
            <a:endParaRPr lang="en-US" sz="1250" dirty="0"/>
          </a:p>
        </p:txBody>
      </p:sp>
      <p:sp>
        <p:nvSpPr>
          <p:cNvPr id="22" name="Text 20"/>
          <p:cNvSpPr/>
          <p:nvPr/>
        </p:nvSpPr>
        <p:spPr>
          <a:xfrm>
            <a:off x="9619488" y="1179576"/>
            <a:ext cx="1783080" cy="146304"/>
          </a:xfrm>
          <a:prstGeom prst="rect">
            <a:avLst/>
          </a:prstGeom>
          <a:noFill/>
          <a:ln/>
        </p:spPr>
        <p:txBody>
          <a:bodyPr wrap="square" lIns="0" tIns="0" rIns="0" bIns="0" rtlCol="0" anchor="ctr">
            <a:normAutofit/>
          </a:bodyPr>
          <a:lstStyle/>
          <a:p>
            <a:pPr marL="0" indent="0">
              <a:buNone/>
            </a:pPr>
            <a:r>
              <a:rPr lang="en-US" sz="1070" b="1" dirty="0">
                <a:solidFill>
                  <a:srgbClr val="0F172A"/>
                </a:solidFill>
              </a:rPr>
              <a:t>ERSPAN</a:t>
            </a:r>
            <a:endParaRPr lang="en-US" sz="1070" dirty="0"/>
          </a:p>
        </p:txBody>
      </p:sp>
      <p:sp>
        <p:nvSpPr>
          <p:cNvPr id="23" name="Text 21"/>
          <p:cNvSpPr/>
          <p:nvPr/>
        </p:nvSpPr>
        <p:spPr>
          <a:xfrm>
            <a:off x="9619488" y="1362456"/>
            <a:ext cx="1783080" cy="128016"/>
          </a:xfrm>
          <a:prstGeom prst="rect">
            <a:avLst/>
          </a:prstGeom>
          <a:noFill/>
          <a:ln/>
        </p:spPr>
        <p:txBody>
          <a:bodyPr wrap="square" lIns="0" tIns="0" rIns="0" bIns="0" rtlCol="0" anchor="ctr">
            <a:normAutofit lnSpcReduction="10000"/>
          </a:bodyPr>
          <a:lstStyle/>
          <a:p>
            <a:pPr marL="0" indent="0">
              <a:buNone/>
            </a:pPr>
            <a:r>
              <a:rPr lang="en-US" sz="890" dirty="0">
                <a:solidFill>
                  <a:srgbClr val="64748B"/>
                </a:solidFill>
              </a:rPr>
              <a:t>Trafikk </a:t>
            </a:r>
            <a:r>
              <a:rPr lang="en-US" sz="890" dirty="0" err="1">
                <a:solidFill>
                  <a:srgbClr val="64748B"/>
                </a:solidFill>
              </a:rPr>
              <a:t>til</a:t>
            </a:r>
            <a:r>
              <a:rPr lang="en-US" sz="890" dirty="0">
                <a:solidFill>
                  <a:srgbClr val="64748B"/>
                </a:solidFill>
              </a:rPr>
              <a:t> IDS</a:t>
            </a:r>
            <a:endParaRPr lang="en-US" sz="890" dirty="0"/>
          </a:p>
        </p:txBody>
      </p:sp>
      <p:sp>
        <p:nvSpPr>
          <p:cNvPr id="24" name="Shape 22"/>
          <p:cNvSpPr/>
          <p:nvPr/>
        </p:nvSpPr>
        <p:spPr>
          <a:xfrm>
            <a:off x="502920" y="1810512"/>
            <a:ext cx="11201400" cy="4407408"/>
          </a:xfrm>
          <a:prstGeom prst="roundRect">
            <a:avLst>
              <a:gd name="adj" fmla="val 1037"/>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pic>
        <p:nvPicPr>
          <p:cNvPr id="25" name="Image 0" descr="/mnt/data/logisk_arkitektur.png"/>
          <p:cNvPicPr>
            <a:picLocks noChangeAspect="1"/>
          </p:cNvPicPr>
          <p:nvPr/>
        </p:nvPicPr>
        <p:blipFill>
          <a:blip r:embed="rId3"/>
          <a:stretch>
            <a:fillRect/>
          </a:stretch>
        </p:blipFill>
        <p:spPr>
          <a:xfrm>
            <a:off x="2701789" y="1956816"/>
            <a:ext cx="6803662" cy="4096512"/>
          </a:xfrm>
          <a:prstGeom prst="rect">
            <a:avLst/>
          </a:prstGeom>
        </p:spPr>
      </p:pic>
      <p:sp>
        <p:nvSpPr>
          <p:cNvPr id="26"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3. Segmentering på hvert site</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Samme logiske struktur gjenbrukes på alle lokasjoner.</a:t>
            </a:r>
            <a:endParaRPr lang="en-US" sz="1250" dirty="0"/>
          </a:p>
        </p:txBody>
      </p:sp>
      <p:sp>
        <p:nvSpPr>
          <p:cNvPr id="4" name="Shape 2"/>
          <p:cNvSpPr/>
          <p:nvPr/>
        </p:nvSpPr>
        <p:spPr>
          <a:xfrm>
            <a:off x="502920" y="1170432"/>
            <a:ext cx="6876288" cy="5029200"/>
          </a:xfrm>
          <a:prstGeom prst="roundRect">
            <a:avLst>
              <a:gd name="adj" fmla="val 909"/>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pic>
        <p:nvPicPr>
          <p:cNvPr id="5" name="Image 0" descr="/mnt/data/log_ip.jpg"/>
          <p:cNvPicPr>
            <a:picLocks noChangeAspect="1"/>
          </p:cNvPicPr>
          <p:nvPr/>
        </p:nvPicPr>
        <p:blipFill>
          <a:blip r:embed="rId3"/>
          <a:stretch>
            <a:fillRect/>
          </a:stretch>
        </p:blipFill>
        <p:spPr>
          <a:xfrm>
            <a:off x="694944" y="1580309"/>
            <a:ext cx="6492240" cy="4200302"/>
          </a:xfrm>
          <a:prstGeom prst="rect">
            <a:avLst/>
          </a:prstGeom>
        </p:spPr>
      </p:pic>
      <p:sp>
        <p:nvSpPr>
          <p:cNvPr id="6" name="Text 3"/>
          <p:cNvSpPr/>
          <p:nvPr/>
        </p:nvSpPr>
        <p:spPr>
          <a:xfrm>
            <a:off x="7662672" y="1207008"/>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PRINSIPP</a:t>
            </a:r>
            <a:endParaRPr lang="en-US" sz="950" dirty="0"/>
          </a:p>
        </p:txBody>
      </p:sp>
      <p:sp>
        <p:nvSpPr>
          <p:cNvPr id="7" name="Shape 4"/>
          <p:cNvSpPr/>
          <p:nvPr/>
        </p:nvSpPr>
        <p:spPr>
          <a:xfrm>
            <a:off x="7635240" y="1481328"/>
            <a:ext cx="3977640" cy="950976"/>
          </a:xfrm>
          <a:prstGeom prst="roundRect">
            <a:avLst>
              <a:gd name="adj" fmla="val 7692"/>
            </a:avLst>
          </a:prstGeom>
          <a:solidFill>
            <a:srgbClr val="FFFFFF"/>
          </a:solidFill>
          <a:ln w="10160">
            <a:solidFill>
              <a:srgbClr val="D8E0EA"/>
            </a:solidFill>
            <a:prstDash val="solid"/>
          </a:ln>
        </p:spPr>
        <p:txBody>
          <a:bodyPr/>
          <a:lstStyle/>
          <a:p>
            <a:endParaRPr lang="nb-NO"/>
          </a:p>
        </p:txBody>
      </p:sp>
      <p:sp>
        <p:nvSpPr>
          <p:cNvPr id="8" name="Shape 5"/>
          <p:cNvSpPr/>
          <p:nvPr/>
        </p:nvSpPr>
        <p:spPr>
          <a:xfrm>
            <a:off x="7635240" y="1481328"/>
            <a:ext cx="64008" cy="950976"/>
          </a:xfrm>
          <a:prstGeom prst="rect">
            <a:avLst/>
          </a:prstGeom>
          <a:solidFill>
            <a:srgbClr val="2563EB"/>
          </a:solidFill>
          <a:ln w="12700">
            <a:solidFill>
              <a:srgbClr val="2563EB"/>
            </a:solidFill>
            <a:prstDash val="solid"/>
          </a:ln>
        </p:spPr>
        <p:txBody>
          <a:bodyPr/>
          <a:lstStyle/>
          <a:p>
            <a:endParaRPr lang="nb-NO"/>
          </a:p>
        </p:txBody>
      </p:sp>
      <p:sp>
        <p:nvSpPr>
          <p:cNvPr id="9" name="Text 6"/>
          <p:cNvSpPr/>
          <p:nvPr/>
        </p:nvSpPr>
        <p:spPr>
          <a:xfrm>
            <a:off x="7818120" y="1618488"/>
            <a:ext cx="36576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VLAN + VRF</a:t>
            </a:r>
            <a:endParaRPr lang="en-US" sz="1650" dirty="0"/>
          </a:p>
        </p:txBody>
      </p:sp>
      <p:sp>
        <p:nvSpPr>
          <p:cNvPr id="10" name="Text 7"/>
          <p:cNvSpPr/>
          <p:nvPr/>
        </p:nvSpPr>
        <p:spPr>
          <a:xfrm>
            <a:off x="7818120" y="1920240"/>
            <a:ext cx="3657600" cy="402336"/>
          </a:xfrm>
          <a:prstGeom prst="rect">
            <a:avLst/>
          </a:prstGeom>
          <a:noFill/>
          <a:ln/>
        </p:spPr>
        <p:txBody>
          <a:bodyPr wrap="square" lIns="0" tIns="0" rIns="0" bIns="0" rtlCol="0" anchor="ctr">
            <a:normAutofit/>
          </a:bodyPr>
          <a:lstStyle/>
          <a:p>
            <a:pPr marL="0" indent="0">
              <a:buNone/>
            </a:pPr>
            <a:r>
              <a:rPr lang="en-US" sz="1170" dirty="0">
                <a:solidFill>
                  <a:srgbClr val="1E293B"/>
                </a:solidFill>
              </a:rPr>
              <a:t>VLAN 10/20/30/40/50 termineres i hver sin VRF: MGMT, INET, UNET, PA og MONITORING.</a:t>
            </a:r>
            <a:endParaRPr lang="en-US" sz="1170" dirty="0"/>
          </a:p>
        </p:txBody>
      </p:sp>
      <p:sp>
        <p:nvSpPr>
          <p:cNvPr id="11" name="Shape 8"/>
          <p:cNvSpPr/>
          <p:nvPr/>
        </p:nvSpPr>
        <p:spPr>
          <a:xfrm>
            <a:off x="7635240" y="2606040"/>
            <a:ext cx="3977640" cy="950976"/>
          </a:xfrm>
          <a:prstGeom prst="roundRect">
            <a:avLst>
              <a:gd name="adj" fmla="val 7692"/>
            </a:avLst>
          </a:prstGeom>
          <a:solidFill>
            <a:srgbClr val="FFFFFF"/>
          </a:solidFill>
          <a:ln w="10160">
            <a:solidFill>
              <a:srgbClr val="D8E0EA"/>
            </a:solidFill>
            <a:prstDash val="solid"/>
          </a:ln>
        </p:spPr>
        <p:txBody>
          <a:bodyPr/>
          <a:lstStyle/>
          <a:p>
            <a:endParaRPr lang="nb-NO"/>
          </a:p>
        </p:txBody>
      </p:sp>
      <p:sp>
        <p:nvSpPr>
          <p:cNvPr id="12" name="Shape 9"/>
          <p:cNvSpPr/>
          <p:nvPr/>
        </p:nvSpPr>
        <p:spPr>
          <a:xfrm>
            <a:off x="7635240" y="2606040"/>
            <a:ext cx="64008" cy="950976"/>
          </a:xfrm>
          <a:prstGeom prst="rect">
            <a:avLst/>
          </a:prstGeom>
          <a:solidFill>
            <a:srgbClr val="28A745"/>
          </a:solidFill>
          <a:ln w="12700">
            <a:solidFill>
              <a:srgbClr val="28A745"/>
            </a:solidFill>
            <a:prstDash val="solid"/>
          </a:ln>
        </p:spPr>
        <p:txBody>
          <a:bodyPr/>
          <a:lstStyle/>
          <a:p>
            <a:endParaRPr lang="nb-NO"/>
          </a:p>
        </p:txBody>
      </p:sp>
      <p:sp>
        <p:nvSpPr>
          <p:cNvPr id="13" name="Text 10"/>
          <p:cNvSpPr/>
          <p:nvPr/>
        </p:nvSpPr>
        <p:spPr>
          <a:xfrm>
            <a:off x="7818120" y="2743200"/>
            <a:ext cx="36576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Fast IP-mønster</a:t>
            </a:r>
            <a:endParaRPr lang="en-US" sz="1650" dirty="0"/>
          </a:p>
        </p:txBody>
      </p:sp>
      <p:sp>
        <p:nvSpPr>
          <p:cNvPr id="14" name="Text 11"/>
          <p:cNvSpPr/>
          <p:nvPr/>
        </p:nvSpPr>
        <p:spPr>
          <a:xfrm>
            <a:off x="7818120" y="3044952"/>
            <a:ext cx="3657600" cy="402336"/>
          </a:xfrm>
          <a:prstGeom prst="rect">
            <a:avLst/>
          </a:prstGeom>
          <a:noFill/>
          <a:ln/>
        </p:spPr>
        <p:txBody>
          <a:bodyPr wrap="square" lIns="0" tIns="0" rIns="0" bIns="0" rtlCol="0" anchor="ctr">
            <a:normAutofit/>
          </a:bodyPr>
          <a:lstStyle/>
          <a:p>
            <a:pPr marL="0" indent="0">
              <a:buNone/>
            </a:pPr>
            <a:r>
              <a:rPr lang="en-US" sz="1170" dirty="0">
                <a:solidFill>
                  <a:srgbClr val="1E293B"/>
                </a:solidFill>
              </a:rPr>
              <a:t>10.X.&lt;</a:t>
            </a:r>
            <a:r>
              <a:rPr lang="en-US" sz="1170" dirty="0" err="1">
                <a:solidFill>
                  <a:srgbClr val="1E293B"/>
                </a:solidFill>
              </a:rPr>
              <a:t>tjeneste</a:t>
            </a:r>
            <a:r>
              <a:rPr lang="en-US" sz="1170" dirty="0">
                <a:solidFill>
                  <a:srgbClr val="1E293B"/>
                </a:solidFill>
              </a:rPr>
              <a:t>/</a:t>
            </a:r>
            <a:r>
              <a:rPr lang="en-US" sz="1170" dirty="0" err="1">
                <a:solidFill>
                  <a:srgbClr val="1E293B"/>
                </a:solidFill>
              </a:rPr>
              <a:t>vlan</a:t>
            </a:r>
            <a:r>
              <a:rPr lang="en-US" sz="1170" dirty="0">
                <a:solidFill>
                  <a:srgbClr val="1E293B"/>
                </a:solidFill>
              </a:rPr>
              <a:t>&gt;.0/24 gjør at site og tjeneste kan leses direkte fra adressen.</a:t>
            </a:r>
            <a:endParaRPr lang="en-US" sz="1170" dirty="0"/>
          </a:p>
        </p:txBody>
      </p:sp>
      <p:sp>
        <p:nvSpPr>
          <p:cNvPr id="15" name="Shape 12"/>
          <p:cNvSpPr/>
          <p:nvPr/>
        </p:nvSpPr>
        <p:spPr>
          <a:xfrm>
            <a:off x="7635240" y="3730752"/>
            <a:ext cx="3977640" cy="950976"/>
          </a:xfrm>
          <a:prstGeom prst="roundRect">
            <a:avLst>
              <a:gd name="adj" fmla="val 7692"/>
            </a:avLst>
          </a:prstGeom>
          <a:solidFill>
            <a:srgbClr val="FFFFFF"/>
          </a:solidFill>
          <a:ln w="10160">
            <a:solidFill>
              <a:srgbClr val="D8E0EA"/>
            </a:solidFill>
            <a:prstDash val="solid"/>
          </a:ln>
        </p:spPr>
        <p:txBody>
          <a:bodyPr/>
          <a:lstStyle/>
          <a:p>
            <a:endParaRPr lang="nb-NO"/>
          </a:p>
        </p:txBody>
      </p:sp>
      <p:sp>
        <p:nvSpPr>
          <p:cNvPr id="16" name="Shape 13"/>
          <p:cNvSpPr/>
          <p:nvPr/>
        </p:nvSpPr>
        <p:spPr>
          <a:xfrm>
            <a:off x="7635240" y="3730752"/>
            <a:ext cx="64008" cy="950976"/>
          </a:xfrm>
          <a:prstGeom prst="rect">
            <a:avLst/>
          </a:prstGeom>
          <a:solidFill>
            <a:srgbClr val="7C3AED"/>
          </a:solidFill>
          <a:ln w="12700">
            <a:solidFill>
              <a:srgbClr val="7C3AED"/>
            </a:solidFill>
            <a:prstDash val="solid"/>
          </a:ln>
        </p:spPr>
        <p:txBody>
          <a:bodyPr/>
          <a:lstStyle/>
          <a:p>
            <a:endParaRPr lang="nb-NO"/>
          </a:p>
        </p:txBody>
      </p:sp>
      <p:sp>
        <p:nvSpPr>
          <p:cNvPr id="17" name="Text 14"/>
          <p:cNvSpPr/>
          <p:nvPr/>
        </p:nvSpPr>
        <p:spPr>
          <a:xfrm>
            <a:off x="7818120" y="3867912"/>
            <a:ext cx="36576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Least privilege</a:t>
            </a:r>
            <a:endParaRPr lang="en-US" sz="1650" dirty="0"/>
          </a:p>
        </p:txBody>
      </p:sp>
      <p:sp>
        <p:nvSpPr>
          <p:cNvPr id="18" name="Text 15"/>
          <p:cNvSpPr/>
          <p:nvPr/>
        </p:nvSpPr>
        <p:spPr>
          <a:xfrm>
            <a:off x="7818120" y="4169664"/>
            <a:ext cx="3657600" cy="402336"/>
          </a:xfrm>
          <a:prstGeom prst="rect">
            <a:avLst/>
          </a:prstGeom>
          <a:noFill/>
          <a:ln/>
        </p:spPr>
        <p:txBody>
          <a:bodyPr wrap="square" lIns="0" tIns="0" rIns="0" bIns="0" rtlCol="0" anchor="ctr">
            <a:normAutofit/>
          </a:bodyPr>
          <a:lstStyle/>
          <a:p>
            <a:pPr marL="0" indent="0">
              <a:buNone/>
            </a:pPr>
            <a:r>
              <a:rPr lang="en-US" sz="1170" dirty="0">
                <a:solidFill>
                  <a:srgbClr val="1E293B"/>
                </a:solidFill>
              </a:rPr>
              <a:t>ACL-er bygges </a:t>
            </a:r>
            <a:r>
              <a:rPr lang="en-US" sz="1170" dirty="0" err="1">
                <a:solidFill>
                  <a:srgbClr val="1E293B"/>
                </a:solidFill>
              </a:rPr>
              <a:t>fra</a:t>
            </a:r>
            <a:r>
              <a:rPr lang="en-US" sz="1170" dirty="0">
                <a:solidFill>
                  <a:srgbClr val="1E293B"/>
                </a:solidFill>
              </a:rPr>
              <a:t> </a:t>
            </a:r>
            <a:r>
              <a:rPr lang="en-US" sz="1170" dirty="0" err="1">
                <a:solidFill>
                  <a:srgbClr val="1E293B"/>
                </a:solidFill>
              </a:rPr>
              <a:t>tjenestematrise</a:t>
            </a:r>
            <a:r>
              <a:rPr lang="en-US" sz="1170" dirty="0">
                <a:solidFill>
                  <a:srgbClr val="1E293B"/>
                </a:solidFill>
              </a:rPr>
              <a:t> (excel). Bare eksplisitt definert trafikk tillates.</a:t>
            </a:r>
            <a:endParaRPr lang="en-US" sz="1170" dirty="0"/>
          </a:p>
        </p:txBody>
      </p:sp>
      <p:sp>
        <p:nvSpPr>
          <p:cNvPr id="19" name="Shape 16"/>
          <p:cNvSpPr/>
          <p:nvPr/>
        </p:nvSpPr>
        <p:spPr>
          <a:xfrm>
            <a:off x="7635240" y="4855464"/>
            <a:ext cx="3977640" cy="950976"/>
          </a:xfrm>
          <a:prstGeom prst="roundRect">
            <a:avLst>
              <a:gd name="adj" fmla="val 7692"/>
            </a:avLst>
          </a:prstGeom>
          <a:solidFill>
            <a:srgbClr val="FFFFFF"/>
          </a:solidFill>
          <a:ln w="10160">
            <a:solidFill>
              <a:srgbClr val="D8E0EA"/>
            </a:solidFill>
            <a:prstDash val="solid"/>
          </a:ln>
        </p:spPr>
        <p:txBody>
          <a:bodyPr/>
          <a:lstStyle/>
          <a:p>
            <a:endParaRPr lang="nb-NO"/>
          </a:p>
        </p:txBody>
      </p:sp>
      <p:sp>
        <p:nvSpPr>
          <p:cNvPr id="20" name="Shape 17"/>
          <p:cNvSpPr/>
          <p:nvPr/>
        </p:nvSpPr>
        <p:spPr>
          <a:xfrm>
            <a:off x="7635240" y="4855464"/>
            <a:ext cx="64008" cy="950976"/>
          </a:xfrm>
          <a:prstGeom prst="rect">
            <a:avLst/>
          </a:prstGeom>
          <a:solidFill>
            <a:srgbClr val="D97706"/>
          </a:solidFill>
          <a:ln w="12700">
            <a:solidFill>
              <a:srgbClr val="D97706"/>
            </a:solidFill>
            <a:prstDash val="solid"/>
          </a:ln>
        </p:spPr>
        <p:txBody>
          <a:bodyPr/>
          <a:lstStyle/>
          <a:p>
            <a:endParaRPr lang="nb-NO"/>
          </a:p>
        </p:txBody>
      </p:sp>
      <p:sp>
        <p:nvSpPr>
          <p:cNvPr id="21" name="Text 18"/>
          <p:cNvSpPr/>
          <p:nvPr/>
        </p:nvSpPr>
        <p:spPr>
          <a:xfrm>
            <a:off x="7818120" y="4992624"/>
            <a:ext cx="365760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Ende-til-ende separasjon</a:t>
            </a:r>
            <a:endParaRPr lang="en-US" sz="1650" dirty="0"/>
          </a:p>
        </p:txBody>
      </p:sp>
      <p:sp>
        <p:nvSpPr>
          <p:cNvPr id="22" name="Text 19"/>
          <p:cNvSpPr/>
          <p:nvPr/>
        </p:nvSpPr>
        <p:spPr>
          <a:xfrm>
            <a:off x="7818120" y="5294376"/>
            <a:ext cx="3657600" cy="402336"/>
          </a:xfrm>
          <a:prstGeom prst="rect">
            <a:avLst/>
          </a:prstGeom>
          <a:noFill/>
          <a:ln/>
        </p:spPr>
        <p:txBody>
          <a:bodyPr wrap="square" lIns="0" tIns="0" rIns="0" bIns="0" rtlCol="0" anchor="ctr">
            <a:normAutofit/>
          </a:bodyPr>
          <a:lstStyle/>
          <a:p>
            <a:pPr marL="0" indent="0">
              <a:buNone/>
            </a:pPr>
            <a:r>
              <a:rPr lang="en-US" sz="1170" dirty="0">
                <a:solidFill>
                  <a:srgbClr val="1E293B"/>
                </a:solidFill>
              </a:rPr>
              <a:t>Hver VRF får eget DMVPN-overlay, slik at segmenteringen videreføres mellom sites.</a:t>
            </a:r>
            <a:endParaRPr lang="en-US" sz="1170" dirty="0"/>
          </a:p>
        </p:txBody>
      </p:sp>
      <p:sp>
        <p:nvSpPr>
          <p:cNvPr id="25"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9" name="Shape 2">
            <a:extLst>
              <a:ext uri="{FF2B5EF4-FFF2-40B4-BE49-F238E27FC236}">
                <a16:creationId xmlns:a16="http://schemas.microsoft.com/office/drawing/2014/main" id="{8CB69B47-C5E0-1A49-DC3E-B0C881CBB935}"/>
              </a:ext>
            </a:extLst>
          </p:cNvPr>
          <p:cNvSpPr/>
          <p:nvPr/>
        </p:nvSpPr>
        <p:spPr>
          <a:xfrm>
            <a:off x="594360" y="1298448"/>
            <a:ext cx="6812280" cy="4526280"/>
          </a:xfrm>
          <a:prstGeom prst="roundRect">
            <a:avLst>
              <a:gd name="adj" fmla="val 1212"/>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dirty="0"/>
          </a:p>
        </p:txBody>
      </p:sp>
      <p:sp>
        <p:nvSpPr>
          <p:cNvPr id="41" name="Shape 7">
            <a:extLst>
              <a:ext uri="{FF2B5EF4-FFF2-40B4-BE49-F238E27FC236}">
                <a16:creationId xmlns:a16="http://schemas.microsoft.com/office/drawing/2014/main" id="{8CE9C03D-C0CB-67F8-8045-EEE6D8E11BCF}"/>
              </a:ext>
            </a:extLst>
          </p:cNvPr>
          <p:cNvSpPr/>
          <p:nvPr/>
        </p:nvSpPr>
        <p:spPr>
          <a:xfrm>
            <a:off x="5166360" y="4434840"/>
            <a:ext cx="1417320" cy="658368"/>
          </a:xfrm>
          <a:prstGeom prst="roundRect">
            <a:avLst>
              <a:gd name="adj" fmla="val 8333"/>
            </a:avLst>
          </a:prstGeom>
          <a:solidFill>
            <a:srgbClr val="EAF2FF"/>
          </a:solidFill>
          <a:ln w="16510">
            <a:solidFill>
              <a:srgbClr val="2563EB"/>
            </a:solidFill>
            <a:prstDash val="solid"/>
          </a:ln>
        </p:spPr>
        <p:txBody>
          <a:bodyPr/>
          <a:lstStyle/>
          <a:p>
            <a:endParaRPr lang="nb-NO"/>
          </a:p>
        </p:txBody>
      </p:sp>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4. Mellom sites – DMVPN Phase 3</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Hub-and-spoke i kontrollplanet, men direkte spoke-to-spoke i dataplanet når det trengs.</a:t>
            </a:r>
            <a:endParaRPr lang="en-US" sz="1250" dirty="0"/>
          </a:p>
        </p:txBody>
      </p:sp>
      <p:sp>
        <p:nvSpPr>
          <p:cNvPr id="5" name="Shape 3"/>
          <p:cNvSpPr/>
          <p:nvPr/>
        </p:nvSpPr>
        <p:spPr>
          <a:xfrm>
            <a:off x="2971800" y="1856232"/>
            <a:ext cx="2011680" cy="841248"/>
          </a:xfrm>
          <a:prstGeom prst="roundRect">
            <a:avLst>
              <a:gd name="adj" fmla="val 8696"/>
            </a:avLst>
          </a:prstGeom>
          <a:solidFill>
            <a:srgbClr val="E6F5EB"/>
          </a:solidFill>
          <a:ln w="20320">
            <a:solidFill>
              <a:srgbClr val="28A745"/>
            </a:solidFill>
            <a:prstDash val="solid"/>
          </a:ln>
        </p:spPr>
        <p:txBody>
          <a:bodyPr/>
          <a:lstStyle/>
          <a:p>
            <a:endParaRPr lang="nb-NO"/>
          </a:p>
        </p:txBody>
      </p:sp>
      <p:sp>
        <p:nvSpPr>
          <p:cNvPr id="6" name="Text 4"/>
          <p:cNvSpPr/>
          <p:nvPr/>
        </p:nvSpPr>
        <p:spPr>
          <a:xfrm>
            <a:off x="3154680" y="2048256"/>
            <a:ext cx="1645920" cy="384048"/>
          </a:xfrm>
          <a:prstGeom prst="rect">
            <a:avLst/>
          </a:prstGeom>
          <a:noFill/>
          <a:ln/>
        </p:spPr>
        <p:txBody>
          <a:bodyPr wrap="square" lIns="0" tIns="0" rIns="0" bIns="0" rtlCol="0" anchor="ctr"/>
          <a:lstStyle/>
          <a:p>
            <a:pPr marL="0" indent="0" algn="ctr">
              <a:buNone/>
            </a:pPr>
            <a:r>
              <a:rPr lang="en-US" sz="1550" b="1" dirty="0">
                <a:solidFill>
                  <a:srgbClr val="166534"/>
                </a:solidFill>
              </a:rPr>
              <a:t>BNHQ / HUB</a:t>
            </a:r>
            <a:endParaRPr lang="en-US" sz="1550" dirty="0"/>
          </a:p>
          <a:p>
            <a:pPr marL="0" indent="0" algn="ctr">
              <a:buNone/>
            </a:pPr>
            <a:r>
              <a:rPr lang="en-US" sz="1550" b="1" dirty="0">
                <a:solidFill>
                  <a:srgbClr val="166534"/>
                </a:solidFill>
              </a:rPr>
              <a:t>NHRP NHS</a:t>
            </a:r>
            <a:endParaRPr lang="en-US" sz="1550" dirty="0"/>
          </a:p>
        </p:txBody>
      </p:sp>
      <p:sp>
        <p:nvSpPr>
          <p:cNvPr id="7" name="Shape 5"/>
          <p:cNvSpPr/>
          <p:nvPr/>
        </p:nvSpPr>
        <p:spPr>
          <a:xfrm>
            <a:off x="1005840" y="4434840"/>
            <a:ext cx="1417320" cy="658368"/>
          </a:xfrm>
          <a:prstGeom prst="roundRect">
            <a:avLst>
              <a:gd name="adj" fmla="val 8333"/>
            </a:avLst>
          </a:prstGeom>
          <a:solidFill>
            <a:srgbClr val="EAF2FF"/>
          </a:solidFill>
          <a:ln w="16510">
            <a:solidFill>
              <a:srgbClr val="2563EB"/>
            </a:solidFill>
            <a:prstDash val="solid"/>
          </a:ln>
        </p:spPr>
        <p:txBody>
          <a:bodyPr/>
          <a:lstStyle/>
          <a:p>
            <a:endParaRPr lang="nb-NO"/>
          </a:p>
        </p:txBody>
      </p:sp>
      <p:sp>
        <p:nvSpPr>
          <p:cNvPr id="8" name="Text 6"/>
          <p:cNvSpPr/>
          <p:nvPr/>
        </p:nvSpPr>
        <p:spPr>
          <a:xfrm>
            <a:off x="1005840" y="4617720"/>
            <a:ext cx="1417320" cy="164592"/>
          </a:xfrm>
          <a:prstGeom prst="rect">
            <a:avLst/>
          </a:prstGeom>
          <a:noFill/>
          <a:ln/>
        </p:spPr>
        <p:txBody>
          <a:bodyPr wrap="square" lIns="0" tIns="0" rIns="0" bIns="0" rtlCol="0" anchor="ctr"/>
          <a:lstStyle/>
          <a:p>
            <a:pPr marL="0" indent="0" algn="ctr">
              <a:buNone/>
            </a:pPr>
            <a:r>
              <a:rPr lang="en-US" sz="1400" b="1" dirty="0">
                <a:solidFill>
                  <a:srgbClr val="1E40AF"/>
                </a:solidFill>
              </a:rPr>
              <a:t>SITE 2</a:t>
            </a:r>
            <a:endParaRPr lang="en-US" sz="1400" dirty="0"/>
          </a:p>
        </p:txBody>
      </p:sp>
      <p:sp>
        <p:nvSpPr>
          <p:cNvPr id="10" name="Text 8"/>
          <p:cNvSpPr/>
          <p:nvPr/>
        </p:nvSpPr>
        <p:spPr>
          <a:xfrm>
            <a:off x="5166360" y="4617720"/>
            <a:ext cx="1417320" cy="164592"/>
          </a:xfrm>
          <a:prstGeom prst="rect">
            <a:avLst/>
          </a:prstGeom>
          <a:noFill/>
          <a:ln/>
        </p:spPr>
        <p:txBody>
          <a:bodyPr wrap="square" lIns="0" tIns="0" rIns="0" bIns="0" rtlCol="0" anchor="ctr"/>
          <a:lstStyle/>
          <a:p>
            <a:pPr marL="0" indent="0" algn="ctr">
              <a:buNone/>
            </a:pPr>
            <a:r>
              <a:rPr lang="en-US" sz="1400" b="1" dirty="0">
                <a:solidFill>
                  <a:srgbClr val="1E40AF"/>
                </a:solidFill>
              </a:rPr>
              <a:t>SITE 3</a:t>
            </a:r>
            <a:endParaRPr lang="en-US" sz="1400" dirty="0"/>
          </a:p>
        </p:txBody>
      </p:sp>
      <p:sp>
        <p:nvSpPr>
          <p:cNvPr id="11" name="Shape 9"/>
          <p:cNvSpPr/>
          <p:nvPr/>
        </p:nvSpPr>
        <p:spPr>
          <a:xfrm flipV="1">
            <a:off x="1831470" y="3437321"/>
            <a:ext cx="781101" cy="906078"/>
          </a:xfrm>
          <a:prstGeom prst="line">
            <a:avLst/>
          </a:prstGeom>
          <a:noFill/>
          <a:ln w="27940">
            <a:solidFill>
              <a:srgbClr val="64748B"/>
            </a:solidFill>
            <a:prstDash val="solid"/>
            <a:headEnd type="none"/>
            <a:tailEnd type="triangle"/>
          </a:ln>
        </p:spPr>
        <p:txBody>
          <a:bodyPr/>
          <a:lstStyle/>
          <a:p>
            <a:endParaRPr lang="nb-NO"/>
          </a:p>
        </p:txBody>
      </p:sp>
      <p:sp>
        <p:nvSpPr>
          <p:cNvPr id="13" name="Text 11"/>
          <p:cNvSpPr/>
          <p:nvPr/>
        </p:nvSpPr>
        <p:spPr>
          <a:xfrm>
            <a:off x="1046988" y="3181289"/>
            <a:ext cx="3246120" cy="256032"/>
          </a:xfrm>
          <a:prstGeom prst="rect">
            <a:avLst/>
          </a:prstGeom>
          <a:noFill/>
          <a:ln/>
        </p:spPr>
        <p:txBody>
          <a:bodyPr wrap="square" lIns="0" tIns="0" rIns="0" bIns="0" rtlCol="0" anchor="ctr"/>
          <a:lstStyle/>
          <a:p>
            <a:pPr marL="0" indent="0" algn="ctr">
              <a:buNone/>
            </a:pPr>
            <a:r>
              <a:rPr lang="en-US" sz="1150" b="1" dirty="0">
                <a:solidFill>
                  <a:srgbClr val="64748B"/>
                </a:solidFill>
              </a:rPr>
              <a:t>1  Første trafikk kan gå via hub</a:t>
            </a:r>
            <a:endParaRPr lang="en-US" sz="1150" dirty="0"/>
          </a:p>
        </p:txBody>
      </p:sp>
      <p:sp>
        <p:nvSpPr>
          <p:cNvPr id="14" name="Shape 12"/>
          <p:cNvSpPr/>
          <p:nvPr/>
        </p:nvSpPr>
        <p:spPr>
          <a:xfrm>
            <a:off x="2432304" y="4754880"/>
            <a:ext cx="2724912" cy="0"/>
          </a:xfrm>
          <a:prstGeom prst="line">
            <a:avLst/>
          </a:prstGeom>
          <a:noFill/>
          <a:ln w="50800">
            <a:solidFill>
              <a:srgbClr val="28A745"/>
            </a:solidFill>
            <a:prstDash val="solid"/>
            <a:headEnd type="none"/>
            <a:tailEnd type="triangle"/>
          </a:ln>
        </p:spPr>
        <p:txBody>
          <a:bodyPr/>
          <a:lstStyle/>
          <a:p>
            <a:endParaRPr lang="nb-NO"/>
          </a:p>
        </p:txBody>
      </p:sp>
      <p:sp>
        <p:nvSpPr>
          <p:cNvPr id="15" name="Text 13"/>
          <p:cNvSpPr/>
          <p:nvPr/>
        </p:nvSpPr>
        <p:spPr>
          <a:xfrm>
            <a:off x="2011680" y="5184648"/>
            <a:ext cx="3657600" cy="256032"/>
          </a:xfrm>
          <a:prstGeom prst="rect">
            <a:avLst/>
          </a:prstGeom>
          <a:noFill/>
          <a:ln/>
        </p:spPr>
        <p:txBody>
          <a:bodyPr wrap="square" lIns="0" tIns="0" rIns="0" bIns="0" rtlCol="0" anchor="ctr"/>
          <a:lstStyle/>
          <a:p>
            <a:pPr marL="0" indent="0" algn="ctr">
              <a:buNone/>
            </a:pPr>
            <a:r>
              <a:rPr lang="en-US" sz="1150" b="1" dirty="0">
                <a:solidFill>
                  <a:srgbClr val="166534"/>
                </a:solidFill>
              </a:rPr>
              <a:t>2  NHRP redirect + shortcut → direkte dataplan</a:t>
            </a:r>
            <a:endParaRPr lang="en-US" sz="1150" dirty="0"/>
          </a:p>
        </p:txBody>
      </p:sp>
      <p:sp>
        <p:nvSpPr>
          <p:cNvPr id="16" name="Shape 14"/>
          <p:cNvSpPr/>
          <p:nvPr/>
        </p:nvSpPr>
        <p:spPr>
          <a:xfrm>
            <a:off x="2670048" y="2788920"/>
            <a:ext cx="2651760" cy="347472"/>
          </a:xfrm>
          <a:prstGeom prst="roundRect">
            <a:avLst>
              <a:gd name="adj" fmla="val 21053"/>
            </a:avLst>
          </a:prstGeom>
          <a:solidFill>
            <a:srgbClr val="EDF7EF"/>
          </a:solidFill>
          <a:ln w="12700">
            <a:solidFill>
              <a:srgbClr val="EDF7EF"/>
            </a:solidFill>
            <a:prstDash val="solid"/>
          </a:ln>
        </p:spPr>
        <p:txBody>
          <a:bodyPr/>
          <a:lstStyle/>
          <a:p>
            <a:endParaRPr lang="nb-NO"/>
          </a:p>
        </p:txBody>
      </p:sp>
      <p:sp>
        <p:nvSpPr>
          <p:cNvPr id="17" name="Text 15"/>
          <p:cNvSpPr/>
          <p:nvPr/>
        </p:nvSpPr>
        <p:spPr>
          <a:xfrm>
            <a:off x="2715768" y="2857500"/>
            <a:ext cx="2560320" cy="173736"/>
          </a:xfrm>
          <a:prstGeom prst="rect">
            <a:avLst/>
          </a:prstGeom>
          <a:noFill/>
          <a:ln/>
        </p:spPr>
        <p:txBody>
          <a:bodyPr wrap="square" lIns="0" tIns="0" rIns="0" bIns="0" rtlCol="0" anchor="ctr">
            <a:normAutofit/>
          </a:bodyPr>
          <a:lstStyle/>
          <a:p>
            <a:pPr marL="0" indent="0" algn="ctr">
              <a:buNone/>
            </a:pPr>
            <a:r>
              <a:rPr lang="en-US" sz="1080" b="1" dirty="0">
                <a:solidFill>
                  <a:srgbClr val="166534"/>
                </a:solidFill>
              </a:rPr>
              <a:t>HUB: ip nhrp redirect</a:t>
            </a:r>
            <a:endParaRPr lang="en-US" sz="1080" dirty="0"/>
          </a:p>
        </p:txBody>
      </p:sp>
      <p:sp>
        <p:nvSpPr>
          <p:cNvPr id="18" name="Shape 16"/>
          <p:cNvSpPr/>
          <p:nvPr/>
        </p:nvSpPr>
        <p:spPr>
          <a:xfrm>
            <a:off x="2834640" y="4302252"/>
            <a:ext cx="1783080" cy="347472"/>
          </a:xfrm>
          <a:prstGeom prst="roundRect">
            <a:avLst>
              <a:gd name="adj" fmla="val 21053"/>
            </a:avLst>
          </a:prstGeom>
          <a:solidFill>
            <a:srgbClr val="EAF2FF"/>
          </a:solidFill>
          <a:ln w="12700">
            <a:solidFill>
              <a:srgbClr val="EAF2FF"/>
            </a:solidFill>
            <a:prstDash val="solid"/>
          </a:ln>
        </p:spPr>
        <p:txBody>
          <a:bodyPr/>
          <a:lstStyle/>
          <a:p>
            <a:endParaRPr lang="nb-NO" dirty="0"/>
          </a:p>
        </p:txBody>
      </p:sp>
      <p:sp>
        <p:nvSpPr>
          <p:cNvPr id="19" name="Text 17"/>
          <p:cNvSpPr/>
          <p:nvPr/>
        </p:nvSpPr>
        <p:spPr>
          <a:xfrm>
            <a:off x="2880360" y="4370832"/>
            <a:ext cx="1691640" cy="173736"/>
          </a:xfrm>
          <a:prstGeom prst="rect">
            <a:avLst/>
          </a:prstGeom>
          <a:noFill/>
          <a:ln/>
        </p:spPr>
        <p:txBody>
          <a:bodyPr wrap="square" lIns="0" tIns="0" rIns="0" bIns="0" rtlCol="0" anchor="ctr">
            <a:normAutofit/>
          </a:bodyPr>
          <a:lstStyle/>
          <a:p>
            <a:pPr marL="0" indent="0" algn="ctr">
              <a:buNone/>
            </a:pPr>
            <a:r>
              <a:rPr lang="en-US" sz="1080" b="1" dirty="0">
                <a:solidFill>
                  <a:srgbClr val="1E40AF"/>
                </a:solidFill>
              </a:rPr>
              <a:t>SPOKE: shortcut</a:t>
            </a:r>
            <a:endParaRPr lang="en-US" sz="1080" dirty="0"/>
          </a:p>
        </p:txBody>
      </p:sp>
      <p:sp>
        <p:nvSpPr>
          <p:cNvPr id="20" name="Text 18"/>
          <p:cNvSpPr/>
          <p:nvPr/>
        </p:nvSpPr>
        <p:spPr>
          <a:xfrm>
            <a:off x="7754112" y="1325880"/>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HVORFOR FASE 3?</a:t>
            </a:r>
            <a:endParaRPr lang="en-US" sz="950" dirty="0"/>
          </a:p>
        </p:txBody>
      </p:sp>
      <p:sp>
        <p:nvSpPr>
          <p:cNvPr id="21" name="Shape 19"/>
          <p:cNvSpPr/>
          <p:nvPr/>
        </p:nvSpPr>
        <p:spPr>
          <a:xfrm>
            <a:off x="7726680" y="1627632"/>
            <a:ext cx="3822192" cy="960120"/>
          </a:xfrm>
          <a:prstGeom prst="roundRect">
            <a:avLst>
              <a:gd name="adj" fmla="val 7619"/>
            </a:avLst>
          </a:prstGeom>
          <a:solidFill>
            <a:srgbClr val="FFFFFF"/>
          </a:solidFill>
          <a:ln w="10160">
            <a:solidFill>
              <a:srgbClr val="D8E0EA"/>
            </a:solidFill>
            <a:prstDash val="solid"/>
          </a:ln>
        </p:spPr>
        <p:txBody>
          <a:bodyPr/>
          <a:lstStyle/>
          <a:p>
            <a:endParaRPr lang="nb-NO"/>
          </a:p>
        </p:txBody>
      </p:sp>
      <p:sp>
        <p:nvSpPr>
          <p:cNvPr id="22" name="Shape 20"/>
          <p:cNvSpPr/>
          <p:nvPr/>
        </p:nvSpPr>
        <p:spPr>
          <a:xfrm>
            <a:off x="7726680" y="1627632"/>
            <a:ext cx="64008" cy="960120"/>
          </a:xfrm>
          <a:prstGeom prst="rect">
            <a:avLst/>
          </a:prstGeom>
          <a:solidFill>
            <a:srgbClr val="28A745"/>
          </a:solidFill>
          <a:ln w="12700">
            <a:solidFill>
              <a:srgbClr val="28A745"/>
            </a:solidFill>
            <a:prstDash val="solid"/>
          </a:ln>
        </p:spPr>
        <p:txBody>
          <a:bodyPr/>
          <a:lstStyle/>
          <a:p>
            <a:endParaRPr lang="nb-NO"/>
          </a:p>
        </p:txBody>
      </p:sp>
      <p:sp>
        <p:nvSpPr>
          <p:cNvPr id="23" name="Text 21"/>
          <p:cNvSpPr/>
          <p:nvPr/>
        </p:nvSpPr>
        <p:spPr>
          <a:xfrm>
            <a:off x="7909560" y="1764792"/>
            <a:ext cx="3502152"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Skalerbar routing</a:t>
            </a:r>
            <a:endParaRPr lang="en-US" sz="1650" dirty="0"/>
          </a:p>
        </p:txBody>
      </p:sp>
      <p:sp>
        <p:nvSpPr>
          <p:cNvPr id="24" name="Text 22"/>
          <p:cNvSpPr/>
          <p:nvPr/>
        </p:nvSpPr>
        <p:spPr>
          <a:xfrm>
            <a:off x="7909560" y="2066544"/>
            <a:ext cx="3502152" cy="411480"/>
          </a:xfrm>
          <a:prstGeom prst="rect">
            <a:avLst/>
          </a:prstGeom>
          <a:noFill/>
          <a:ln/>
        </p:spPr>
        <p:txBody>
          <a:bodyPr wrap="square" lIns="0" tIns="0" rIns="0" bIns="0" rtlCol="0" anchor="ctr">
            <a:normAutofit/>
          </a:bodyPr>
          <a:lstStyle/>
          <a:p>
            <a:pPr marL="0" indent="0">
              <a:buNone/>
            </a:pPr>
            <a:r>
              <a:rPr lang="en-US" sz="1160" dirty="0">
                <a:solidFill>
                  <a:srgbClr val="1E293B"/>
                </a:solidFill>
              </a:rPr>
              <a:t>Spokes kan route mot huben; NHRP finner en bedre direkte vei ved behov.</a:t>
            </a:r>
            <a:endParaRPr lang="en-US" sz="1160" dirty="0"/>
          </a:p>
        </p:txBody>
      </p:sp>
      <p:sp>
        <p:nvSpPr>
          <p:cNvPr id="25" name="Shape 23"/>
          <p:cNvSpPr/>
          <p:nvPr/>
        </p:nvSpPr>
        <p:spPr>
          <a:xfrm>
            <a:off x="7726680" y="2761488"/>
            <a:ext cx="3822192" cy="960120"/>
          </a:xfrm>
          <a:prstGeom prst="roundRect">
            <a:avLst>
              <a:gd name="adj" fmla="val 7619"/>
            </a:avLst>
          </a:prstGeom>
          <a:solidFill>
            <a:srgbClr val="FFFFFF"/>
          </a:solidFill>
          <a:ln w="10160">
            <a:solidFill>
              <a:srgbClr val="D8E0EA"/>
            </a:solidFill>
            <a:prstDash val="solid"/>
          </a:ln>
        </p:spPr>
        <p:txBody>
          <a:bodyPr/>
          <a:lstStyle/>
          <a:p>
            <a:endParaRPr lang="nb-NO"/>
          </a:p>
        </p:txBody>
      </p:sp>
      <p:sp>
        <p:nvSpPr>
          <p:cNvPr id="26" name="Shape 24"/>
          <p:cNvSpPr/>
          <p:nvPr/>
        </p:nvSpPr>
        <p:spPr>
          <a:xfrm>
            <a:off x="7726680" y="2761488"/>
            <a:ext cx="64008" cy="960120"/>
          </a:xfrm>
          <a:prstGeom prst="rect">
            <a:avLst/>
          </a:prstGeom>
          <a:solidFill>
            <a:srgbClr val="2563EB"/>
          </a:solidFill>
          <a:ln w="12700">
            <a:solidFill>
              <a:srgbClr val="2563EB"/>
            </a:solidFill>
            <a:prstDash val="solid"/>
          </a:ln>
        </p:spPr>
        <p:txBody>
          <a:bodyPr/>
          <a:lstStyle/>
          <a:p>
            <a:endParaRPr lang="nb-NO"/>
          </a:p>
        </p:txBody>
      </p:sp>
      <p:sp>
        <p:nvSpPr>
          <p:cNvPr id="27" name="Text 25"/>
          <p:cNvSpPr/>
          <p:nvPr/>
        </p:nvSpPr>
        <p:spPr>
          <a:xfrm>
            <a:off x="7909560" y="2898648"/>
            <a:ext cx="3502152"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Mindre flaskehals</a:t>
            </a:r>
            <a:endParaRPr lang="en-US" sz="1650" dirty="0"/>
          </a:p>
        </p:txBody>
      </p:sp>
      <p:sp>
        <p:nvSpPr>
          <p:cNvPr id="28" name="Text 26"/>
          <p:cNvSpPr/>
          <p:nvPr/>
        </p:nvSpPr>
        <p:spPr>
          <a:xfrm>
            <a:off x="7909560" y="3200400"/>
            <a:ext cx="3502152" cy="411480"/>
          </a:xfrm>
          <a:prstGeom prst="rect">
            <a:avLst/>
          </a:prstGeom>
          <a:noFill/>
          <a:ln/>
        </p:spPr>
        <p:txBody>
          <a:bodyPr wrap="square" lIns="0" tIns="0" rIns="0" bIns="0" rtlCol="0" anchor="ctr">
            <a:normAutofit/>
          </a:bodyPr>
          <a:lstStyle/>
          <a:p>
            <a:pPr marL="0" indent="0">
              <a:buNone/>
            </a:pPr>
            <a:r>
              <a:rPr lang="en-US" sz="1160" dirty="0">
                <a:solidFill>
                  <a:srgbClr val="1E293B"/>
                </a:solidFill>
              </a:rPr>
              <a:t>Direkte spoke-to-spoke reduserer unødvendig belastning på BNHQ og WAN-lenkene.</a:t>
            </a:r>
            <a:endParaRPr lang="en-US" sz="1160" dirty="0"/>
          </a:p>
        </p:txBody>
      </p:sp>
      <p:sp>
        <p:nvSpPr>
          <p:cNvPr id="29" name="Shape 27"/>
          <p:cNvSpPr/>
          <p:nvPr/>
        </p:nvSpPr>
        <p:spPr>
          <a:xfrm>
            <a:off x="7726680" y="3895344"/>
            <a:ext cx="3822192" cy="960120"/>
          </a:xfrm>
          <a:prstGeom prst="roundRect">
            <a:avLst>
              <a:gd name="adj" fmla="val 7619"/>
            </a:avLst>
          </a:prstGeom>
          <a:solidFill>
            <a:srgbClr val="FFFFFF"/>
          </a:solidFill>
          <a:ln w="10160">
            <a:solidFill>
              <a:srgbClr val="D8E0EA"/>
            </a:solidFill>
            <a:prstDash val="solid"/>
          </a:ln>
        </p:spPr>
        <p:txBody>
          <a:bodyPr/>
          <a:lstStyle/>
          <a:p>
            <a:endParaRPr lang="nb-NO"/>
          </a:p>
        </p:txBody>
      </p:sp>
      <p:sp>
        <p:nvSpPr>
          <p:cNvPr id="30" name="Shape 28"/>
          <p:cNvSpPr/>
          <p:nvPr/>
        </p:nvSpPr>
        <p:spPr>
          <a:xfrm>
            <a:off x="7726680" y="3895344"/>
            <a:ext cx="64008" cy="960120"/>
          </a:xfrm>
          <a:prstGeom prst="rect">
            <a:avLst/>
          </a:prstGeom>
          <a:solidFill>
            <a:srgbClr val="7C3AED"/>
          </a:solidFill>
          <a:ln w="12700">
            <a:solidFill>
              <a:srgbClr val="7C3AED"/>
            </a:solidFill>
            <a:prstDash val="solid"/>
          </a:ln>
        </p:spPr>
        <p:txBody>
          <a:bodyPr/>
          <a:lstStyle/>
          <a:p>
            <a:endParaRPr lang="nb-NO"/>
          </a:p>
        </p:txBody>
      </p:sp>
      <p:sp>
        <p:nvSpPr>
          <p:cNvPr id="31" name="Text 29"/>
          <p:cNvSpPr/>
          <p:nvPr/>
        </p:nvSpPr>
        <p:spPr>
          <a:xfrm>
            <a:off x="7909560" y="4032504"/>
            <a:ext cx="3502152"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Dynamisk routing</a:t>
            </a:r>
            <a:endParaRPr lang="en-US" sz="1650" dirty="0"/>
          </a:p>
        </p:txBody>
      </p:sp>
      <p:sp>
        <p:nvSpPr>
          <p:cNvPr id="32" name="Text 30"/>
          <p:cNvSpPr/>
          <p:nvPr/>
        </p:nvSpPr>
        <p:spPr>
          <a:xfrm>
            <a:off x="7909560" y="4334256"/>
            <a:ext cx="3502152" cy="411480"/>
          </a:xfrm>
          <a:prstGeom prst="rect">
            <a:avLst/>
          </a:prstGeom>
          <a:noFill/>
          <a:ln/>
        </p:spPr>
        <p:txBody>
          <a:bodyPr wrap="square" lIns="0" tIns="0" rIns="0" bIns="0" rtlCol="0" anchor="ctr">
            <a:normAutofit/>
          </a:bodyPr>
          <a:lstStyle/>
          <a:p>
            <a:pPr marL="0" indent="0">
              <a:buNone/>
            </a:pPr>
            <a:r>
              <a:rPr lang="en-US" sz="1160" dirty="0">
                <a:solidFill>
                  <a:srgbClr val="1E293B"/>
                </a:solidFill>
              </a:rPr>
              <a:t>EIGRP distribuerer rutene, mens NHRP håndterer mapping mellom tunnel- og underlay-adresser.</a:t>
            </a:r>
            <a:endParaRPr lang="en-US" sz="1160" dirty="0"/>
          </a:p>
        </p:txBody>
      </p:sp>
      <p:sp>
        <p:nvSpPr>
          <p:cNvPr id="33" name="Shape 31"/>
          <p:cNvSpPr/>
          <p:nvPr/>
        </p:nvSpPr>
        <p:spPr>
          <a:xfrm>
            <a:off x="7726680" y="5029200"/>
            <a:ext cx="3822192" cy="960120"/>
          </a:xfrm>
          <a:prstGeom prst="roundRect">
            <a:avLst>
              <a:gd name="adj" fmla="val 7619"/>
            </a:avLst>
          </a:prstGeom>
          <a:solidFill>
            <a:srgbClr val="FFFFFF"/>
          </a:solidFill>
          <a:ln w="10160">
            <a:solidFill>
              <a:srgbClr val="D8E0EA"/>
            </a:solidFill>
            <a:prstDash val="solid"/>
          </a:ln>
        </p:spPr>
        <p:txBody>
          <a:bodyPr/>
          <a:lstStyle/>
          <a:p>
            <a:endParaRPr lang="nb-NO"/>
          </a:p>
        </p:txBody>
      </p:sp>
      <p:sp>
        <p:nvSpPr>
          <p:cNvPr id="34" name="Shape 32"/>
          <p:cNvSpPr/>
          <p:nvPr/>
        </p:nvSpPr>
        <p:spPr>
          <a:xfrm>
            <a:off x="7726680" y="5029200"/>
            <a:ext cx="64008" cy="960120"/>
          </a:xfrm>
          <a:prstGeom prst="rect">
            <a:avLst/>
          </a:prstGeom>
          <a:solidFill>
            <a:srgbClr val="D97706"/>
          </a:solidFill>
          <a:ln w="12700">
            <a:solidFill>
              <a:srgbClr val="D97706"/>
            </a:solidFill>
            <a:prstDash val="solid"/>
          </a:ln>
        </p:spPr>
        <p:txBody>
          <a:bodyPr/>
          <a:lstStyle/>
          <a:p>
            <a:endParaRPr lang="nb-NO"/>
          </a:p>
        </p:txBody>
      </p:sp>
      <p:sp>
        <p:nvSpPr>
          <p:cNvPr id="35" name="Text 33"/>
          <p:cNvSpPr/>
          <p:nvPr/>
        </p:nvSpPr>
        <p:spPr>
          <a:xfrm>
            <a:off x="7909560" y="5166360"/>
            <a:ext cx="3502152"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Ingen tunnel-fullmesh</a:t>
            </a:r>
            <a:endParaRPr lang="en-US" sz="1650" dirty="0"/>
          </a:p>
        </p:txBody>
      </p:sp>
      <p:sp>
        <p:nvSpPr>
          <p:cNvPr id="36" name="Text 34"/>
          <p:cNvSpPr/>
          <p:nvPr/>
        </p:nvSpPr>
        <p:spPr>
          <a:xfrm>
            <a:off x="7909560" y="5468112"/>
            <a:ext cx="3502152" cy="411480"/>
          </a:xfrm>
          <a:prstGeom prst="rect">
            <a:avLst/>
          </a:prstGeom>
          <a:noFill/>
          <a:ln/>
        </p:spPr>
        <p:txBody>
          <a:bodyPr wrap="square" lIns="0" tIns="0" rIns="0" bIns="0" rtlCol="0" anchor="ctr">
            <a:normAutofit/>
          </a:bodyPr>
          <a:lstStyle/>
          <a:p>
            <a:pPr marL="0" indent="0">
              <a:buNone/>
            </a:pPr>
            <a:r>
              <a:rPr lang="en-US" sz="1160" dirty="0">
                <a:solidFill>
                  <a:srgbClr val="1E293B"/>
                </a:solidFill>
              </a:rPr>
              <a:t>Nye sites krever ikke separate punkt-til-punkt-tunneler til alle eksisterende sites.</a:t>
            </a:r>
            <a:endParaRPr lang="en-US" sz="1160" dirty="0"/>
          </a:p>
        </p:txBody>
      </p:sp>
      <p:sp>
        <p:nvSpPr>
          <p:cNvPr id="37"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5. Sikkerhet – flere lag, ikke ett enkelt tiltak</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Tiltakene er valgt for å redusere både lokale Layer 2-angrep og risiko ved administrasjon og transport.</a:t>
            </a:r>
            <a:endParaRPr lang="en-US" sz="1250" dirty="0"/>
          </a:p>
        </p:txBody>
      </p:sp>
      <p:sp>
        <p:nvSpPr>
          <p:cNvPr id="4" name="Shape 2"/>
          <p:cNvSpPr/>
          <p:nvPr/>
        </p:nvSpPr>
        <p:spPr>
          <a:xfrm>
            <a:off x="612648" y="1371600"/>
            <a:ext cx="3090672" cy="4526280"/>
          </a:xfrm>
          <a:prstGeom prst="roundRect">
            <a:avLst>
              <a:gd name="adj" fmla="val 1775"/>
            </a:avLst>
          </a:prstGeom>
          <a:solidFill>
            <a:srgbClr val="EAF2FF"/>
          </a:solidFill>
          <a:ln w="13970">
            <a:solidFill>
              <a:srgbClr val="2563EB"/>
            </a:solidFill>
            <a:prstDash val="solid"/>
          </a:ln>
        </p:spPr>
        <p:txBody>
          <a:bodyPr/>
          <a:lstStyle/>
          <a:p>
            <a:endParaRPr lang="nb-NO"/>
          </a:p>
        </p:txBody>
      </p:sp>
      <p:sp>
        <p:nvSpPr>
          <p:cNvPr id="5" name="Text 3"/>
          <p:cNvSpPr/>
          <p:nvPr/>
        </p:nvSpPr>
        <p:spPr>
          <a:xfrm>
            <a:off x="813816" y="1600200"/>
            <a:ext cx="2688336" cy="256032"/>
          </a:xfrm>
          <a:prstGeom prst="rect">
            <a:avLst/>
          </a:prstGeom>
          <a:noFill/>
          <a:ln/>
        </p:spPr>
        <p:txBody>
          <a:bodyPr wrap="square" lIns="0" tIns="0" rIns="0" bIns="0" rtlCol="0" anchor="ctr">
            <a:normAutofit/>
          </a:bodyPr>
          <a:lstStyle/>
          <a:p>
            <a:pPr marL="0" indent="0" algn="ctr">
              <a:buNone/>
            </a:pPr>
            <a:r>
              <a:rPr lang="en-US" sz="1750" b="1" dirty="0">
                <a:solidFill>
                  <a:srgbClr val="0F172A"/>
                </a:solidFill>
              </a:rPr>
              <a:t>Aksesslaget</a:t>
            </a:r>
            <a:endParaRPr lang="en-US" sz="1750" dirty="0"/>
          </a:p>
        </p:txBody>
      </p:sp>
      <p:sp>
        <p:nvSpPr>
          <p:cNvPr id="6" name="Text 4"/>
          <p:cNvSpPr/>
          <p:nvPr/>
        </p:nvSpPr>
        <p:spPr>
          <a:xfrm>
            <a:off x="813816" y="1920240"/>
            <a:ext cx="2688336" cy="274320"/>
          </a:xfrm>
          <a:prstGeom prst="rect">
            <a:avLst/>
          </a:prstGeom>
          <a:noFill/>
          <a:ln/>
        </p:spPr>
        <p:txBody>
          <a:bodyPr wrap="square" lIns="0" tIns="0" rIns="0" bIns="0" rtlCol="0" anchor="ctr">
            <a:normAutofit/>
          </a:bodyPr>
          <a:lstStyle/>
          <a:p>
            <a:pPr marL="0" indent="0" algn="ctr">
              <a:buNone/>
            </a:pPr>
            <a:r>
              <a:rPr lang="en-US" sz="1030" dirty="0">
                <a:solidFill>
                  <a:srgbClr val="64748B"/>
                </a:solidFill>
              </a:rPr>
              <a:t>Beskytt klientporter</a:t>
            </a:r>
            <a:endParaRPr lang="en-US" sz="1030" dirty="0"/>
          </a:p>
        </p:txBody>
      </p:sp>
      <p:sp>
        <p:nvSpPr>
          <p:cNvPr id="7" name="Shape 5"/>
          <p:cNvSpPr/>
          <p:nvPr/>
        </p:nvSpPr>
        <p:spPr>
          <a:xfrm>
            <a:off x="4096512" y="1371600"/>
            <a:ext cx="3090672" cy="4526280"/>
          </a:xfrm>
          <a:prstGeom prst="roundRect">
            <a:avLst>
              <a:gd name="adj" fmla="val 1775"/>
            </a:avLst>
          </a:prstGeom>
          <a:solidFill>
            <a:srgbClr val="FFF4E5"/>
          </a:solidFill>
          <a:ln w="13970">
            <a:solidFill>
              <a:srgbClr val="D97706"/>
            </a:solidFill>
            <a:prstDash val="solid"/>
          </a:ln>
        </p:spPr>
        <p:txBody>
          <a:bodyPr/>
          <a:lstStyle/>
          <a:p>
            <a:endParaRPr lang="nb-NO"/>
          </a:p>
        </p:txBody>
      </p:sp>
      <p:sp>
        <p:nvSpPr>
          <p:cNvPr id="8" name="Text 6"/>
          <p:cNvSpPr/>
          <p:nvPr/>
        </p:nvSpPr>
        <p:spPr>
          <a:xfrm>
            <a:off x="4297680" y="1600200"/>
            <a:ext cx="2688336" cy="256032"/>
          </a:xfrm>
          <a:prstGeom prst="rect">
            <a:avLst/>
          </a:prstGeom>
          <a:noFill/>
          <a:ln/>
        </p:spPr>
        <p:txBody>
          <a:bodyPr wrap="square" lIns="0" tIns="0" rIns="0" bIns="0" rtlCol="0" anchor="ctr">
            <a:normAutofit/>
          </a:bodyPr>
          <a:lstStyle/>
          <a:p>
            <a:pPr marL="0" indent="0" algn="ctr">
              <a:buNone/>
            </a:pPr>
            <a:r>
              <a:rPr lang="en-US" sz="1750" b="1" dirty="0">
                <a:solidFill>
                  <a:srgbClr val="0F172A"/>
                </a:solidFill>
              </a:rPr>
              <a:t>STP og fysisk tilgang</a:t>
            </a:r>
            <a:endParaRPr lang="en-US" sz="1750" dirty="0"/>
          </a:p>
        </p:txBody>
      </p:sp>
      <p:sp>
        <p:nvSpPr>
          <p:cNvPr id="9" name="Text 7"/>
          <p:cNvSpPr/>
          <p:nvPr/>
        </p:nvSpPr>
        <p:spPr>
          <a:xfrm>
            <a:off x="4297680" y="1920240"/>
            <a:ext cx="2688336" cy="274320"/>
          </a:xfrm>
          <a:prstGeom prst="rect">
            <a:avLst/>
          </a:prstGeom>
          <a:noFill/>
          <a:ln/>
        </p:spPr>
        <p:txBody>
          <a:bodyPr wrap="square" lIns="0" tIns="0" rIns="0" bIns="0" rtlCol="0" anchor="ctr">
            <a:normAutofit/>
          </a:bodyPr>
          <a:lstStyle/>
          <a:p>
            <a:pPr marL="0" indent="0" algn="ctr">
              <a:buNone/>
            </a:pPr>
            <a:r>
              <a:rPr lang="en-US" sz="1030" dirty="0">
                <a:solidFill>
                  <a:srgbClr val="64748B"/>
                </a:solidFill>
              </a:rPr>
              <a:t>Begrens feil og uautorisert utstyr</a:t>
            </a:r>
            <a:endParaRPr lang="en-US" sz="1030" dirty="0"/>
          </a:p>
        </p:txBody>
      </p:sp>
      <p:sp>
        <p:nvSpPr>
          <p:cNvPr id="10" name="Shape 8"/>
          <p:cNvSpPr/>
          <p:nvPr/>
        </p:nvSpPr>
        <p:spPr>
          <a:xfrm>
            <a:off x="7580376" y="1371600"/>
            <a:ext cx="3090672" cy="4526280"/>
          </a:xfrm>
          <a:prstGeom prst="roundRect">
            <a:avLst>
              <a:gd name="adj" fmla="val 1775"/>
            </a:avLst>
          </a:prstGeom>
          <a:solidFill>
            <a:srgbClr val="EAF7EE"/>
          </a:solidFill>
          <a:ln w="13970">
            <a:solidFill>
              <a:srgbClr val="28A745"/>
            </a:solidFill>
            <a:prstDash val="solid"/>
          </a:ln>
        </p:spPr>
        <p:txBody>
          <a:bodyPr/>
          <a:lstStyle/>
          <a:p>
            <a:endParaRPr lang="nb-NO"/>
          </a:p>
        </p:txBody>
      </p:sp>
      <p:sp>
        <p:nvSpPr>
          <p:cNvPr id="11" name="Text 9"/>
          <p:cNvSpPr/>
          <p:nvPr/>
        </p:nvSpPr>
        <p:spPr>
          <a:xfrm>
            <a:off x="7781544" y="1600200"/>
            <a:ext cx="2688336" cy="256032"/>
          </a:xfrm>
          <a:prstGeom prst="rect">
            <a:avLst/>
          </a:prstGeom>
          <a:noFill/>
          <a:ln/>
        </p:spPr>
        <p:txBody>
          <a:bodyPr wrap="square" lIns="0" tIns="0" rIns="0" bIns="0" rtlCol="0" anchor="ctr">
            <a:normAutofit/>
          </a:bodyPr>
          <a:lstStyle/>
          <a:p>
            <a:pPr marL="0" indent="0" algn="ctr">
              <a:buNone/>
            </a:pPr>
            <a:r>
              <a:rPr lang="en-US" sz="1750" b="1" dirty="0">
                <a:solidFill>
                  <a:srgbClr val="0F172A"/>
                </a:solidFill>
              </a:rPr>
              <a:t>Management og transport</a:t>
            </a:r>
            <a:endParaRPr lang="en-US" sz="1750" dirty="0"/>
          </a:p>
        </p:txBody>
      </p:sp>
      <p:sp>
        <p:nvSpPr>
          <p:cNvPr id="12" name="Text 10"/>
          <p:cNvSpPr/>
          <p:nvPr/>
        </p:nvSpPr>
        <p:spPr>
          <a:xfrm>
            <a:off x="7781544" y="1920240"/>
            <a:ext cx="2688336" cy="274320"/>
          </a:xfrm>
          <a:prstGeom prst="rect">
            <a:avLst/>
          </a:prstGeom>
          <a:noFill/>
          <a:ln/>
        </p:spPr>
        <p:txBody>
          <a:bodyPr wrap="square" lIns="0" tIns="0" rIns="0" bIns="0" rtlCol="0" anchor="ctr">
            <a:normAutofit/>
          </a:bodyPr>
          <a:lstStyle/>
          <a:p>
            <a:pPr marL="0" indent="0" algn="ctr">
              <a:buNone/>
            </a:pPr>
            <a:r>
              <a:rPr lang="en-US" sz="1030" dirty="0">
                <a:solidFill>
                  <a:srgbClr val="64748B"/>
                </a:solidFill>
              </a:rPr>
              <a:t>Beskytt administrasjon og WAN</a:t>
            </a:r>
            <a:endParaRPr lang="en-US" sz="1030" dirty="0"/>
          </a:p>
        </p:txBody>
      </p:sp>
      <p:sp>
        <p:nvSpPr>
          <p:cNvPr id="13" name="Shape 11"/>
          <p:cNvSpPr/>
          <p:nvPr/>
        </p:nvSpPr>
        <p:spPr>
          <a:xfrm>
            <a:off x="877824" y="2404872"/>
            <a:ext cx="2542032" cy="603504"/>
          </a:xfrm>
          <a:prstGeom prst="roundRect">
            <a:avLst>
              <a:gd name="adj" fmla="val 5303"/>
            </a:avLst>
          </a:prstGeom>
          <a:solidFill>
            <a:srgbClr val="FFFFFF"/>
          </a:solidFill>
          <a:ln w="10160">
            <a:solidFill>
              <a:srgbClr val="BDD2EE"/>
            </a:solidFill>
            <a:prstDash val="solid"/>
          </a:ln>
        </p:spPr>
        <p:txBody>
          <a:bodyPr/>
          <a:lstStyle/>
          <a:p>
            <a:endParaRPr lang="nb-NO"/>
          </a:p>
        </p:txBody>
      </p:sp>
      <p:sp>
        <p:nvSpPr>
          <p:cNvPr id="14" name="Text 12"/>
          <p:cNvSpPr/>
          <p:nvPr/>
        </p:nvSpPr>
        <p:spPr>
          <a:xfrm>
            <a:off x="1005840" y="2478024"/>
            <a:ext cx="2267712" cy="146304"/>
          </a:xfrm>
          <a:prstGeom prst="rect">
            <a:avLst/>
          </a:prstGeom>
          <a:noFill/>
          <a:ln/>
        </p:spPr>
        <p:txBody>
          <a:bodyPr wrap="square" lIns="0" tIns="0" rIns="0" bIns="0" rtlCol="0" anchor="ctr">
            <a:normAutofit/>
          </a:bodyPr>
          <a:lstStyle/>
          <a:p>
            <a:pPr marL="0" indent="0">
              <a:buNone/>
            </a:pPr>
            <a:r>
              <a:rPr lang="en-US" sz="1070" b="1" dirty="0">
                <a:solidFill>
                  <a:srgbClr val="1E40AF"/>
                </a:solidFill>
              </a:rPr>
              <a:t>DHCP Snooping</a:t>
            </a:r>
            <a:endParaRPr lang="en-US" sz="1070" dirty="0"/>
          </a:p>
        </p:txBody>
      </p:sp>
      <p:sp>
        <p:nvSpPr>
          <p:cNvPr id="15" name="Text 13"/>
          <p:cNvSpPr/>
          <p:nvPr/>
        </p:nvSpPr>
        <p:spPr>
          <a:xfrm>
            <a:off x="1005840" y="2670048"/>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Stopper falske DHCP-servere og bygger bindingtabell</a:t>
            </a:r>
            <a:endParaRPr lang="en-US" sz="835" dirty="0"/>
          </a:p>
        </p:txBody>
      </p:sp>
      <p:sp>
        <p:nvSpPr>
          <p:cNvPr id="16" name="Shape 14"/>
          <p:cNvSpPr/>
          <p:nvPr/>
        </p:nvSpPr>
        <p:spPr>
          <a:xfrm>
            <a:off x="877824" y="3108960"/>
            <a:ext cx="2542032" cy="603504"/>
          </a:xfrm>
          <a:prstGeom prst="roundRect">
            <a:avLst>
              <a:gd name="adj" fmla="val 5303"/>
            </a:avLst>
          </a:prstGeom>
          <a:solidFill>
            <a:srgbClr val="FFFFFF"/>
          </a:solidFill>
          <a:ln w="10160">
            <a:solidFill>
              <a:srgbClr val="BDD2EE"/>
            </a:solidFill>
            <a:prstDash val="solid"/>
          </a:ln>
        </p:spPr>
        <p:txBody>
          <a:bodyPr/>
          <a:lstStyle/>
          <a:p>
            <a:endParaRPr lang="nb-NO"/>
          </a:p>
        </p:txBody>
      </p:sp>
      <p:sp>
        <p:nvSpPr>
          <p:cNvPr id="17" name="Text 15"/>
          <p:cNvSpPr/>
          <p:nvPr/>
        </p:nvSpPr>
        <p:spPr>
          <a:xfrm>
            <a:off x="1005840" y="3182112"/>
            <a:ext cx="2267712" cy="146304"/>
          </a:xfrm>
          <a:prstGeom prst="rect">
            <a:avLst/>
          </a:prstGeom>
          <a:noFill/>
          <a:ln/>
        </p:spPr>
        <p:txBody>
          <a:bodyPr wrap="square" lIns="0" tIns="0" rIns="0" bIns="0" rtlCol="0" anchor="ctr">
            <a:normAutofit/>
          </a:bodyPr>
          <a:lstStyle/>
          <a:p>
            <a:pPr marL="0" indent="0">
              <a:buNone/>
            </a:pPr>
            <a:r>
              <a:rPr lang="en-US" sz="1070" b="1" dirty="0">
                <a:solidFill>
                  <a:srgbClr val="1E40AF"/>
                </a:solidFill>
              </a:rPr>
              <a:t>DAI</a:t>
            </a:r>
            <a:endParaRPr lang="en-US" sz="1070" dirty="0"/>
          </a:p>
        </p:txBody>
      </p:sp>
      <p:sp>
        <p:nvSpPr>
          <p:cNvPr id="18" name="Text 16"/>
          <p:cNvSpPr/>
          <p:nvPr/>
        </p:nvSpPr>
        <p:spPr>
          <a:xfrm>
            <a:off x="1005840" y="3374136"/>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Validerer ARP mot IP–MAC-bindinger</a:t>
            </a:r>
            <a:endParaRPr lang="en-US" sz="835" dirty="0"/>
          </a:p>
        </p:txBody>
      </p:sp>
      <p:sp>
        <p:nvSpPr>
          <p:cNvPr id="19" name="Shape 17"/>
          <p:cNvSpPr/>
          <p:nvPr/>
        </p:nvSpPr>
        <p:spPr>
          <a:xfrm>
            <a:off x="877824" y="3813048"/>
            <a:ext cx="2542032" cy="603504"/>
          </a:xfrm>
          <a:prstGeom prst="roundRect">
            <a:avLst>
              <a:gd name="adj" fmla="val 5303"/>
            </a:avLst>
          </a:prstGeom>
          <a:solidFill>
            <a:srgbClr val="FFFFFF"/>
          </a:solidFill>
          <a:ln w="10160">
            <a:solidFill>
              <a:srgbClr val="BDD2EE"/>
            </a:solidFill>
            <a:prstDash val="solid"/>
          </a:ln>
        </p:spPr>
        <p:txBody>
          <a:bodyPr/>
          <a:lstStyle/>
          <a:p>
            <a:endParaRPr lang="nb-NO"/>
          </a:p>
        </p:txBody>
      </p:sp>
      <p:sp>
        <p:nvSpPr>
          <p:cNvPr id="20" name="Text 18"/>
          <p:cNvSpPr/>
          <p:nvPr/>
        </p:nvSpPr>
        <p:spPr>
          <a:xfrm>
            <a:off x="1005840" y="3886200"/>
            <a:ext cx="2267712" cy="146304"/>
          </a:xfrm>
          <a:prstGeom prst="rect">
            <a:avLst/>
          </a:prstGeom>
          <a:noFill/>
          <a:ln/>
        </p:spPr>
        <p:txBody>
          <a:bodyPr wrap="square" lIns="0" tIns="0" rIns="0" bIns="0" rtlCol="0" anchor="ctr">
            <a:normAutofit/>
          </a:bodyPr>
          <a:lstStyle/>
          <a:p>
            <a:pPr marL="0" indent="0">
              <a:buNone/>
            </a:pPr>
            <a:r>
              <a:rPr lang="en-US" sz="1070" b="1" dirty="0">
                <a:solidFill>
                  <a:srgbClr val="1E40AF"/>
                </a:solidFill>
              </a:rPr>
              <a:t>IP Source Guard</a:t>
            </a:r>
            <a:endParaRPr lang="en-US" sz="1070" dirty="0"/>
          </a:p>
        </p:txBody>
      </p:sp>
      <p:sp>
        <p:nvSpPr>
          <p:cNvPr id="21" name="Text 19"/>
          <p:cNvSpPr/>
          <p:nvPr/>
        </p:nvSpPr>
        <p:spPr>
          <a:xfrm>
            <a:off x="1005840" y="4078224"/>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Sjekker gyldig source-IP på porten</a:t>
            </a:r>
            <a:endParaRPr lang="en-US" sz="835" dirty="0"/>
          </a:p>
        </p:txBody>
      </p:sp>
      <p:sp>
        <p:nvSpPr>
          <p:cNvPr id="22" name="Shape 20"/>
          <p:cNvSpPr/>
          <p:nvPr/>
        </p:nvSpPr>
        <p:spPr>
          <a:xfrm>
            <a:off x="877824" y="4517136"/>
            <a:ext cx="2542032" cy="603504"/>
          </a:xfrm>
          <a:prstGeom prst="roundRect">
            <a:avLst>
              <a:gd name="adj" fmla="val 5303"/>
            </a:avLst>
          </a:prstGeom>
          <a:solidFill>
            <a:srgbClr val="FFFFFF"/>
          </a:solidFill>
          <a:ln w="10160">
            <a:solidFill>
              <a:srgbClr val="BDD2EE"/>
            </a:solidFill>
            <a:prstDash val="solid"/>
          </a:ln>
        </p:spPr>
        <p:txBody>
          <a:bodyPr/>
          <a:lstStyle/>
          <a:p>
            <a:endParaRPr lang="nb-NO"/>
          </a:p>
        </p:txBody>
      </p:sp>
      <p:sp>
        <p:nvSpPr>
          <p:cNvPr id="23" name="Text 21"/>
          <p:cNvSpPr/>
          <p:nvPr/>
        </p:nvSpPr>
        <p:spPr>
          <a:xfrm>
            <a:off x="1005840" y="4590288"/>
            <a:ext cx="2267712" cy="146304"/>
          </a:xfrm>
          <a:prstGeom prst="rect">
            <a:avLst/>
          </a:prstGeom>
          <a:noFill/>
          <a:ln/>
        </p:spPr>
        <p:txBody>
          <a:bodyPr wrap="square" lIns="0" tIns="0" rIns="0" bIns="0" rtlCol="0" anchor="ctr">
            <a:normAutofit/>
          </a:bodyPr>
          <a:lstStyle/>
          <a:p>
            <a:pPr marL="0" indent="0">
              <a:buNone/>
            </a:pPr>
            <a:r>
              <a:rPr lang="en-US" sz="1070" b="1" dirty="0">
                <a:solidFill>
                  <a:srgbClr val="1E40AF"/>
                </a:solidFill>
              </a:rPr>
              <a:t>Port Security</a:t>
            </a:r>
            <a:endParaRPr lang="en-US" sz="1070" dirty="0"/>
          </a:p>
        </p:txBody>
      </p:sp>
      <p:sp>
        <p:nvSpPr>
          <p:cNvPr id="24" name="Text 22"/>
          <p:cNvSpPr/>
          <p:nvPr/>
        </p:nvSpPr>
        <p:spPr>
          <a:xfrm>
            <a:off x="1005840" y="4782312"/>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Begrenser MAC-adresser per accessport</a:t>
            </a:r>
            <a:endParaRPr lang="en-US" sz="835" dirty="0"/>
          </a:p>
        </p:txBody>
      </p:sp>
      <p:sp>
        <p:nvSpPr>
          <p:cNvPr id="25" name="Text 23"/>
          <p:cNvSpPr/>
          <p:nvPr/>
        </p:nvSpPr>
        <p:spPr>
          <a:xfrm>
            <a:off x="914400" y="5321808"/>
            <a:ext cx="2468880" cy="201168"/>
          </a:xfrm>
          <a:prstGeom prst="rect">
            <a:avLst/>
          </a:prstGeom>
          <a:noFill/>
          <a:ln/>
        </p:spPr>
        <p:txBody>
          <a:bodyPr wrap="square" lIns="0" tIns="0" rIns="0" bIns="0" rtlCol="0" anchor="ctr">
            <a:normAutofit/>
          </a:bodyPr>
          <a:lstStyle/>
          <a:p>
            <a:pPr marL="0" indent="0" algn="ctr">
              <a:buNone/>
            </a:pPr>
            <a:r>
              <a:rPr lang="en-US" sz="1000" b="1" dirty="0">
                <a:solidFill>
                  <a:srgbClr val="1E40AF"/>
                </a:solidFill>
              </a:rPr>
              <a:t>DHCP Snooping → grunnlag for DAI + IPSG</a:t>
            </a:r>
            <a:endParaRPr lang="en-US" sz="1000" dirty="0"/>
          </a:p>
        </p:txBody>
      </p:sp>
      <p:sp>
        <p:nvSpPr>
          <p:cNvPr id="26" name="Shape 24"/>
          <p:cNvSpPr/>
          <p:nvPr/>
        </p:nvSpPr>
        <p:spPr>
          <a:xfrm>
            <a:off x="4361688" y="2404872"/>
            <a:ext cx="2542032" cy="603504"/>
          </a:xfrm>
          <a:prstGeom prst="roundRect">
            <a:avLst>
              <a:gd name="adj" fmla="val 5303"/>
            </a:avLst>
          </a:prstGeom>
          <a:solidFill>
            <a:srgbClr val="FFFFFF"/>
          </a:solidFill>
          <a:ln w="10160">
            <a:solidFill>
              <a:srgbClr val="EFD2A7"/>
            </a:solidFill>
            <a:prstDash val="solid"/>
          </a:ln>
        </p:spPr>
        <p:txBody>
          <a:bodyPr/>
          <a:lstStyle/>
          <a:p>
            <a:endParaRPr lang="nb-NO"/>
          </a:p>
        </p:txBody>
      </p:sp>
      <p:sp>
        <p:nvSpPr>
          <p:cNvPr id="27" name="Text 25"/>
          <p:cNvSpPr/>
          <p:nvPr/>
        </p:nvSpPr>
        <p:spPr>
          <a:xfrm>
            <a:off x="4489704" y="2478024"/>
            <a:ext cx="2267712" cy="146304"/>
          </a:xfrm>
          <a:prstGeom prst="rect">
            <a:avLst/>
          </a:prstGeom>
          <a:noFill/>
          <a:ln/>
        </p:spPr>
        <p:txBody>
          <a:bodyPr wrap="square" lIns="0" tIns="0" rIns="0" bIns="0" rtlCol="0" anchor="ctr">
            <a:normAutofit/>
          </a:bodyPr>
          <a:lstStyle/>
          <a:p>
            <a:pPr marL="0" indent="0">
              <a:buNone/>
            </a:pPr>
            <a:r>
              <a:rPr lang="en-US" sz="1070" b="1" dirty="0">
                <a:solidFill>
                  <a:srgbClr val="9A4F00"/>
                </a:solidFill>
              </a:rPr>
              <a:t>BPDU Guard</a:t>
            </a:r>
            <a:endParaRPr lang="en-US" sz="1070" dirty="0"/>
          </a:p>
        </p:txBody>
      </p:sp>
      <p:sp>
        <p:nvSpPr>
          <p:cNvPr id="28" name="Text 26"/>
          <p:cNvSpPr/>
          <p:nvPr/>
        </p:nvSpPr>
        <p:spPr>
          <a:xfrm>
            <a:off x="4489704" y="2670048"/>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Stenger edge-port ved mottatt BPDU</a:t>
            </a:r>
            <a:endParaRPr lang="en-US" sz="835" dirty="0"/>
          </a:p>
        </p:txBody>
      </p:sp>
      <p:sp>
        <p:nvSpPr>
          <p:cNvPr id="29" name="Shape 27"/>
          <p:cNvSpPr/>
          <p:nvPr/>
        </p:nvSpPr>
        <p:spPr>
          <a:xfrm>
            <a:off x="4361688" y="3108960"/>
            <a:ext cx="2542032" cy="603504"/>
          </a:xfrm>
          <a:prstGeom prst="roundRect">
            <a:avLst>
              <a:gd name="adj" fmla="val 5303"/>
            </a:avLst>
          </a:prstGeom>
          <a:solidFill>
            <a:srgbClr val="FFFFFF"/>
          </a:solidFill>
          <a:ln w="10160">
            <a:solidFill>
              <a:srgbClr val="EFD2A7"/>
            </a:solidFill>
            <a:prstDash val="solid"/>
          </a:ln>
        </p:spPr>
        <p:txBody>
          <a:bodyPr/>
          <a:lstStyle/>
          <a:p>
            <a:endParaRPr lang="nb-NO"/>
          </a:p>
        </p:txBody>
      </p:sp>
      <p:sp>
        <p:nvSpPr>
          <p:cNvPr id="30" name="Text 28"/>
          <p:cNvSpPr/>
          <p:nvPr/>
        </p:nvSpPr>
        <p:spPr>
          <a:xfrm>
            <a:off x="4489704" y="3182112"/>
            <a:ext cx="2267712" cy="146304"/>
          </a:xfrm>
          <a:prstGeom prst="rect">
            <a:avLst/>
          </a:prstGeom>
          <a:noFill/>
          <a:ln/>
        </p:spPr>
        <p:txBody>
          <a:bodyPr wrap="square" lIns="0" tIns="0" rIns="0" bIns="0" rtlCol="0" anchor="ctr">
            <a:normAutofit/>
          </a:bodyPr>
          <a:lstStyle/>
          <a:p>
            <a:pPr marL="0" indent="0">
              <a:buNone/>
            </a:pPr>
            <a:r>
              <a:rPr lang="en-US" sz="1070" b="1" dirty="0">
                <a:solidFill>
                  <a:srgbClr val="9A4F00"/>
                </a:solidFill>
              </a:rPr>
              <a:t>Root Guard</a:t>
            </a:r>
            <a:endParaRPr lang="en-US" sz="1070" dirty="0"/>
          </a:p>
        </p:txBody>
      </p:sp>
      <p:sp>
        <p:nvSpPr>
          <p:cNvPr id="31" name="Text 29"/>
          <p:cNvSpPr/>
          <p:nvPr/>
        </p:nvSpPr>
        <p:spPr>
          <a:xfrm>
            <a:off x="4489704" y="3374136"/>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Hindrer downstream-switch i å bli root</a:t>
            </a:r>
            <a:endParaRPr lang="en-US" sz="835" dirty="0"/>
          </a:p>
        </p:txBody>
      </p:sp>
      <p:sp>
        <p:nvSpPr>
          <p:cNvPr id="32" name="Shape 30"/>
          <p:cNvSpPr/>
          <p:nvPr/>
        </p:nvSpPr>
        <p:spPr>
          <a:xfrm>
            <a:off x="4361688" y="3813048"/>
            <a:ext cx="2542032" cy="603504"/>
          </a:xfrm>
          <a:prstGeom prst="roundRect">
            <a:avLst>
              <a:gd name="adj" fmla="val 5303"/>
            </a:avLst>
          </a:prstGeom>
          <a:solidFill>
            <a:srgbClr val="FFFFFF"/>
          </a:solidFill>
          <a:ln w="10160">
            <a:solidFill>
              <a:srgbClr val="EFD2A7"/>
            </a:solidFill>
            <a:prstDash val="solid"/>
          </a:ln>
        </p:spPr>
        <p:txBody>
          <a:bodyPr/>
          <a:lstStyle/>
          <a:p>
            <a:endParaRPr lang="nb-NO"/>
          </a:p>
        </p:txBody>
      </p:sp>
      <p:sp>
        <p:nvSpPr>
          <p:cNvPr id="33" name="Text 31"/>
          <p:cNvSpPr/>
          <p:nvPr/>
        </p:nvSpPr>
        <p:spPr>
          <a:xfrm>
            <a:off x="4489704" y="3886200"/>
            <a:ext cx="2267712" cy="146304"/>
          </a:xfrm>
          <a:prstGeom prst="rect">
            <a:avLst/>
          </a:prstGeom>
          <a:noFill/>
          <a:ln/>
        </p:spPr>
        <p:txBody>
          <a:bodyPr wrap="square" lIns="0" tIns="0" rIns="0" bIns="0" rtlCol="0" anchor="ctr">
            <a:normAutofit/>
          </a:bodyPr>
          <a:lstStyle/>
          <a:p>
            <a:pPr marL="0" indent="0">
              <a:buNone/>
            </a:pPr>
            <a:r>
              <a:rPr lang="en-US" sz="1070" b="1" dirty="0">
                <a:solidFill>
                  <a:srgbClr val="9A4F00"/>
                </a:solidFill>
              </a:rPr>
              <a:t>Loop Guard</a:t>
            </a:r>
            <a:endParaRPr lang="en-US" sz="1070" dirty="0"/>
          </a:p>
        </p:txBody>
      </p:sp>
      <p:sp>
        <p:nvSpPr>
          <p:cNvPr id="34" name="Text 32"/>
          <p:cNvSpPr/>
          <p:nvPr/>
        </p:nvSpPr>
        <p:spPr>
          <a:xfrm>
            <a:off x="4489704" y="4078224"/>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Beskytter mot feilaktig forwarding ved linkfeil</a:t>
            </a:r>
            <a:endParaRPr lang="en-US" sz="835" dirty="0"/>
          </a:p>
        </p:txBody>
      </p:sp>
      <p:sp>
        <p:nvSpPr>
          <p:cNvPr id="35" name="Shape 33"/>
          <p:cNvSpPr/>
          <p:nvPr/>
        </p:nvSpPr>
        <p:spPr>
          <a:xfrm>
            <a:off x="4361688" y="4517136"/>
            <a:ext cx="2542032" cy="603504"/>
          </a:xfrm>
          <a:prstGeom prst="roundRect">
            <a:avLst>
              <a:gd name="adj" fmla="val 5303"/>
            </a:avLst>
          </a:prstGeom>
          <a:solidFill>
            <a:srgbClr val="FFFFFF"/>
          </a:solidFill>
          <a:ln w="10160">
            <a:solidFill>
              <a:srgbClr val="EFD2A7"/>
            </a:solidFill>
            <a:prstDash val="solid"/>
          </a:ln>
        </p:spPr>
        <p:txBody>
          <a:bodyPr/>
          <a:lstStyle/>
          <a:p>
            <a:endParaRPr lang="nb-NO"/>
          </a:p>
        </p:txBody>
      </p:sp>
      <p:sp>
        <p:nvSpPr>
          <p:cNvPr id="36" name="Text 34"/>
          <p:cNvSpPr/>
          <p:nvPr/>
        </p:nvSpPr>
        <p:spPr>
          <a:xfrm>
            <a:off x="4489704" y="4590288"/>
            <a:ext cx="2267712" cy="146304"/>
          </a:xfrm>
          <a:prstGeom prst="rect">
            <a:avLst/>
          </a:prstGeom>
          <a:noFill/>
          <a:ln/>
        </p:spPr>
        <p:txBody>
          <a:bodyPr wrap="square" lIns="0" tIns="0" rIns="0" bIns="0" rtlCol="0" anchor="ctr">
            <a:normAutofit/>
          </a:bodyPr>
          <a:lstStyle/>
          <a:p>
            <a:pPr marL="0" indent="0">
              <a:buNone/>
            </a:pPr>
            <a:r>
              <a:rPr lang="en-US" sz="1070" b="1" dirty="0">
                <a:solidFill>
                  <a:srgbClr val="9A4F00"/>
                </a:solidFill>
              </a:rPr>
              <a:t>VLAN 999 + shutdown</a:t>
            </a:r>
            <a:endParaRPr lang="en-US" sz="1070" dirty="0"/>
          </a:p>
        </p:txBody>
      </p:sp>
      <p:sp>
        <p:nvSpPr>
          <p:cNvPr id="37" name="Text 35"/>
          <p:cNvSpPr/>
          <p:nvPr/>
        </p:nvSpPr>
        <p:spPr>
          <a:xfrm>
            <a:off x="4489704" y="4782312"/>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Ubrukte porter bærer ikke produksjonstrafikk</a:t>
            </a:r>
            <a:endParaRPr lang="en-US" sz="835" dirty="0"/>
          </a:p>
        </p:txBody>
      </p:sp>
      <p:sp>
        <p:nvSpPr>
          <p:cNvPr id="38" name="Shape 36"/>
          <p:cNvSpPr/>
          <p:nvPr/>
        </p:nvSpPr>
        <p:spPr>
          <a:xfrm>
            <a:off x="7845552" y="2404872"/>
            <a:ext cx="2542032" cy="603504"/>
          </a:xfrm>
          <a:prstGeom prst="roundRect">
            <a:avLst>
              <a:gd name="adj" fmla="val 5303"/>
            </a:avLst>
          </a:prstGeom>
          <a:solidFill>
            <a:srgbClr val="FFFFFF"/>
          </a:solidFill>
          <a:ln w="10160">
            <a:solidFill>
              <a:srgbClr val="BFE3CB"/>
            </a:solidFill>
            <a:prstDash val="solid"/>
          </a:ln>
        </p:spPr>
        <p:txBody>
          <a:bodyPr/>
          <a:lstStyle/>
          <a:p>
            <a:endParaRPr lang="nb-NO"/>
          </a:p>
        </p:txBody>
      </p:sp>
      <p:sp>
        <p:nvSpPr>
          <p:cNvPr id="39" name="Text 37"/>
          <p:cNvSpPr/>
          <p:nvPr/>
        </p:nvSpPr>
        <p:spPr>
          <a:xfrm>
            <a:off x="7973568" y="2478024"/>
            <a:ext cx="2267712" cy="146304"/>
          </a:xfrm>
          <a:prstGeom prst="rect">
            <a:avLst/>
          </a:prstGeom>
          <a:noFill/>
          <a:ln/>
        </p:spPr>
        <p:txBody>
          <a:bodyPr wrap="square" lIns="0" tIns="0" rIns="0" bIns="0" rtlCol="0" anchor="ctr">
            <a:normAutofit/>
          </a:bodyPr>
          <a:lstStyle/>
          <a:p>
            <a:pPr marL="0" indent="0">
              <a:buNone/>
            </a:pPr>
            <a:r>
              <a:rPr lang="en-US" sz="1070" b="1" dirty="0">
                <a:solidFill>
                  <a:srgbClr val="166534"/>
                </a:solidFill>
              </a:rPr>
              <a:t>VRF + ACL</a:t>
            </a:r>
            <a:endParaRPr lang="en-US" sz="1070" dirty="0"/>
          </a:p>
        </p:txBody>
      </p:sp>
      <p:sp>
        <p:nvSpPr>
          <p:cNvPr id="40" name="Text 38"/>
          <p:cNvSpPr/>
          <p:nvPr/>
        </p:nvSpPr>
        <p:spPr>
          <a:xfrm>
            <a:off x="7973568" y="2670048"/>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Segmentering og eksplisitt trafikkpolicy</a:t>
            </a:r>
            <a:endParaRPr lang="en-US" sz="835" dirty="0"/>
          </a:p>
        </p:txBody>
      </p:sp>
      <p:sp>
        <p:nvSpPr>
          <p:cNvPr id="41" name="Shape 39"/>
          <p:cNvSpPr/>
          <p:nvPr/>
        </p:nvSpPr>
        <p:spPr>
          <a:xfrm>
            <a:off x="7845552" y="3108960"/>
            <a:ext cx="2542032" cy="603504"/>
          </a:xfrm>
          <a:prstGeom prst="roundRect">
            <a:avLst>
              <a:gd name="adj" fmla="val 5303"/>
            </a:avLst>
          </a:prstGeom>
          <a:solidFill>
            <a:srgbClr val="FFFFFF"/>
          </a:solidFill>
          <a:ln w="10160">
            <a:solidFill>
              <a:srgbClr val="BFE3CB"/>
            </a:solidFill>
            <a:prstDash val="solid"/>
          </a:ln>
        </p:spPr>
        <p:txBody>
          <a:bodyPr/>
          <a:lstStyle/>
          <a:p>
            <a:endParaRPr lang="nb-NO"/>
          </a:p>
        </p:txBody>
      </p:sp>
      <p:sp>
        <p:nvSpPr>
          <p:cNvPr id="42" name="Text 40"/>
          <p:cNvSpPr/>
          <p:nvPr/>
        </p:nvSpPr>
        <p:spPr>
          <a:xfrm>
            <a:off x="7973568" y="3182112"/>
            <a:ext cx="2267712" cy="146304"/>
          </a:xfrm>
          <a:prstGeom prst="rect">
            <a:avLst/>
          </a:prstGeom>
          <a:noFill/>
          <a:ln/>
        </p:spPr>
        <p:txBody>
          <a:bodyPr wrap="square" lIns="0" tIns="0" rIns="0" bIns="0" rtlCol="0" anchor="ctr">
            <a:normAutofit/>
          </a:bodyPr>
          <a:lstStyle/>
          <a:p>
            <a:pPr marL="0" indent="0">
              <a:buNone/>
            </a:pPr>
            <a:r>
              <a:rPr lang="en-US" sz="1070" b="1" dirty="0">
                <a:solidFill>
                  <a:srgbClr val="166534"/>
                </a:solidFill>
              </a:rPr>
              <a:t>SSH v2</a:t>
            </a:r>
            <a:endParaRPr lang="en-US" sz="1070" dirty="0"/>
          </a:p>
        </p:txBody>
      </p:sp>
      <p:sp>
        <p:nvSpPr>
          <p:cNvPr id="43" name="Text 41"/>
          <p:cNvSpPr/>
          <p:nvPr/>
        </p:nvSpPr>
        <p:spPr>
          <a:xfrm>
            <a:off x="7973568" y="3374136"/>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Kryptert administrasjon fra MGMT-nett</a:t>
            </a:r>
            <a:endParaRPr lang="en-US" sz="835" dirty="0"/>
          </a:p>
        </p:txBody>
      </p:sp>
      <p:sp>
        <p:nvSpPr>
          <p:cNvPr id="44" name="Shape 42"/>
          <p:cNvSpPr/>
          <p:nvPr/>
        </p:nvSpPr>
        <p:spPr>
          <a:xfrm>
            <a:off x="7845552" y="3813048"/>
            <a:ext cx="2542032" cy="603504"/>
          </a:xfrm>
          <a:prstGeom prst="roundRect">
            <a:avLst>
              <a:gd name="adj" fmla="val 5303"/>
            </a:avLst>
          </a:prstGeom>
          <a:solidFill>
            <a:srgbClr val="FFFFFF"/>
          </a:solidFill>
          <a:ln w="10160">
            <a:solidFill>
              <a:srgbClr val="BFE3CB"/>
            </a:solidFill>
            <a:prstDash val="solid"/>
          </a:ln>
        </p:spPr>
        <p:txBody>
          <a:bodyPr/>
          <a:lstStyle/>
          <a:p>
            <a:endParaRPr lang="nb-NO"/>
          </a:p>
        </p:txBody>
      </p:sp>
      <p:sp>
        <p:nvSpPr>
          <p:cNvPr id="45" name="Text 43"/>
          <p:cNvSpPr/>
          <p:nvPr/>
        </p:nvSpPr>
        <p:spPr>
          <a:xfrm>
            <a:off x="7973568" y="3886200"/>
            <a:ext cx="2267712" cy="146304"/>
          </a:xfrm>
          <a:prstGeom prst="rect">
            <a:avLst/>
          </a:prstGeom>
          <a:noFill/>
          <a:ln/>
        </p:spPr>
        <p:txBody>
          <a:bodyPr wrap="square" lIns="0" tIns="0" rIns="0" bIns="0" rtlCol="0" anchor="ctr">
            <a:normAutofit/>
          </a:bodyPr>
          <a:lstStyle/>
          <a:p>
            <a:pPr marL="0" indent="0">
              <a:buNone/>
            </a:pPr>
            <a:r>
              <a:rPr lang="en-US" sz="1070" b="1" dirty="0">
                <a:solidFill>
                  <a:srgbClr val="166534"/>
                </a:solidFill>
              </a:rPr>
              <a:t>TACACS+</a:t>
            </a:r>
            <a:endParaRPr lang="en-US" sz="1070" dirty="0"/>
          </a:p>
        </p:txBody>
      </p:sp>
      <p:sp>
        <p:nvSpPr>
          <p:cNvPr id="46" name="Text 44"/>
          <p:cNvSpPr/>
          <p:nvPr/>
        </p:nvSpPr>
        <p:spPr>
          <a:xfrm>
            <a:off x="7973568" y="4078224"/>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Sentral autentisering og autorisasjon</a:t>
            </a:r>
            <a:endParaRPr lang="en-US" sz="835" dirty="0"/>
          </a:p>
        </p:txBody>
      </p:sp>
      <p:sp>
        <p:nvSpPr>
          <p:cNvPr id="47" name="Shape 45"/>
          <p:cNvSpPr/>
          <p:nvPr/>
        </p:nvSpPr>
        <p:spPr>
          <a:xfrm>
            <a:off x="7845552" y="4517136"/>
            <a:ext cx="2542032" cy="603504"/>
          </a:xfrm>
          <a:prstGeom prst="roundRect">
            <a:avLst>
              <a:gd name="adj" fmla="val 5303"/>
            </a:avLst>
          </a:prstGeom>
          <a:solidFill>
            <a:srgbClr val="FFFFFF"/>
          </a:solidFill>
          <a:ln w="10160">
            <a:solidFill>
              <a:srgbClr val="BFE3CB"/>
            </a:solidFill>
            <a:prstDash val="solid"/>
          </a:ln>
        </p:spPr>
        <p:txBody>
          <a:bodyPr/>
          <a:lstStyle/>
          <a:p>
            <a:endParaRPr lang="nb-NO"/>
          </a:p>
        </p:txBody>
      </p:sp>
      <p:sp>
        <p:nvSpPr>
          <p:cNvPr id="48" name="Text 46"/>
          <p:cNvSpPr/>
          <p:nvPr/>
        </p:nvSpPr>
        <p:spPr>
          <a:xfrm>
            <a:off x="7973568" y="4590288"/>
            <a:ext cx="2267712" cy="146304"/>
          </a:xfrm>
          <a:prstGeom prst="rect">
            <a:avLst/>
          </a:prstGeom>
          <a:noFill/>
          <a:ln/>
        </p:spPr>
        <p:txBody>
          <a:bodyPr wrap="square" lIns="0" tIns="0" rIns="0" bIns="0" rtlCol="0" anchor="ctr">
            <a:normAutofit/>
          </a:bodyPr>
          <a:lstStyle/>
          <a:p>
            <a:pPr marL="0" indent="0">
              <a:buNone/>
            </a:pPr>
            <a:r>
              <a:rPr lang="en-US" sz="1070" b="1" dirty="0">
                <a:solidFill>
                  <a:srgbClr val="166534"/>
                </a:solidFill>
              </a:rPr>
              <a:t>IPsec</a:t>
            </a:r>
            <a:endParaRPr lang="en-US" sz="1070" dirty="0"/>
          </a:p>
        </p:txBody>
      </p:sp>
      <p:sp>
        <p:nvSpPr>
          <p:cNvPr id="49" name="Text 47"/>
          <p:cNvSpPr/>
          <p:nvPr/>
        </p:nvSpPr>
        <p:spPr>
          <a:xfrm>
            <a:off x="7973568" y="4782312"/>
            <a:ext cx="2267712" cy="228600"/>
          </a:xfrm>
          <a:prstGeom prst="rect">
            <a:avLst/>
          </a:prstGeom>
          <a:noFill/>
          <a:ln/>
        </p:spPr>
        <p:txBody>
          <a:bodyPr wrap="square" lIns="0" tIns="0" rIns="0" bIns="0" rtlCol="0" anchor="ctr">
            <a:normAutofit/>
          </a:bodyPr>
          <a:lstStyle/>
          <a:p>
            <a:pPr marL="0" indent="0">
              <a:buNone/>
            </a:pPr>
            <a:r>
              <a:rPr lang="en-US" sz="835" dirty="0">
                <a:solidFill>
                  <a:srgbClr val="1E293B"/>
                </a:solidFill>
              </a:rPr>
              <a:t>Kryptering/integritet på operative overlay</a:t>
            </a:r>
            <a:endParaRPr lang="en-US" sz="835" dirty="0"/>
          </a:p>
        </p:txBody>
      </p:sp>
      <p:sp>
        <p:nvSpPr>
          <p:cNvPr id="50"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6. Sentral overvåkning, logging og tid</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BNHQ samler synlighet og administrasjon – uten å blande sammen syslog og speilet trafikk.</a:t>
            </a:r>
            <a:endParaRPr lang="en-US" sz="1250" dirty="0"/>
          </a:p>
        </p:txBody>
      </p:sp>
      <p:sp>
        <p:nvSpPr>
          <p:cNvPr id="4" name="Shape 2"/>
          <p:cNvSpPr/>
          <p:nvPr/>
        </p:nvSpPr>
        <p:spPr>
          <a:xfrm>
            <a:off x="566928" y="1261872"/>
            <a:ext cx="5715000" cy="4553712"/>
          </a:xfrm>
          <a:prstGeom prst="roundRect">
            <a:avLst>
              <a:gd name="adj" fmla="val 1205"/>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pic>
        <p:nvPicPr>
          <p:cNvPr id="5" name="Image 0" descr="/mnt/data/bnhq_crop.png"/>
          <p:cNvPicPr>
            <a:picLocks noChangeAspect="1"/>
          </p:cNvPicPr>
          <p:nvPr/>
        </p:nvPicPr>
        <p:blipFill>
          <a:blip r:embed="rId3"/>
          <a:stretch>
            <a:fillRect/>
          </a:stretch>
        </p:blipFill>
        <p:spPr>
          <a:xfrm>
            <a:off x="749808" y="1802276"/>
            <a:ext cx="5349240" cy="3445471"/>
          </a:xfrm>
          <a:prstGeom prst="rect">
            <a:avLst/>
          </a:prstGeom>
        </p:spPr>
      </p:pic>
      <p:sp>
        <p:nvSpPr>
          <p:cNvPr id="6" name="Text 3"/>
          <p:cNvSpPr/>
          <p:nvPr/>
        </p:nvSpPr>
        <p:spPr>
          <a:xfrm>
            <a:off x="6656832" y="1307592"/>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TO DATASTRØMMER</a:t>
            </a:r>
            <a:endParaRPr lang="en-US" sz="950" dirty="0"/>
          </a:p>
        </p:txBody>
      </p:sp>
      <p:sp>
        <p:nvSpPr>
          <p:cNvPr id="7" name="Shape 4"/>
          <p:cNvSpPr/>
          <p:nvPr/>
        </p:nvSpPr>
        <p:spPr>
          <a:xfrm>
            <a:off x="6629400" y="1645920"/>
            <a:ext cx="4800600" cy="1143000"/>
          </a:xfrm>
          <a:prstGeom prst="roundRect">
            <a:avLst>
              <a:gd name="adj" fmla="val 4800"/>
            </a:avLst>
          </a:prstGeom>
          <a:solidFill>
            <a:srgbClr val="EAF2FF"/>
          </a:solidFill>
          <a:ln w="12700">
            <a:solidFill>
              <a:srgbClr val="B7D2F5"/>
            </a:solidFill>
            <a:prstDash val="solid"/>
          </a:ln>
        </p:spPr>
        <p:txBody>
          <a:bodyPr/>
          <a:lstStyle/>
          <a:p>
            <a:endParaRPr lang="nb-NO"/>
          </a:p>
        </p:txBody>
      </p:sp>
      <p:sp>
        <p:nvSpPr>
          <p:cNvPr id="8" name="Text 5"/>
          <p:cNvSpPr/>
          <p:nvPr/>
        </p:nvSpPr>
        <p:spPr>
          <a:xfrm>
            <a:off x="6858000" y="1865376"/>
            <a:ext cx="1371600" cy="201168"/>
          </a:xfrm>
          <a:prstGeom prst="rect">
            <a:avLst/>
          </a:prstGeom>
          <a:noFill/>
          <a:ln/>
        </p:spPr>
        <p:txBody>
          <a:bodyPr wrap="square" lIns="0" tIns="0" rIns="0" bIns="0" rtlCol="0" anchor="ctr"/>
          <a:lstStyle/>
          <a:p>
            <a:pPr marL="0" indent="0">
              <a:buNone/>
            </a:pPr>
            <a:r>
              <a:rPr lang="en-US" sz="1550" b="1" dirty="0">
                <a:solidFill>
                  <a:srgbClr val="1E40AF"/>
                </a:solidFill>
              </a:rPr>
              <a:t>SYSLOG + NTP</a:t>
            </a:r>
            <a:endParaRPr lang="en-US" sz="1550" dirty="0"/>
          </a:p>
        </p:txBody>
      </p:sp>
      <p:sp>
        <p:nvSpPr>
          <p:cNvPr id="9" name="Text 6"/>
          <p:cNvSpPr/>
          <p:nvPr/>
        </p:nvSpPr>
        <p:spPr>
          <a:xfrm>
            <a:off x="8275320" y="1801368"/>
            <a:ext cx="2907792" cy="566928"/>
          </a:xfrm>
          <a:prstGeom prst="rect">
            <a:avLst/>
          </a:prstGeom>
          <a:noFill/>
          <a:ln/>
        </p:spPr>
        <p:txBody>
          <a:bodyPr wrap="square" lIns="0" tIns="0" rIns="0" bIns="0" rtlCol="0" anchor="ctr">
            <a:normAutofit/>
          </a:bodyPr>
          <a:lstStyle/>
          <a:p>
            <a:pPr marL="0" indent="0">
              <a:buNone/>
            </a:pPr>
            <a:r>
              <a:rPr lang="en-US" sz="1110" dirty="0">
                <a:solidFill>
                  <a:srgbClr val="1E293B"/>
                </a:solidFill>
              </a:rPr>
              <a:t>Enhetene sender hendelser til sentral loggtjeneste. Felles NTP gjør at hendelser kan korreleres i riktig tidsrekkefølge.</a:t>
            </a:r>
            <a:endParaRPr lang="en-US" sz="1110" dirty="0"/>
          </a:p>
        </p:txBody>
      </p:sp>
      <p:sp>
        <p:nvSpPr>
          <p:cNvPr id="10" name="Shape 7"/>
          <p:cNvSpPr/>
          <p:nvPr/>
        </p:nvSpPr>
        <p:spPr>
          <a:xfrm>
            <a:off x="6629400" y="2999232"/>
            <a:ext cx="4800600" cy="1143000"/>
          </a:xfrm>
          <a:prstGeom prst="roundRect">
            <a:avLst>
              <a:gd name="adj" fmla="val 4800"/>
            </a:avLst>
          </a:prstGeom>
          <a:solidFill>
            <a:srgbClr val="EAF7EE"/>
          </a:solidFill>
          <a:ln w="12700">
            <a:solidFill>
              <a:srgbClr val="BFE3CB"/>
            </a:solidFill>
            <a:prstDash val="solid"/>
          </a:ln>
        </p:spPr>
        <p:txBody>
          <a:bodyPr/>
          <a:lstStyle/>
          <a:p>
            <a:endParaRPr lang="nb-NO"/>
          </a:p>
        </p:txBody>
      </p:sp>
      <p:sp>
        <p:nvSpPr>
          <p:cNvPr id="11" name="Text 8"/>
          <p:cNvSpPr/>
          <p:nvPr/>
        </p:nvSpPr>
        <p:spPr>
          <a:xfrm>
            <a:off x="6858000" y="3227832"/>
            <a:ext cx="1234440" cy="201168"/>
          </a:xfrm>
          <a:prstGeom prst="rect">
            <a:avLst/>
          </a:prstGeom>
          <a:noFill/>
          <a:ln/>
        </p:spPr>
        <p:txBody>
          <a:bodyPr wrap="square" lIns="0" tIns="0" rIns="0" bIns="0" rtlCol="0" anchor="ctr"/>
          <a:lstStyle/>
          <a:p>
            <a:pPr marL="0" indent="0">
              <a:buNone/>
            </a:pPr>
            <a:r>
              <a:rPr lang="en-US" sz="1550" b="1" dirty="0">
                <a:solidFill>
                  <a:srgbClr val="166534"/>
                </a:solidFill>
              </a:rPr>
              <a:t>ERSPAN</a:t>
            </a:r>
            <a:endParaRPr lang="en-US" sz="1550" dirty="0"/>
          </a:p>
        </p:txBody>
      </p:sp>
      <p:sp>
        <p:nvSpPr>
          <p:cNvPr id="12" name="Text 9"/>
          <p:cNvSpPr/>
          <p:nvPr/>
        </p:nvSpPr>
        <p:spPr>
          <a:xfrm>
            <a:off x="8275320" y="3145536"/>
            <a:ext cx="2907792" cy="530352"/>
          </a:xfrm>
          <a:prstGeom prst="rect">
            <a:avLst/>
          </a:prstGeom>
          <a:noFill/>
          <a:ln/>
        </p:spPr>
        <p:txBody>
          <a:bodyPr wrap="square" lIns="0" tIns="0" rIns="0" bIns="0" rtlCol="0" anchor="ctr">
            <a:normAutofit/>
          </a:bodyPr>
          <a:lstStyle/>
          <a:p>
            <a:pPr marL="0" indent="0">
              <a:buNone/>
            </a:pPr>
            <a:r>
              <a:rPr lang="en-US" sz="1110" dirty="0">
                <a:solidFill>
                  <a:srgbClr val="1E293B"/>
                </a:solidFill>
              </a:rPr>
              <a:t>Utvalgt dataplantrafikk speiles over MONITORING-overlayet til Security Onion for IDS- og nettverksanalyse.</a:t>
            </a:r>
            <a:endParaRPr lang="en-US" sz="1110" dirty="0"/>
          </a:p>
        </p:txBody>
      </p:sp>
      <p:sp>
        <p:nvSpPr>
          <p:cNvPr id="13" name="Shape 10"/>
          <p:cNvSpPr/>
          <p:nvPr/>
        </p:nvSpPr>
        <p:spPr>
          <a:xfrm>
            <a:off x="6629400" y="4352544"/>
            <a:ext cx="4800600" cy="1051560"/>
          </a:xfrm>
          <a:prstGeom prst="roundRect">
            <a:avLst>
              <a:gd name="adj" fmla="val 5217"/>
            </a:avLst>
          </a:prstGeom>
          <a:solidFill>
            <a:srgbClr val="F1EBFF"/>
          </a:solidFill>
          <a:ln w="12700">
            <a:solidFill>
              <a:srgbClr val="D8C7FF"/>
            </a:solidFill>
            <a:prstDash val="solid"/>
          </a:ln>
        </p:spPr>
        <p:txBody>
          <a:bodyPr/>
          <a:lstStyle/>
          <a:p>
            <a:endParaRPr lang="nb-NO"/>
          </a:p>
        </p:txBody>
      </p:sp>
      <p:sp>
        <p:nvSpPr>
          <p:cNvPr id="14" name="Text 11"/>
          <p:cNvSpPr/>
          <p:nvPr/>
        </p:nvSpPr>
        <p:spPr>
          <a:xfrm>
            <a:off x="6858000" y="4590288"/>
            <a:ext cx="1417320" cy="201168"/>
          </a:xfrm>
          <a:prstGeom prst="rect">
            <a:avLst/>
          </a:prstGeom>
          <a:noFill/>
          <a:ln/>
        </p:spPr>
        <p:txBody>
          <a:bodyPr wrap="square" lIns="0" tIns="0" rIns="0" bIns="0" rtlCol="0" anchor="ctr"/>
          <a:lstStyle/>
          <a:p>
            <a:pPr marL="0" indent="0">
              <a:buNone/>
            </a:pPr>
            <a:r>
              <a:rPr lang="en-US" sz="1550" b="1" dirty="0">
                <a:solidFill>
                  <a:srgbClr val="5B21B6"/>
                </a:solidFill>
              </a:rPr>
              <a:t>AAA / TACACS+</a:t>
            </a:r>
            <a:endParaRPr lang="en-US" sz="1550" dirty="0"/>
          </a:p>
        </p:txBody>
      </p:sp>
      <p:sp>
        <p:nvSpPr>
          <p:cNvPr id="15" name="Text 12"/>
          <p:cNvSpPr/>
          <p:nvPr/>
        </p:nvSpPr>
        <p:spPr>
          <a:xfrm>
            <a:off x="8275320" y="4507992"/>
            <a:ext cx="2907792" cy="530352"/>
          </a:xfrm>
          <a:prstGeom prst="rect">
            <a:avLst/>
          </a:prstGeom>
          <a:noFill/>
          <a:ln/>
        </p:spPr>
        <p:txBody>
          <a:bodyPr wrap="square" lIns="0" tIns="0" rIns="0" bIns="0" rtlCol="0" anchor="ctr">
            <a:normAutofit/>
          </a:bodyPr>
          <a:lstStyle/>
          <a:p>
            <a:pPr marL="0" indent="0">
              <a:buNone/>
            </a:pPr>
            <a:r>
              <a:rPr lang="en-US" sz="1110" dirty="0">
                <a:solidFill>
                  <a:srgbClr val="1E293B"/>
                </a:solidFill>
              </a:rPr>
              <a:t>Sentral kontroll på hvem som kan administrere utstyret, med lokal fallback dersom tjenesten er utilgjengelig.</a:t>
            </a:r>
            <a:endParaRPr lang="en-US" sz="1110" dirty="0"/>
          </a:p>
        </p:txBody>
      </p:sp>
      <p:sp>
        <p:nvSpPr>
          <p:cNvPr id="16" name="Shape 13"/>
          <p:cNvSpPr/>
          <p:nvPr/>
        </p:nvSpPr>
        <p:spPr>
          <a:xfrm>
            <a:off x="804672" y="5925312"/>
            <a:ext cx="10378440" cy="384048"/>
          </a:xfrm>
          <a:prstGeom prst="roundRect">
            <a:avLst>
              <a:gd name="adj" fmla="val 9524"/>
            </a:avLst>
          </a:prstGeom>
          <a:solidFill>
            <a:srgbClr val="EEF2F7"/>
          </a:solidFill>
          <a:ln w="12700">
            <a:solidFill>
              <a:srgbClr val="D8E0EA"/>
            </a:solidFill>
            <a:prstDash val="solid"/>
          </a:ln>
        </p:spPr>
        <p:txBody>
          <a:bodyPr/>
          <a:lstStyle/>
          <a:p>
            <a:endParaRPr lang="nb-NO"/>
          </a:p>
        </p:txBody>
      </p:sp>
      <p:sp>
        <p:nvSpPr>
          <p:cNvPr id="17" name="Text 14"/>
          <p:cNvSpPr/>
          <p:nvPr/>
        </p:nvSpPr>
        <p:spPr>
          <a:xfrm>
            <a:off x="1005840" y="6025896"/>
            <a:ext cx="9966960" cy="155448"/>
          </a:xfrm>
          <a:prstGeom prst="rect">
            <a:avLst/>
          </a:prstGeom>
          <a:noFill/>
          <a:ln/>
        </p:spPr>
        <p:txBody>
          <a:bodyPr wrap="square" lIns="0" tIns="0" rIns="0" bIns="0" rtlCol="0" anchor="ctr">
            <a:normAutofit fontScale="92500" lnSpcReduction="10000"/>
          </a:bodyPr>
          <a:lstStyle/>
          <a:p>
            <a:pPr marL="0" indent="0" algn="ctr">
              <a:buNone/>
            </a:pPr>
            <a:r>
              <a:rPr lang="en-US" sz="1140" b="1" dirty="0">
                <a:solidFill>
                  <a:srgbClr val="0F172A"/>
                </a:solidFill>
              </a:rPr>
              <a:t>Poenget: vi får både hendelseslogger og </a:t>
            </a:r>
            <a:r>
              <a:rPr lang="en-US" sz="1140" b="1" dirty="0" err="1">
                <a:solidFill>
                  <a:srgbClr val="0F172A"/>
                </a:solidFill>
              </a:rPr>
              <a:t>selve</a:t>
            </a:r>
            <a:r>
              <a:rPr lang="en-US" sz="1140" b="1" dirty="0">
                <a:solidFill>
                  <a:srgbClr val="0F172A"/>
                </a:solidFill>
              </a:rPr>
              <a:t> </a:t>
            </a:r>
            <a:r>
              <a:rPr lang="en-US" sz="1140" b="1" dirty="0" err="1">
                <a:solidFill>
                  <a:srgbClr val="0F172A"/>
                </a:solidFill>
              </a:rPr>
              <a:t>nettverkstrafikken</a:t>
            </a:r>
            <a:r>
              <a:rPr lang="en-US" sz="1140" b="1" dirty="0">
                <a:solidFill>
                  <a:srgbClr val="0F172A"/>
                </a:solidFill>
              </a:rPr>
              <a:t>, to komplementære kilder ved feilsøking og hendelseshåndtering.</a:t>
            </a:r>
            <a:endParaRPr lang="en-US" sz="1140" dirty="0"/>
          </a:p>
        </p:txBody>
      </p:sp>
      <p:sp>
        <p:nvSpPr>
          <p:cNvPr id="25"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7. Drift og skalerbarhet</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Standardisert fysisk oppbygning og konfigurasjonsgenerator reduserer manuelt arbeid og konfigurasjonsavvik.</a:t>
            </a:r>
            <a:endParaRPr lang="en-US" sz="1250" dirty="0"/>
          </a:p>
        </p:txBody>
      </p:sp>
      <p:sp>
        <p:nvSpPr>
          <p:cNvPr id="4" name="Shape 2"/>
          <p:cNvSpPr/>
          <p:nvPr/>
        </p:nvSpPr>
        <p:spPr>
          <a:xfrm>
            <a:off x="548640" y="1261872"/>
            <a:ext cx="6080760" cy="4434840"/>
          </a:xfrm>
          <a:prstGeom prst="roundRect">
            <a:avLst>
              <a:gd name="adj" fmla="val 1237"/>
            </a:avLst>
          </a:prstGeom>
          <a:solidFill>
            <a:srgbClr val="FFFFFF"/>
          </a:solidFill>
          <a:ln w="12700">
            <a:solidFill>
              <a:srgbClr val="D8E0EA"/>
            </a:solidFill>
            <a:prstDash val="solid"/>
          </a:ln>
          <a:effectLst>
            <a:outerShdw algn="bl" rotWithShape="0">
              <a:srgbClr val="000000">
                <a:alpha val="0"/>
              </a:srgbClr>
            </a:outerShdw>
          </a:effectLst>
        </p:spPr>
        <p:txBody>
          <a:bodyPr/>
          <a:lstStyle/>
          <a:p>
            <a:endParaRPr lang="nb-NO"/>
          </a:p>
        </p:txBody>
      </p:sp>
      <p:pic>
        <p:nvPicPr>
          <p:cNvPr id="5" name="Image 0" descr="/mnt/data/bygg_nettverk(2).png"/>
          <p:cNvPicPr>
            <a:picLocks noChangeAspect="1"/>
          </p:cNvPicPr>
          <p:nvPr/>
        </p:nvPicPr>
        <p:blipFill>
          <a:blip r:embed="rId3"/>
          <a:stretch>
            <a:fillRect/>
          </a:stretch>
        </p:blipFill>
        <p:spPr>
          <a:xfrm>
            <a:off x="777240" y="1744394"/>
            <a:ext cx="5623560" cy="3460652"/>
          </a:xfrm>
          <a:prstGeom prst="rect">
            <a:avLst/>
          </a:prstGeom>
        </p:spPr>
      </p:pic>
      <p:sp>
        <p:nvSpPr>
          <p:cNvPr id="6" name="Text 3"/>
          <p:cNvSpPr/>
          <p:nvPr/>
        </p:nvSpPr>
        <p:spPr>
          <a:xfrm>
            <a:off x="6986016" y="1298448"/>
            <a:ext cx="2560320" cy="182880"/>
          </a:xfrm>
          <a:prstGeom prst="rect">
            <a:avLst/>
          </a:prstGeom>
          <a:noFill/>
          <a:ln/>
        </p:spPr>
        <p:txBody>
          <a:bodyPr wrap="square" lIns="0" tIns="0" rIns="0" bIns="0" rtlCol="0" anchor="ctr"/>
          <a:lstStyle/>
          <a:p>
            <a:pPr marL="0" indent="0">
              <a:buNone/>
            </a:pPr>
            <a:r>
              <a:rPr lang="en-US" sz="950" b="1" kern="0" spc="150" dirty="0">
                <a:solidFill>
                  <a:srgbClr val="28A745"/>
                </a:solidFill>
              </a:rPr>
              <a:t>FRA MAL TIL FERDIG KONFIG</a:t>
            </a:r>
            <a:endParaRPr lang="en-US" sz="950" dirty="0"/>
          </a:p>
        </p:txBody>
      </p:sp>
      <p:sp>
        <p:nvSpPr>
          <p:cNvPr id="7" name="Shape 4"/>
          <p:cNvSpPr/>
          <p:nvPr/>
        </p:nvSpPr>
        <p:spPr>
          <a:xfrm>
            <a:off x="6967728" y="1828800"/>
            <a:ext cx="1261872" cy="1298448"/>
          </a:xfrm>
          <a:prstGeom prst="roundRect">
            <a:avLst>
              <a:gd name="adj" fmla="val 4348"/>
            </a:avLst>
          </a:prstGeom>
          <a:solidFill>
            <a:srgbClr val="EAF2FF"/>
          </a:solidFill>
          <a:ln w="13970">
            <a:solidFill>
              <a:srgbClr val="2563EB"/>
            </a:solidFill>
            <a:prstDash val="solid"/>
          </a:ln>
        </p:spPr>
        <p:txBody>
          <a:bodyPr/>
          <a:lstStyle/>
          <a:p>
            <a:endParaRPr lang="nb-NO"/>
          </a:p>
        </p:txBody>
      </p:sp>
      <p:sp>
        <p:nvSpPr>
          <p:cNvPr id="8" name="Text 5"/>
          <p:cNvSpPr/>
          <p:nvPr/>
        </p:nvSpPr>
        <p:spPr>
          <a:xfrm>
            <a:off x="7059168" y="1993392"/>
            <a:ext cx="1078992" cy="210312"/>
          </a:xfrm>
          <a:prstGeom prst="rect">
            <a:avLst/>
          </a:prstGeom>
          <a:noFill/>
          <a:ln/>
        </p:spPr>
        <p:txBody>
          <a:bodyPr wrap="square" lIns="0" tIns="0" rIns="0" bIns="0" rtlCol="0" anchor="ctr">
            <a:normAutofit/>
          </a:bodyPr>
          <a:lstStyle/>
          <a:p>
            <a:pPr marL="0" indent="0" algn="ctr">
              <a:buNone/>
            </a:pPr>
            <a:r>
              <a:rPr lang="en-US" sz="1320" b="1" dirty="0">
                <a:solidFill>
                  <a:srgbClr val="0F172A"/>
                </a:solidFill>
              </a:rPr>
              <a:t>Excel-mal</a:t>
            </a:r>
            <a:endParaRPr lang="en-US" sz="1320" dirty="0"/>
          </a:p>
        </p:txBody>
      </p:sp>
      <p:sp>
        <p:nvSpPr>
          <p:cNvPr id="9" name="Text 6"/>
          <p:cNvSpPr/>
          <p:nvPr/>
        </p:nvSpPr>
        <p:spPr>
          <a:xfrm>
            <a:off x="7059168" y="2331720"/>
            <a:ext cx="1078992" cy="51206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Sites</a:t>
            </a:r>
            <a:endParaRPr lang="en-US" sz="1020" dirty="0"/>
          </a:p>
          <a:p>
            <a:pPr marL="0" indent="0" algn="ctr">
              <a:buNone/>
            </a:pPr>
            <a:r>
              <a:rPr lang="en-US" sz="1020" dirty="0">
                <a:solidFill>
                  <a:srgbClr val="1E293B"/>
                </a:solidFill>
              </a:rPr>
              <a:t>VLAN/VRF</a:t>
            </a:r>
            <a:endParaRPr lang="en-US" sz="1020" dirty="0"/>
          </a:p>
          <a:p>
            <a:pPr marL="0" indent="0" algn="ctr">
              <a:buNone/>
            </a:pPr>
            <a:r>
              <a:rPr lang="en-US" sz="1020" dirty="0">
                <a:solidFill>
                  <a:srgbClr val="1E293B"/>
                </a:solidFill>
              </a:rPr>
              <a:t>policy</a:t>
            </a:r>
            <a:endParaRPr lang="en-US" sz="1020" dirty="0"/>
          </a:p>
        </p:txBody>
      </p:sp>
      <p:sp>
        <p:nvSpPr>
          <p:cNvPr id="10" name="Shape 7"/>
          <p:cNvSpPr/>
          <p:nvPr/>
        </p:nvSpPr>
        <p:spPr>
          <a:xfrm>
            <a:off x="8659368" y="1828800"/>
            <a:ext cx="1353312" cy="1298448"/>
          </a:xfrm>
          <a:prstGeom prst="roundRect">
            <a:avLst>
              <a:gd name="adj" fmla="val 4225"/>
            </a:avLst>
          </a:prstGeom>
          <a:solidFill>
            <a:srgbClr val="F1EBFF"/>
          </a:solidFill>
          <a:ln w="13970">
            <a:solidFill>
              <a:srgbClr val="7C3AED"/>
            </a:solidFill>
            <a:prstDash val="solid"/>
          </a:ln>
        </p:spPr>
        <p:txBody>
          <a:bodyPr/>
          <a:lstStyle/>
          <a:p>
            <a:endParaRPr lang="nb-NO"/>
          </a:p>
        </p:txBody>
      </p:sp>
      <p:sp>
        <p:nvSpPr>
          <p:cNvPr id="11" name="Text 8"/>
          <p:cNvSpPr/>
          <p:nvPr/>
        </p:nvSpPr>
        <p:spPr>
          <a:xfrm>
            <a:off x="8750808" y="1993392"/>
            <a:ext cx="1170432" cy="210312"/>
          </a:xfrm>
          <a:prstGeom prst="rect">
            <a:avLst/>
          </a:prstGeom>
          <a:noFill/>
          <a:ln/>
        </p:spPr>
        <p:txBody>
          <a:bodyPr wrap="square" lIns="0" tIns="0" rIns="0" bIns="0" rtlCol="0" anchor="ctr">
            <a:normAutofit/>
          </a:bodyPr>
          <a:lstStyle/>
          <a:p>
            <a:pPr marL="0" indent="0" algn="ctr">
              <a:buNone/>
            </a:pPr>
            <a:r>
              <a:rPr lang="en-US" sz="1320" b="1" dirty="0">
                <a:solidFill>
                  <a:srgbClr val="0F172A"/>
                </a:solidFill>
              </a:rPr>
              <a:t>Generator</a:t>
            </a:r>
            <a:endParaRPr lang="en-US" sz="1320" dirty="0"/>
          </a:p>
        </p:txBody>
      </p:sp>
      <p:sp>
        <p:nvSpPr>
          <p:cNvPr id="12" name="Text 9"/>
          <p:cNvSpPr/>
          <p:nvPr/>
        </p:nvSpPr>
        <p:spPr>
          <a:xfrm>
            <a:off x="8750808" y="2331720"/>
            <a:ext cx="1170432" cy="51206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Validerer</a:t>
            </a:r>
            <a:endParaRPr lang="en-US" sz="1020" dirty="0"/>
          </a:p>
          <a:p>
            <a:pPr marL="0" indent="0" algn="ctr">
              <a:buNone/>
            </a:pPr>
            <a:r>
              <a:rPr lang="en-US" sz="1020" dirty="0">
                <a:solidFill>
                  <a:srgbClr val="1E293B"/>
                </a:solidFill>
              </a:rPr>
              <a:t>og bygger</a:t>
            </a:r>
            <a:endParaRPr lang="en-US" sz="1020" dirty="0"/>
          </a:p>
          <a:p>
            <a:pPr marL="0" indent="0" algn="ctr">
              <a:buNone/>
            </a:pPr>
            <a:r>
              <a:rPr lang="en-US" sz="1020" dirty="0">
                <a:solidFill>
                  <a:srgbClr val="1E293B"/>
                </a:solidFill>
              </a:rPr>
              <a:t>config</a:t>
            </a:r>
            <a:endParaRPr lang="en-US" sz="1020" dirty="0"/>
          </a:p>
        </p:txBody>
      </p:sp>
      <p:sp>
        <p:nvSpPr>
          <p:cNvPr id="13" name="Shape 10"/>
          <p:cNvSpPr/>
          <p:nvPr/>
        </p:nvSpPr>
        <p:spPr>
          <a:xfrm>
            <a:off x="10442448" y="1828800"/>
            <a:ext cx="1115568" cy="1298448"/>
          </a:xfrm>
          <a:prstGeom prst="roundRect">
            <a:avLst>
              <a:gd name="adj" fmla="val 4918"/>
            </a:avLst>
          </a:prstGeom>
          <a:solidFill>
            <a:srgbClr val="EAF7EE"/>
          </a:solidFill>
          <a:ln w="13970">
            <a:solidFill>
              <a:srgbClr val="28A745"/>
            </a:solidFill>
            <a:prstDash val="solid"/>
          </a:ln>
        </p:spPr>
        <p:txBody>
          <a:bodyPr/>
          <a:lstStyle/>
          <a:p>
            <a:endParaRPr lang="nb-NO"/>
          </a:p>
        </p:txBody>
      </p:sp>
      <p:sp>
        <p:nvSpPr>
          <p:cNvPr id="14" name="Text 11"/>
          <p:cNvSpPr/>
          <p:nvPr/>
        </p:nvSpPr>
        <p:spPr>
          <a:xfrm>
            <a:off x="10533888" y="1993392"/>
            <a:ext cx="932688" cy="210312"/>
          </a:xfrm>
          <a:prstGeom prst="rect">
            <a:avLst/>
          </a:prstGeom>
          <a:noFill/>
          <a:ln/>
        </p:spPr>
        <p:txBody>
          <a:bodyPr wrap="square" lIns="0" tIns="0" rIns="0" bIns="0" rtlCol="0" anchor="ctr">
            <a:normAutofit/>
          </a:bodyPr>
          <a:lstStyle/>
          <a:p>
            <a:pPr marL="0" indent="0" algn="ctr">
              <a:buNone/>
            </a:pPr>
            <a:r>
              <a:rPr lang="en-US" sz="1320" b="1" dirty="0">
                <a:solidFill>
                  <a:srgbClr val="0F172A"/>
                </a:solidFill>
              </a:rPr>
              <a:t>Output</a:t>
            </a:r>
            <a:endParaRPr lang="en-US" sz="1320" dirty="0"/>
          </a:p>
        </p:txBody>
      </p:sp>
      <p:sp>
        <p:nvSpPr>
          <p:cNvPr id="15" name="Text 12"/>
          <p:cNvSpPr/>
          <p:nvPr/>
        </p:nvSpPr>
        <p:spPr>
          <a:xfrm>
            <a:off x="10533888" y="2331720"/>
            <a:ext cx="932688" cy="51206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Router</a:t>
            </a:r>
            <a:endParaRPr lang="en-US" sz="1020" dirty="0"/>
          </a:p>
          <a:p>
            <a:pPr marL="0" indent="0" algn="ctr">
              <a:buNone/>
            </a:pPr>
            <a:r>
              <a:rPr lang="en-US" sz="1020" dirty="0">
                <a:solidFill>
                  <a:srgbClr val="1E293B"/>
                </a:solidFill>
              </a:rPr>
              <a:t>Switch</a:t>
            </a:r>
            <a:endParaRPr lang="en-US" sz="1020" dirty="0"/>
          </a:p>
          <a:p>
            <a:pPr marL="0" indent="0" algn="ctr">
              <a:buNone/>
            </a:pPr>
            <a:r>
              <a:rPr lang="en-US" sz="1020" dirty="0">
                <a:solidFill>
                  <a:srgbClr val="1E293B"/>
                </a:solidFill>
              </a:rPr>
              <a:t>baseline</a:t>
            </a:r>
            <a:endParaRPr lang="en-US" sz="1020" dirty="0"/>
          </a:p>
        </p:txBody>
      </p:sp>
      <p:sp>
        <p:nvSpPr>
          <p:cNvPr id="16" name="Shape 13"/>
          <p:cNvSpPr/>
          <p:nvPr/>
        </p:nvSpPr>
        <p:spPr>
          <a:xfrm>
            <a:off x="8275320" y="2478024"/>
            <a:ext cx="310896" cy="0"/>
          </a:xfrm>
          <a:prstGeom prst="line">
            <a:avLst/>
          </a:prstGeom>
          <a:noFill/>
          <a:ln w="22860">
            <a:solidFill>
              <a:srgbClr val="94A3B8"/>
            </a:solidFill>
            <a:prstDash val="solid"/>
            <a:tailEnd type="triangle"/>
          </a:ln>
        </p:spPr>
        <p:txBody>
          <a:bodyPr/>
          <a:lstStyle/>
          <a:p>
            <a:endParaRPr lang="nb-NO"/>
          </a:p>
        </p:txBody>
      </p:sp>
      <p:sp>
        <p:nvSpPr>
          <p:cNvPr id="17" name="Shape 14"/>
          <p:cNvSpPr/>
          <p:nvPr/>
        </p:nvSpPr>
        <p:spPr>
          <a:xfrm>
            <a:off x="10058400" y="2478024"/>
            <a:ext cx="310896" cy="0"/>
          </a:xfrm>
          <a:prstGeom prst="line">
            <a:avLst/>
          </a:prstGeom>
          <a:noFill/>
          <a:ln w="22860">
            <a:solidFill>
              <a:srgbClr val="94A3B8"/>
            </a:solidFill>
            <a:prstDash val="solid"/>
            <a:tailEnd type="triangle"/>
          </a:ln>
        </p:spPr>
        <p:txBody>
          <a:bodyPr/>
          <a:lstStyle/>
          <a:p>
            <a:endParaRPr lang="nb-NO"/>
          </a:p>
        </p:txBody>
      </p:sp>
      <p:sp>
        <p:nvSpPr>
          <p:cNvPr id="18" name="Shape 15"/>
          <p:cNvSpPr/>
          <p:nvPr/>
        </p:nvSpPr>
        <p:spPr>
          <a:xfrm>
            <a:off x="6976872" y="3429000"/>
            <a:ext cx="4617720" cy="786384"/>
          </a:xfrm>
          <a:prstGeom prst="roundRect">
            <a:avLst>
              <a:gd name="adj" fmla="val 9302"/>
            </a:avLst>
          </a:prstGeom>
          <a:solidFill>
            <a:srgbClr val="FFFFFF"/>
          </a:solidFill>
          <a:ln w="10160">
            <a:solidFill>
              <a:srgbClr val="D8E0EA"/>
            </a:solidFill>
            <a:prstDash val="solid"/>
          </a:ln>
        </p:spPr>
        <p:txBody>
          <a:bodyPr/>
          <a:lstStyle/>
          <a:p>
            <a:endParaRPr lang="nb-NO"/>
          </a:p>
        </p:txBody>
      </p:sp>
      <p:sp>
        <p:nvSpPr>
          <p:cNvPr id="19" name="Shape 16"/>
          <p:cNvSpPr/>
          <p:nvPr/>
        </p:nvSpPr>
        <p:spPr>
          <a:xfrm>
            <a:off x="6976872" y="3429000"/>
            <a:ext cx="64008" cy="786384"/>
          </a:xfrm>
          <a:prstGeom prst="rect">
            <a:avLst/>
          </a:prstGeom>
          <a:solidFill>
            <a:srgbClr val="28A745"/>
          </a:solidFill>
          <a:ln w="12700">
            <a:solidFill>
              <a:srgbClr val="28A745"/>
            </a:solidFill>
            <a:prstDash val="solid"/>
          </a:ln>
        </p:spPr>
        <p:txBody>
          <a:bodyPr/>
          <a:lstStyle/>
          <a:p>
            <a:endParaRPr lang="nb-NO"/>
          </a:p>
        </p:txBody>
      </p:sp>
      <p:sp>
        <p:nvSpPr>
          <p:cNvPr id="20" name="Text 17"/>
          <p:cNvSpPr/>
          <p:nvPr/>
        </p:nvSpPr>
        <p:spPr>
          <a:xfrm>
            <a:off x="7159752" y="3566160"/>
            <a:ext cx="429768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Ny site</a:t>
            </a:r>
            <a:endParaRPr lang="en-US" sz="1650" dirty="0"/>
          </a:p>
        </p:txBody>
      </p:sp>
      <p:sp>
        <p:nvSpPr>
          <p:cNvPr id="21" name="Text 18"/>
          <p:cNvSpPr/>
          <p:nvPr/>
        </p:nvSpPr>
        <p:spPr>
          <a:xfrm>
            <a:off x="7159752" y="3867912"/>
            <a:ext cx="4297680" cy="237744"/>
          </a:xfrm>
          <a:prstGeom prst="rect">
            <a:avLst/>
          </a:prstGeom>
          <a:noFill/>
          <a:ln/>
        </p:spPr>
        <p:txBody>
          <a:bodyPr wrap="square" lIns="0" tIns="0" rIns="0" bIns="0" rtlCol="0" anchor="ctr">
            <a:normAutofit/>
          </a:bodyPr>
          <a:lstStyle/>
          <a:p>
            <a:pPr marL="0" indent="0">
              <a:buNone/>
            </a:pPr>
            <a:r>
              <a:rPr lang="en-US" sz="1120" dirty="0">
                <a:solidFill>
                  <a:srgbClr val="1E293B"/>
                </a:solidFill>
              </a:rPr>
              <a:t>Samme VLAN/VRF-struktur og DMVPN-baseline gjenbrukes. Færre manuelle endringer på hub.</a:t>
            </a:r>
            <a:endParaRPr lang="en-US" sz="1120" dirty="0"/>
          </a:p>
        </p:txBody>
      </p:sp>
      <p:sp>
        <p:nvSpPr>
          <p:cNvPr id="22" name="Shape 19"/>
          <p:cNvSpPr/>
          <p:nvPr/>
        </p:nvSpPr>
        <p:spPr>
          <a:xfrm>
            <a:off x="6976872" y="4370832"/>
            <a:ext cx="4617720" cy="786384"/>
          </a:xfrm>
          <a:prstGeom prst="roundRect">
            <a:avLst>
              <a:gd name="adj" fmla="val 9302"/>
            </a:avLst>
          </a:prstGeom>
          <a:solidFill>
            <a:srgbClr val="FFFFFF"/>
          </a:solidFill>
          <a:ln w="10160">
            <a:solidFill>
              <a:srgbClr val="D8E0EA"/>
            </a:solidFill>
            <a:prstDash val="solid"/>
          </a:ln>
        </p:spPr>
        <p:txBody>
          <a:bodyPr/>
          <a:lstStyle/>
          <a:p>
            <a:endParaRPr lang="nb-NO"/>
          </a:p>
        </p:txBody>
      </p:sp>
      <p:sp>
        <p:nvSpPr>
          <p:cNvPr id="23" name="Shape 20"/>
          <p:cNvSpPr/>
          <p:nvPr/>
        </p:nvSpPr>
        <p:spPr>
          <a:xfrm>
            <a:off x="6976872" y="4370832"/>
            <a:ext cx="64008" cy="786384"/>
          </a:xfrm>
          <a:prstGeom prst="rect">
            <a:avLst/>
          </a:prstGeom>
          <a:solidFill>
            <a:srgbClr val="2563EB"/>
          </a:solidFill>
          <a:ln w="12700">
            <a:solidFill>
              <a:srgbClr val="2563EB"/>
            </a:solidFill>
            <a:prstDash val="solid"/>
          </a:ln>
        </p:spPr>
        <p:txBody>
          <a:bodyPr/>
          <a:lstStyle/>
          <a:p>
            <a:endParaRPr lang="nb-NO"/>
          </a:p>
        </p:txBody>
      </p:sp>
      <p:sp>
        <p:nvSpPr>
          <p:cNvPr id="24" name="Text 21"/>
          <p:cNvSpPr/>
          <p:nvPr/>
        </p:nvSpPr>
        <p:spPr>
          <a:xfrm>
            <a:off x="7159752" y="4507992"/>
            <a:ext cx="429768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Tilgjengelighet</a:t>
            </a:r>
            <a:endParaRPr lang="en-US" sz="1650" dirty="0"/>
          </a:p>
        </p:txBody>
      </p:sp>
      <p:sp>
        <p:nvSpPr>
          <p:cNvPr id="25" name="Text 22"/>
          <p:cNvSpPr/>
          <p:nvPr/>
        </p:nvSpPr>
        <p:spPr>
          <a:xfrm>
            <a:off x="7159752" y="4809744"/>
            <a:ext cx="4297680" cy="237744"/>
          </a:xfrm>
          <a:prstGeom prst="rect">
            <a:avLst/>
          </a:prstGeom>
          <a:noFill/>
          <a:ln/>
        </p:spPr>
        <p:txBody>
          <a:bodyPr wrap="square" lIns="0" tIns="0" rIns="0" bIns="0" rtlCol="0" anchor="ctr">
            <a:normAutofit/>
          </a:bodyPr>
          <a:lstStyle/>
          <a:p>
            <a:pPr marL="0" indent="0">
              <a:buNone/>
            </a:pPr>
            <a:r>
              <a:rPr lang="en-US" sz="1120" dirty="0">
                <a:solidFill>
                  <a:srgbClr val="1E293B"/>
                </a:solidFill>
              </a:rPr>
              <a:t>EtherChannel, STP-beskyttelse og QoS reduserer konsekvensene av feil og kapasitetsmangel.</a:t>
            </a:r>
            <a:endParaRPr lang="en-US" sz="1120" dirty="0"/>
          </a:p>
        </p:txBody>
      </p:sp>
      <p:sp>
        <p:nvSpPr>
          <p:cNvPr id="26" name="Shape 23"/>
          <p:cNvSpPr/>
          <p:nvPr/>
        </p:nvSpPr>
        <p:spPr>
          <a:xfrm>
            <a:off x="6976872" y="5312664"/>
            <a:ext cx="4617720" cy="786384"/>
          </a:xfrm>
          <a:prstGeom prst="roundRect">
            <a:avLst>
              <a:gd name="adj" fmla="val 9302"/>
            </a:avLst>
          </a:prstGeom>
          <a:solidFill>
            <a:srgbClr val="FFFFFF"/>
          </a:solidFill>
          <a:ln w="10160">
            <a:solidFill>
              <a:srgbClr val="D8E0EA"/>
            </a:solidFill>
            <a:prstDash val="solid"/>
          </a:ln>
        </p:spPr>
        <p:txBody>
          <a:bodyPr/>
          <a:lstStyle/>
          <a:p>
            <a:endParaRPr lang="nb-NO"/>
          </a:p>
        </p:txBody>
      </p:sp>
      <p:sp>
        <p:nvSpPr>
          <p:cNvPr id="27" name="Shape 24"/>
          <p:cNvSpPr/>
          <p:nvPr/>
        </p:nvSpPr>
        <p:spPr>
          <a:xfrm>
            <a:off x="6976872" y="5312664"/>
            <a:ext cx="64008" cy="786384"/>
          </a:xfrm>
          <a:prstGeom prst="rect">
            <a:avLst/>
          </a:prstGeom>
          <a:solidFill>
            <a:srgbClr val="D97706"/>
          </a:solidFill>
          <a:ln w="12700">
            <a:solidFill>
              <a:srgbClr val="D97706"/>
            </a:solidFill>
            <a:prstDash val="solid"/>
          </a:ln>
        </p:spPr>
        <p:txBody>
          <a:bodyPr/>
          <a:lstStyle/>
          <a:p>
            <a:endParaRPr lang="nb-NO"/>
          </a:p>
        </p:txBody>
      </p:sp>
      <p:sp>
        <p:nvSpPr>
          <p:cNvPr id="28" name="Text 25"/>
          <p:cNvSpPr/>
          <p:nvPr/>
        </p:nvSpPr>
        <p:spPr>
          <a:xfrm>
            <a:off x="7159752" y="5449824"/>
            <a:ext cx="4297680" cy="256032"/>
          </a:xfrm>
          <a:prstGeom prst="rect">
            <a:avLst/>
          </a:prstGeom>
          <a:noFill/>
          <a:ln/>
        </p:spPr>
        <p:txBody>
          <a:bodyPr wrap="square" lIns="0" tIns="0" rIns="0" bIns="0" rtlCol="0" anchor="ctr">
            <a:normAutofit/>
          </a:bodyPr>
          <a:lstStyle/>
          <a:p>
            <a:pPr marL="0" indent="0">
              <a:buNone/>
            </a:pPr>
            <a:r>
              <a:rPr lang="en-US" sz="1650" b="1" dirty="0">
                <a:solidFill>
                  <a:srgbClr val="0F172A"/>
                </a:solidFill>
              </a:rPr>
              <a:t>Kontrollert innføring</a:t>
            </a:r>
            <a:endParaRPr lang="en-US" sz="1650" dirty="0"/>
          </a:p>
        </p:txBody>
      </p:sp>
      <p:sp>
        <p:nvSpPr>
          <p:cNvPr id="29" name="Text 26"/>
          <p:cNvSpPr/>
          <p:nvPr/>
        </p:nvSpPr>
        <p:spPr>
          <a:xfrm>
            <a:off x="7159752" y="5751576"/>
            <a:ext cx="4297680" cy="237744"/>
          </a:xfrm>
          <a:prstGeom prst="rect">
            <a:avLst/>
          </a:prstGeom>
          <a:noFill/>
          <a:ln/>
        </p:spPr>
        <p:txBody>
          <a:bodyPr wrap="square" lIns="0" tIns="0" rIns="0" bIns="0" rtlCol="0" anchor="ctr">
            <a:normAutofit/>
          </a:bodyPr>
          <a:lstStyle/>
          <a:p>
            <a:pPr marL="0" indent="0">
              <a:buNone/>
            </a:pPr>
            <a:r>
              <a:rPr lang="en-US" sz="1120" dirty="0">
                <a:solidFill>
                  <a:srgbClr val="1E293B"/>
                </a:solidFill>
              </a:rPr>
              <a:t>Konfigurasjonen testes i lab før produksjon og dokumenteres for senere kontingenter.</a:t>
            </a:r>
            <a:endParaRPr lang="en-US" sz="1120" dirty="0"/>
          </a:p>
        </p:txBody>
      </p:sp>
      <p:sp>
        <p:nvSpPr>
          <p:cNvPr id="30"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10896"/>
            <a:ext cx="7955280" cy="402336"/>
          </a:xfrm>
          <a:prstGeom prst="rect">
            <a:avLst/>
          </a:prstGeom>
          <a:noFill/>
          <a:ln/>
        </p:spPr>
        <p:txBody>
          <a:bodyPr wrap="square" lIns="0" tIns="0" rIns="0" bIns="0" rtlCol="0" anchor="ctr">
            <a:normAutofit/>
          </a:bodyPr>
          <a:lstStyle/>
          <a:p>
            <a:pPr marL="0" indent="0">
              <a:buNone/>
            </a:pPr>
            <a:r>
              <a:rPr lang="en-US" sz="2700" b="1" dirty="0">
                <a:solidFill>
                  <a:srgbClr val="0B1F33"/>
                </a:solidFill>
                <a:latin typeface="Aptos Display" pitchFamily="34" charset="0"/>
                <a:ea typeface="Aptos Display" pitchFamily="34" charset="-122"/>
                <a:cs typeface="Aptos Display" pitchFamily="34" charset="-120"/>
              </a:rPr>
              <a:t>8. Hvorfor denne løsningen?</a:t>
            </a:r>
            <a:endParaRPr lang="en-US" sz="2700" dirty="0"/>
          </a:p>
        </p:txBody>
      </p:sp>
      <p:sp>
        <p:nvSpPr>
          <p:cNvPr id="3" name="Text 1"/>
          <p:cNvSpPr/>
          <p:nvPr/>
        </p:nvSpPr>
        <p:spPr>
          <a:xfrm>
            <a:off x="566928" y="749808"/>
            <a:ext cx="10789920" cy="310896"/>
          </a:xfrm>
          <a:prstGeom prst="rect">
            <a:avLst/>
          </a:prstGeom>
          <a:noFill/>
          <a:ln/>
        </p:spPr>
        <p:txBody>
          <a:bodyPr wrap="square" lIns="0" tIns="0" rIns="0" bIns="0" rtlCol="0" anchor="ctr">
            <a:normAutofit/>
          </a:bodyPr>
          <a:lstStyle/>
          <a:p>
            <a:pPr marL="0" indent="0">
              <a:buNone/>
            </a:pPr>
            <a:r>
              <a:rPr lang="en-US" sz="1250" dirty="0">
                <a:solidFill>
                  <a:srgbClr val="64748B"/>
                </a:solidFill>
              </a:rPr>
              <a:t>Designet møter kravene uten å gjøre transportnettet eller driften unødvendig komplisert.</a:t>
            </a:r>
            <a:endParaRPr lang="en-US" sz="1250" dirty="0"/>
          </a:p>
        </p:txBody>
      </p:sp>
      <p:sp>
        <p:nvSpPr>
          <p:cNvPr id="4" name="Shape 2"/>
          <p:cNvSpPr/>
          <p:nvPr/>
        </p:nvSpPr>
        <p:spPr>
          <a:xfrm>
            <a:off x="685800" y="1417320"/>
            <a:ext cx="3520440" cy="1508760"/>
          </a:xfrm>
          <a:prstGeom prst="roundRect">
            <a:avLst>
              <a:gd name="adj" fmla="val 4848"/>
            </a:avLst>
          </a:prstGeom>
          <a:solidFill>
            <a:srgbClr val="EAF7EE"/>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5" name="Shape 3"/>
          <p:cNvSpPr/>
          <p:nvPr/>
        </p:nvSpPr>
        <p:spPr>
          <a:xfrm>
            <a:off x="685800" y="1417320"/>
            <a:ext cx="64008" cy="1508760"/>
          </a:xfrm>
          <a:prstGeom prst="rect">
            <a:avLst/>
          </a:prstGeom>
          <a:solidFill>
            <a:srgbClr val="28A745"/>
          </a:solidFill>
          <a:ln w="12700">
            <a:solidFill>
              <a:srgbClr val="28A745"/>
            </a:solidFill>
            <a:prstDash val="solid"/>
          </a:ln>
        </p:spPr>
        <p:txBody>
          <a:bodyPr/>
          <a:lstStyle/>
          <a:p>
            <a:endParaRPr lang="nb-NO"/>
          </a:p>
        </p:txBody>
      </p:sp>
      <p:sp>
        <p:nvSpPr>
          <p:cNvPr id="6" name="Text 4"/>
          <p:cNvSpPr/>
          <p:nvPr/>
        </p:nvSpPr>
        <p:spPr>
          <a:xfrm>
            <a:off x="868680" y="1554480"/>
            <a:ext cx="3200400" cy="256032"/>
          </a:xfrm>
          <a:prstGeom prst="rect">
            <a:avLst/>
          </a:prstGeom>
          <a:noFill/>
          <a:ln/>
        </p:spPr>
        <p:txBody>
          <a:bodyPr wrap="square" lIns="0" tIns="0" rIns="0" bIns="0" rtlCol="0" anchor="ctr">
            <a:normAutofit/>
          </a:bodyPr>
          <a:lstStyle/>
          <a:p>
            <a:pPr marL="0" indent="0">
              <a:buNone/>
            </a:pPr>
            <a:r>
              <a:rPr lang="en-US" sz="1800" b="1" dirty="0">
                <a:solidFill>
                  <a:srgbClr val="0F172A"/>
                </a:solidFill>
              </a:rPr>
              <a:t>Sikkerhet</a:t>
            </a:r>
            <a:endParaRPr lang="en-US" sz="1800" dirty="0"/>
          </a:p>
        </p:txBody>
      </p:sp>
      <p:sp>
        <p:nvSpPr>
          <p:cNvPr id="7" name="Text 5"/>
          <p:cNvSpPr/>
          <p:nvPr/>
        </p:nvSpPr>
        <p:spPr>
          <a:xfrm>
            <a:off x="868680" y="1856232"/>
            <a:ext cx="3200400" cy="960120"/>
          </a:xfrm>
          <a:prstGeom prst="rect">
            <a:avLst/>
          </a:prstGeom>
          <a:noFill/>
          <a:ln/>
        </p:spPr>
        <p:txBody>
          <a:bodyPr wrap="square" lIns="0" tIns="0" rIns="0" bIns="0" rtlCol="0" anchor="ctr">
            <a:normAutofit/>
          </a:bodyPr>
          <a:lstStyle/>
          <a:p>
            <a:pPr marL="0" indent="0">
              <a:buNone/>
            </a:pPr>
            <a:r>
              <a:rPr lang="en-US" sz="1230" dirty="0">
                <a:solidFill>
                  <a:srgbClr val="1E293B"/>
                </a:solidFill>
              </a:rPr>
              <a:t>VRF/VLAN, least-privilege ACL, Layer 2-beskyttelse, SSH/TACACS+ og IPsec.</a:t>
            </a:r>
            <a:endParaRPr lang="en-US" sz="1230" dirty="0"/>
          </a:p>
        </p:txBody>
      </p:sp>
      <p:sp>
        <p:nvSpPr>
          <p:cNvPr id="8" name="Shape 6"/>
          <p:cNvSpPr/>
          <p:nvPr/>
        </p:nvSpPr>
        <p:spPr>
          <a:xfrm>
            <a:off x="4343400" y="1417320"/>
            <a:ext cx="3520440" cy="1508760"/>
          </a:xfrm>
          <a:prstGeom prst="roundRect">
            <a:avLst>
              <a:gd name="adj" fmla="val 4848"/>
            </a:avLst>
          </a:prstGeom>
          <a:solidFill>
            <a:srgbClr val="EAF2FF"/>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9" name="Shape 7"/>
          <p:cNvSpPr/>
          <p:nvPr/>
        </p:nvSpPr>
        <p:spPr>
          <a:xfrm>
            <a:off x="4343400" y="1417320"/>
            <a:ext cx="64008" cy="1508760"/>
          </a:xfrm>
          <a:prstGeom prst="rect">
            <a:avLst/>
          </a:prstGeom>
          <a:solidFill>
            <a:srgbClr val="2563EB"/>
          </a:solidFill>
          <a:ln w="12700">
            <a:solidFill>
              <a:srgbClr val="2563EB"/>
            </a:solidFill>
            <a:prstDash val="solid"/>
          </a:ln>
        </p:spPr>
        <p:txBody>
          <a:bodyPr/>
          <a:lstStyle/>
          <a:p>
            <a:endParaRPr lang="nb-NO"/>
          </a:p>
        </p:txBody>
      </p:sp>
      <p:sp>
        <p:nvSpPr>
          <p:cNvPr id="10" name="Text 8"/>
          <p:cNvSpPr/>
          <p:nvPr/>
        </p:nvSpPr>
        <p:spPr>
          <a:xfrm>
            <a:off x="4526280" y="1554480"/>
            <a:ext cx="3200400" cy="256032"/>
          </a:xfrm>
          <a:prstGeom prst="rect">
            <a:avLst/>
          </a:prstGeom>
          <a:noFill/>
          <a:ln/>
        </p:spPr>
        <p:txBody>
          <a:bodyPr wrap="square" lIns="0" tIns="0" rIns="0" bIns="0" rtlCol="0" anchor="ctr">
            <a:normAutofit/>
          </a:bodyPr>
          <a:lstStyle/>
          <a:p>
            <a:pPr marL="0" indent="0">
              <a:buNone/>
            </a:pPr>
            <a:r>
              <a:rPr lang="en-US" sz="1800" b="1" dirty="0">
                <a:solidFill>
                  <a:srgbClr val="0F172A"/>
                </a:solidFill>
              </a:rPr>
              <a:t>Skalerbarhet</a:t>
            </a:r>
            <a:endParaRPr lang="en-US" sz="1800" dirty="0"/>
          </a:p>
        </p:txBody>
      </p:sp>
      <p:sp>
        <p:nvSpPr>
          <p:cNvPr id="11" name="Text 9"/>
          <p:cNvSpPr/>
          <p:nvPr/>
        </p:nvSpPr>
        <p:spPr>
          <a:xfrm>
            <a:off x="4526280" y="1856232"/>
            <a:ext cx="3200400" cy="960120"/>
          </a:xfrm>
          <a:prstGeom prst="rect">
            <a:avLst/>
          </a:prstGeom>
          <a:noFill/>
          <a:ln/>
        </p:spPr>
        <p:txBody>
          <a:bodyPr wrap="square" lIns="0" tIns="0" rIns="0" bIns="0" rtlCol="0" anchor="ctr">
            <a:normAutofit/>
          </a:bodyPr>
          <a:lstStyle/>
          <a:p>
            <a:pPr marL="0" indent="0">
              <a:buNone/>
            </a:pPr>
            <a:r>
              <a:rPr lang="en-US" sz="1230" dirty="0">
                <a:solidFill>
                  <a:srgbClr val="1E293B"/>
                </a:solidFill>
              </a:rPr>
              <a:t>DMVPN Phase 3, EIGRP og standardiserte sites gjør vekst enklere.</a:t>
            </a:r>
            <a:endParaRPr lang="en-US" sz="1230" dirty="0"/>
          </a:p>
        </p:txBody>
      </p:sp>
      <p:sp>
        <p:nvSpPr>
          <p:cNvPr id="12" name="Shape 10"/>
          <p:cNvSpPr/>
          <p:nvPr/>
        </p:nvSpPr>
        <p:spPr>
          <a:xfrm>
            <a:off x="8001000" y="1417320"/>
            <a:ext cx="3520440" cy="1508760"/>
          </a:xfrm>
          <a:prstGeom prst="roundRect">
            <a:avLst>
              <a:gd name="adj" fmla="val 4848"/>
            </a:avLst>
          </a:prstGeom>
          <a:solidFill>
            <a:srgbClr val="F1EBFF"/>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13" name="Shape 11"/>
          <p:cNvSpPr/>
          <p:nvPr/>
        </p:nvSpPr>
        <p:spPr>
          <a:xfrm>
            <a:off x="8001000" y="1417320"/>
            <a:ext cx="64008" cy="1508760"/>
          </a:xfrm>
          <a:prstGeom prst="rect">
            <a:avLst/>
          </a:prstGeom>
          <a:solidFill>
            <a:srgbClr val="7C3AED"/>
          </a:solidFill>
          <a:ln w="12700">
            <a:solidFill>
              <a:srgbClr val="7C3AED"/>
            </a:solidFill>
            <a:prstDash val="solid"/>
          </a:ln>
        </p:spPr>
        <p:txBody>
          <a:bodyPr/>
          <a:lstStyle/>
          <a:p>
            <a:endParaRPr lang="nb-NO"/>
          </a:p>
        </p:txBody>
      </p:sp>
      <p:sp>
        <p:nvSpPr>
          <p:cNvPr id="14" name="Text 12"/>
          <p:cNvSpPr/>
          <p:nvPr/>
        </p:nvSpPr>
        <p:spPr>
          <a:xfrm>
            <a:off x="8183880" y="1554480"/>
            <a:ext cx="3200400" cy="256032"/>
          </a:xfrm>
          <a:prstGeom prst="rect">
            <a:avLst/>
          </a:prstGeom>
          <a:noFill/>
          <a:ln/>
        </p:spPr>
        <p:txBody>
          <a:bodyPr wrap="square" lIns="0" tIns="0" rIns="0" bIns="0" rtlCol="0" anchor="ctr">
            <a:normAutofit/>
          </a:bodyPr>
          <a:lstStyle/>
          <a:p>
            <a:pPr marL="0" indent="0">
              <a:buNone/>
            </a:pPr>
            <a:r>
              <a:rPr lang="en-US" sz="1800" b="1" dirty="0">
                <a:solidFill>
                  <a:srgbClr val="0F172A"/>
                </a:solidFill>
              </a:rPr>
              <a:t>Synlighet</a:t>
            </a:r>
            <a:endParaRPr lang="en-US" sz="1800" dirty="0"/>
          </a:p>
        </p:txBody>
      </p:sp>
      <p:sp>
        <p:nvSpPr>
          <p:cNvPr id="15" name="Text 13"/>
          <p:cNvSpPr/>
          <p:nvPr/>
        </p:nvSpPr>
        <p:spPr>
          <a:xfrm>
            <a:off x="8183880" y="1856232"/>
            <a:ext cx="3200400" cy="960120"/>
          </a:xfrm>
          <a:prstGeom prst="rect">
            <a:avLst/>
          </a:prstGeom>
          <a:noFill/>
          <a:ln/>
        </p:spPr>
        <p:txBody>
          <a:bodyPr wrap="square" lIns="0" tIns="0" rIns="0" bIns="0" rtlCol="0" anchor="ctr">
            <a:normAutofit/>
          </a:bodyPr>
          <a:lstStyle/>
          <a:p>
            <a:pPr marL="0" indent="0">
              <a:buNone/>
            </a:pPr>
            <a:r>
              <a:rPr lang="en-US" sz="1230" dirty="0">
                <a:solidFill>
                  <a:srgbClr val="1E293B"/>
                </a:solidFill>
              </a:rPr>
              <a:t>Sentral syslog, NTP, ERSPAN og Security Onion gir bedre deteksjon og feilsøking.</a:t>
            </a:r>
            <a:endParaRPr lang="en-US" sz="1230" dirty="0"/>
          </a:p>
        </p:txBody>
      </p:sp>
      <p:sp>
        <p:nvSpPr>
          <p:cNvPr id="16" name="Shape 14"/>
          <p:cNvSpPr/>
          <p:nvPr/>
        </p:nvSpPr>
        <p:spPr>
          <a:xfrm>
            <a:off x="2514600" y="3182112"/>
            <a:ext cx="3520440" cy="1508760"/>
          </a:xfrm>
          <a:prstGeom prst="roundRect">
            <a:avLst>
              <a:gd name="adj" fmla="val 4848"/>
            </a:avLst>
          </a:prstGeom>
          <a:solidFill>
            <a:srgbClr val="FFF4E5"/>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17" name="Shape 15"/>
          <p:cNvSpPr/>
          <p:nvPr/>
        </p:nvSpPr>
        <p:spPr>
          <a:xfrm>
            <a:off x="2514600" y="3182112"/>
            <a:ext cx="64008" cy="1508760"/>
          </a:xfrm>
          <a:prstGeom prst="rect">
            <a:avLst/>
          </a:prstGeom>
          <a:solidFill>
            <a:srgbClr val="D97706"/>
          </a:solidFill>
          <a:ln w="12700">
            <a:solidFill>
              <a:srgbClr val="D97706"/>
            </a:solidFill>
            <a:prstDash val="solid"/>
          </a:ln>
        </p:spPr>
        <p:txBody>
          <a:bodyPr/>
          <a:lstStyle/>
          <a:p>
            <a:endParaRPr lang="nb-NO"/>
          </a:p>
        </p:txBody>
      </p:sp>
      <p:sp>
        <p:nvSpPr>
          <p:cNvPr id="18" name="Text 16"/>
          <p:cNvSpPr/>
          <p:nvPr/>
        </p:nvSpPr>
        <p:spPr>
          <a:xfrm>
            <a:off x="2697480" y="3319272"/>
            <a:ext cx="3200400" cy="256032"/>
          </a:xfrm>
          <a:prstGeom prst="rect">
            <a:avLst/>
          </a:prstGeom>
          <a:noFill/>
          <a:ln/>
        </p:spPr>
        <p:txBody>
          <a:bodyPr wrap="square" lIns="0" tIns="0" rIns="0" bIns="0" rtlCol="0" anchor="ctr">
            <a:normAutofit/>
          </a:bodyPr>
          <a:lstStyle/>
          <a:p>
            <a:pPr marL="0" indent="0">
              <a:buNone/>
            </a:pPr>
            <a:r>
              <a:rPr lang="en-US" sz="1800" b="1" dirty="0">
                <a:solidFill>
                  <a:srgbClr val="0F172A"/>
                </a:solidFill>
              </a:rPr>
              <a:t>Gjenbruk</a:t>
            </a:r>
            <a:endParaRPr lang="en-US" sz="1800" dirty="0"/>
          </a:p>
        </p:txBody>
      </p:sp>
      <p:sp>
        <p:nvSpPr>
          <p:cNvPr id="19" name="Text 17"/>
          <p:cNvSpPr/>
          <p:nvPr/>
        </p:nvSpPr>
        <p:spPr>
          <a:xfrm>
            <a:off x="2697480" y="3621024"/>
            <a:ext cx="3200400" cy="960120"/>
          </a:xfrm>
          <a:prstGeom prst="rect">
            <a:avLst/>
          </a:prstGeom>
          <a:noFill/>
          <a:ln/>
        </p:spPr>
        <p:txBody>
          <a:bodyPr wrap="square" lIns="0" tIns="0" rIns="0" bIns="0" rtlCol="0" anchor="ctr">
            <a:normAutofit/>
          </a:bodyPr>
          <a:lstStyle/>
          <a:p>
            <a:pPr marL="0" indent="0">
              <a:buNone/>
            </a:pPr>
            <a:r>
              <a:rPr lang="en-US" sz="1230" dirty="0">
                <a:solidFill>
                  <a:srgbClr val="1E293B"/>
                </a:solidFill>
              </a:rPr>
              <a:t>Litauisk L3-VPN beholdes uendret og eksisterende Cisco-utstyr brukes så langt som mulig.</a:t>
            </a:r>
            <a:endParaRPr lang="en-US" sz="1230" dirty="0"/>
          </a:p>
        </p:txBody>
      </p:sp>
      <p:sp>
        <p:nvSpPr>
          <p:cNvPr id="20" name="Shape 18"/>
          <p:cNvSpPr/>
          <p:nvPr/>
        </p:nvSpPr>
        <p:spPr>
          <a:xfrm>
            <a:off x="6172200" y="3182112"/>
            <a:ext cx="3520440" cy="1508760"/>
          </a:xfrm>
          <a:prstGeom prst="roundRect">
            <a:avLst>
              <a:gd name="adj" fmla="val 4848"/>
            </a:avLst>
          </a:prstGeom>
          <a:solidFill>
            <a:srgbClr val="FDECEC"/>
          </a:solidFill>
          <a:ln w="10160">
            <a:solidFill>
              <a:srgbClr val="D8E0EA"/>
            </a:solidFill>
            <a:prstDash val="solid"/>
          </a:ln>
          <a:effectLst>
            <a:outerShdw algn="bl" rotWithShape="0">
              <a:srgbClr val="000000">
                <a:alpha val="0"/>
              </a:srgbClr>
            </a:outerShdw>
          </a:effectLst>
        </p:spPr>
        <p:txBody>
          <a:bodyPr/>
          <a:lstStyle/>
          <a:p>
            <a:endParaRPr lang="nb-NO"/>
          </a:p>
        </p:txBody>
      </p:sp>
      <p:sp>
        <p:nvSpPr>
          <p:cNvPr id="21" name="Shape 19"/>
          <p:cNvSpPr/>
          <p:nvPr/>
        </p:nvSpPr>
        <p:spPr>
          <a:xfrm>
            <a:off x="6172200" y="3182112"/>
            <a:ext cx="64008" cy="1508760"/>
          </a:xfrm>
          <a:prstGeom prst="rect">
            <a:avLst/>
          </a:prstGeom>
          <a:solidFill>
            <a:srgbClr val="DC2626"/>
          </a:solidFill>
          <a:ln w="12700">
            <a:solidFill>
              <a:srgbClr val="DC2626"/>
            </a:solidFill>
            <a:prstDash val="solid"/>
          </a:ln>
        </p:spPr>
        <p:txBody>
          <a:bodyPr/>
          <a:lstStyle/>
          <a:p>
            <a:endParaRPr lang="nb-NO"/>
          </a:p>
        </p:txBody>
      </p:sp>
      <p:sp>
        <p:nvSpPr>
          <p:cNvPr id="22" name="Text 20"/>
          <p:cNvSpPr/>
          <p:nvPr/>
        </p:nvSpPr>
        <p:spPr>
          <a:xfrm>
            <a:off x="6355080" y="3319272"/>
            <a:ext cx="3200400" cy="256032"/>
          </a:xfrm>
          <a:prstGeom prst="rect">
            <a:avLst/>
          </a:prstGeom>
          <a:noFill/>
          <a:ln/>
        </p:spPr>
        <p:txBody>
          <a:bodyPr wrap="square" lIns="0" tIns="0" rIns="0" bIns="0" rtlCol="0" anchor="ctr">
            <a:normAutofit/>
          </a:bodyPr>
          <a:lstStyle/>
          <a:p>
            <a:pPr marL="0" indent="0">
              <a:buNone/>
            </a:pPr>
            <a:r>
              <a:rPr lang="en-US" sz="1800" b="1" dirty="0">
                <a:solidFill>
                  <a:srgbClr val="0F172A"/>
                </a:solidFill>
              </a:rPr>
              <a:t>Drift</a:t>
            </a:r>
            <a:endParaRPr lang="en-US" sz="1800" dirty="0"/>
          </a:p>
        </p:txBody>
      </p:sp>
      <p:sp>
        <p:nvSpPr>
          <p:cNvPr id="23" name="Text 21"/>
          <p:cNvSpPr/>
          <p:nvPr/>
        </p:nvSpPr>
        <p:spPr>
          <a:xfrm>
            <a:off x="6355080" y="3621024"/>
            <a:ext cx="3200400" cy="960120"/>
          </a:xfrm>
          <a:prstGeom prst="rect">
            <a:avLst/>
          </a:prstGeom>
          <a:noFill/>
          <a:ln/>
        </p:spPr>
        <p:txBody>
          <a:bodyPr wrap="square" lIns="0" tIns="0" rIns="0" bIns="0" rtlCol="0" anchor="ctr">
            <a:normAutofit/>
          </a:bodyPr>
          <a:lstStyle/>
          <a:p>
            <a:pPr marL="0" indent="0">
              <a:buNone/>
            </a:pPr>
            <a:r>
              <a:rPr lang="en-US" sz="1230" dirty="0">
                <a:solidFill>
                  <a:srgbClr val="1E293B"/>
                </a:solidFill>
              </a:rPr>
              <a:t>Konfigurasjonsgenerator, felles baseline og labtesting reduserer konfigurasjonsavvik og risiko.</a:t>
            </a:r>
            <a:endParaRPr lang="en-US" sz="1230" dirty="0"/>
          </a:p>
        </p:txBody>
      </p:sp>
      <p:sp>
        <p:nvSpPr>
          <p:cNvPr id="24" name="Shape 22"/>
          <p:cNvSpPr/>
          <p:nvPr/>
        </p:nvSpPr>
        <p:spPr>
          <a:xfrm>
            <a:off x="1005840" y="5166360"/>
            <a:ext cx="10149840" cy="777240"/>
          </a:xfrm>
          <a:prstGeom prst="roundRect">
            <a:avLst>
              <a:gd name="adj" fmla="val 7059"/>
            </a:avLst>
          </a:prstGeom>
          <a:solidFill>
            <a:srgbClr val="0B1F33"/>
          </a:solidFill>
          <a:ln w="12700">
            <a:solidFill>
              <a:srgbClr val="0B1F33"/>
            </a:solidFill>
            <a:prstDash val="solid"/>
          </a:ln>
          <a:effectLst>
            <a:outerShdw algn="bl" rotWithShape="0">
              <a:srgbClr val="000000">
                <a:alpha val="0"/>
              </a:srgbClr>
            </a:outerShdw>
          </a:effectLst>
        </p:spPr>
        <p:txBody>
          <a:bodyPr/>
          <a:lstStyle/>
          <a:p>
            <a:endParaRPr lang="nb-NO"/>
          </a:p>
        </p:txBody>
      </p:sp>
      <p:sp>
        <p:nvSpPr>
          <p:cNvPr id="25" name="Text 23"/>
          <p:cNvSpPr/>
          <p:nvPr/>
        </p:nvSpPr>
        <p:spPr>
          <a:xfrm>
            <a:off x="1280160" y="5413248"/>
            <a:ext cx="9601200" cy="228600"/>
          </a:xfrm>
          <a:prstGeom prst="rect">
            <a:avLst/>
          </a:prstGeom>
          <a:noFill/>
          <a:ln/>
        </p:spPr>
        <p:txBody>
          <a:bodyPr wrap="square" lIns="0" tIns="0" rIns="0" bIns="0" rtlCol="0" anchor="ctr">
            <a:normAutofit/>
          </a:bodyPr>
          <a:lstStyle/>
          <a:p>
            <a:pPr marL="0" indent="0" algn="ctr">
              <a:buNone/>
            </a:pPr>
            <a:r>
              <a:rPr lang="en-US" sz="1850" b="1" dirty="0">
                <a:solidFill>
                  <a:srgbClr val="FFFFFF"/>
                </a:solidFill>
              </a:rPr>
              <a:t>Behold underlayet. Segmenter tjenestene. Sikre overlayet. Standardiser driften.</a:t>
            </a:r>
            <a:endParaRPr lang="en-US" sz="1850" dirty="0"/>
          </a:p>
        </p:txBody>
      </p:sp>
      <p:sp>
        <p:nvSpPr>
          <p:cNvPr id="26" name="Text 24"/>
          <p:cNvSpPr/>
          <p:nvPr/>
        </p:nvSpPr>
        <p:spPr>
          <a:xfrm>
            <a:off x="5074920" y="6080760"/>
            <a:ext cx="2011680" cy="292608"/>
          </a:xfrm>
          <a:prstGeom prst="rect">
            <a:avLst/>
          </a:prstGeom>
          <a:noFill/>
          <a:ln/>
        </p:spPr>
        <p:txBody>
          <a:bodyPr wrap="square" lIns="0" tIns="0" rIns="0" bIns="0" rtlCol="0" anchor="ctr"/>
          <a:lstStyle/>
          <a:p>
            <a:pPr marL="0" indent="0" algn="ctr">
              <a:buNone/>
            </a:pPr>
            <a:r>
              <a:rPr lang="en-US" sz="2100" b="1" dirty="0">
                <a:solidFill>
                  <a:srgbClr val="16A34A"/>
                </a:solidFill>
              </a:rPr>
              <a:t>Spørsmål?</a:t>
            </a:r>
            <a:endParaRPr lang="en-US" sz="2100" dirty="0"/>
          </a:p>
        </p:txBody>
      </p:sp>
      <p:sp>
        <p:nvSpPr>
          <p:cNvPr id="27" name="Slide Number Placeholder 0"/>
          <p:cNvSpPr>
            <a:spLocks noGrp="1"/>
          </p:cNvSpPr>
          <p:nvPr>
            <p:ph type="sldNum" sz="quarter" idx="4294967295"/>
          </p:nvPr>
        </p:nvSpPr>
        <p:spPr>
          <a:xfrm>
            <a:off x="11722608" y="6492240"/>
            <a:ext cx="22860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4748B"/>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1301</Words>
  <Application>Microsoft Office PowerPoint</Application>
  <PresentationFormat>Widescreen</PresentationFormat>
  <Paragraphs>185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NETworkSTUFF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Designløsning for bataljonsnettverk</dc:title>
  <dc:subject>Designpresentasjon – bataljonsnettverk</dc:subject>
  <dc:creator>OpenAI</dc:creator>
  <cp:lastModifiedBy>yonatan moknen</cp:lastModifiedBy>
  <cp:revision>6</cp:revision>
  <dcterms:created xsi:type="dcterms:W3CDTF">2026-09-21T14:36:40Z</dcterms:created>
  <dcterms:modified xsi:type="dcterms:W3CDTF">2026-09-21T20:01:47Z</dcterms:modified>
</cp:coreProperties>
</file>