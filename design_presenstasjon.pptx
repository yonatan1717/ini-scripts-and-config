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3" autoAdjust="0"/>
    <p:restoredTop sz="77234" autoAdjust="0"/>
  </p:normalViewPr>
  <p:slideViewPr>
    <p:cSldViewPr snapToGrid="0" snapToObjects="1">
      <p:cViewPr varScale="1">
        <p:scale>
          <a:sx n="63" d="100"/>
          <a:sy n="63" d="100"/>
        </p:scale>
        <p:origin x="122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003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har beholdt den eksisterende transporten, men bygget et segmentert og overvåkbart overlay oppå den. Målet er å redusere risiko uten å miste dagens funksjonalitet eller kreve store nyanskaffelser.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Nettet</a:t>
            </a:r>
            <a:r>
              <a:rPr lang="en-US" dirty="0"/>
              <a:t> var flatt, private DHCP-</a:t>
            </a:r>
            <a:r>
              <a:rPr lang="en-US" dirty="0" err="1"/>
              <a:t>enheter</a:t>
            </a:r>
            <a:r>
              <a:rPr lang="en-US" dirty="0"/>
              <a:t> </a:t>
            </a:r>
            <a:r>
              <a:rPr lang="en-US" dirty="0" err="1"/>
              <a:t>skapte</a:t>
            </a:r>
            <a:r>
              <a:rPr lang="en-US" dirty="0"/>
              <a:t> ustabilitet, og det </a:t>
            </a:r>
            <a:r>
              <a:rPr lang="en-US" dirty="0" err="1"/>
              <a:t>manglet</a:t>
            </a:r>
            <a:r>
              <a:rPr lang="en-US" dirty="0"/>
              <a:t> sentral logging og synlighet. </a:t>
            </a:r>
          </a:p>
          <a:p>
            <a:endParaRPr lang="en-US" dirty="0"/>
          </a:p>
          <a:p>
            <a:r>
              <a:rPr lang="en-US" dirty="0" err="1"/>
              <a:t>Samtidig</a:t>
            </a:r>
            <a:r>
              <a:rPr lang="en-US" dirty="0"/>
              <a:t> </a:t>
            </a:r>
            <a:r>
              <a:rPr lang="en-US" dirty="0" err="1"/>
              <a:t>måtte</a:t>
            </a:r>
            <a:r>
              <a:rPr lang="en-US" dirty="0"/>
              <a:t> vi gjenbruke eksisterende utstyr og ikke endre det litauiske Layer 3-VPN-et.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Designmålet</a:t>
            </a:r>
            <a:r>
              <a:rPr lang="en-US" dirty="0"/>
              <a:t> </a:t>
            </a:r>
            <a:r>
              <a:rPr lang="en-US" dirty="0" err="1"/>
              <a:t>ble</a:t>
            </a:r>
            <a:r>
              <a:rPr lang="en-US" dirty="0"/>
              <a:t> derfor å segmentere, begrense, overvåke og standardisere.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 litauiske VPN-en er bare transport og endres ikke. </a:t>
            </a:r>
          </a:p>
          <a:p>
            <a:endParaRPr lang="en-US" dirty="0"/>
          </a:p>
          <a:p>
            <a:r>
              <a:rPr lang="en-US" dirty="0"/>
              <a:t>Over den kjører vi separate DMVPN-overlay per VRF. </a:t>
            </a:r>
          </a:p>
          <a:p>
            <a:endParaRPr lang="en-US" dirty="0"/>
          </a:p>
          <a:p>
            <a:r>
              <a:rPr lang="en-US" dirty="0"/>
              <a:t>BNHQ er hub og samler sentrale tjenester som AAA, logging, NTP </a:t>
            </a:r>
            <a:r>
              <a:rPr lang="en-US" dirty="0" err="1"/>
              <a:t>og</a:t>
            </a:r>
            <a:r>
              <a:rPr lang="en-US" dirty="0"/>
              <a:t> IDS. </a:t>
            </a:r>
          </a:p>
          <a:p>
            <a:endParaRPr lang="en-US" dirty="0"/>
          </a:p>
          <a:p>
            <a:r>
              <a:rPr lang="en-US" dirty="0"/>
              <a:t>Operative overlay beskyttes med IPsec, mens INET ikke trenger samme beskyttelse. Monitoring-</a:t>
            </a:r>
            <a:r>
              <a:rPr lang="en-US" dirty="0" err="1"/>
              <a:t>trafikk</a:t>
            </a:r>
            <a:r>
              <a:rPr lang="en-US" dirty="0"/>
              <a:t> </a:t>
            </a:r>
            <a:r>
              <a:rPr lang="en-US" dirty="0" err="1"/>
              <a:t>speiles</a:t>
            </a:r>
            <a:r>
              <a:rPr lang="en-US" dirty="0"/>
              <a:t> med ERSPAN </a:t>
            </a:r>
            <a:r>
              <a:rPr lang="en-US" dirty="0" err="1"/>
              <a:t>til</a:t>
            </a:r>
            <a:r>
              <a:rPr lang="en-US" dirty="0"/>
              <a:t>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På</a:t>
            </a:r>
            <a:r>
              <a:rPr lang="en-US" dirty="0"/>
              <a:t> hvert site bruker vi samme fem </a:t>
            </a:r>
            <a:r>
              <a:rPr lang="en-US" dirty="0" err="1"/>
              <a:t>segmenter</a:t>
            </a:r>
            <a:r>
              <a:rPr lang="en-US" dirty="0"/>
              <a:t>, </a:t>
            </a:r>
            <a:r>
              <a:rPr lang="en-US" dirty="0" err="1"/>
              <a:t>hvor</a:t>
            </a:r>
            <a:r>
              <a:rPr lang="en-US" dirty="0"/>
              <a:t> VLAN skiller på Layer 2 og VRF skiller rutingtabellene på Layer 3.</a:t>
            </a:r>
          </a:p>
          <a:p>
            <a:endParaRPr lang="en-US" dirty="0"/>
          </a:p>
          <a:p>
            <a:r>
              <a:rPr lang="en-US" dirty="0" err="1"/>
              <a:t>Adresseplanen</a:t>
            </a:r>
            <a:r>
              <a:rPr lang="en-US" dirty="0"/>
              <a:t> er </a:t>
            </a:r>
            <a:r>
              <a:rPr lang="en-US" dirty="0" err="1"/>
              <a:t>konsekvent</a:t>
            </a:r>
            <a:r>
              <a:rPr lang="en-US" dirty="0"/>
              <a:t>, </a:t>
            </a:r>
            <a:r>
              <a:rPr lang="en-US" dirty="0" err="1"/>
              <a:t>hvor</a:t>
            </a:r>
            <a:r>
              <a:rPr lang="en-US" dirty="0"/>
              <a:t> andre oktett er site </a:t>
            </a:r>
            <a:r>
              <a:rPr lang="en-US" dirty="0" err="1"/>
              <a:t>nummer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tredje</a:t>
            </a:r>
            <a:r>
              <a:rPr lang="en-US" dirty="0"/>
              <a:t> </a:t>
            </a:r>
            <a:r>
              <a:rPr lang="en-US" dirty="0" err="1"/>
              <a:t>identifiserer</a:t>
            </a:r>
            <a:r>
              <a:rPr lang="en-US" dirty="0"/>
              <a:t> </a:t>
            </a:r>
            <a:r>
              <a:rPr lang="en-US" dirty="0" err="1"/>
              <a:t>tjenesten</a:t>
            </a:r>
            <a:r>
              <a:rPr lang="en-US" dirty="0"/>
              <a:t>/</a:t>
            </a:r>
            <a:r>
              <a:rPr lang="en-US" dirty="0" err="1"/>
              <a:t>vlan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Trafikk</a:t>
            </a:r>
            <a:r>
              <a:rPr lang="en-US" dirty="0"/>
              <a:t> mellom segmenter følger en </a:t>
            </a:r>
            <a:r>
              <a:rPr lang="en-US" dirty="0" err="1"/>
              <a:t>eksplisitt</a:t>
            </a:r>
            <a:r>
              <a:rPr lang="en-US" dirty="0"/>
              <a:t> </a:t>
            </a:r>
            <a:r>
              <a:rPr lang="en-US" dirty="0" err="1"/>
              <a:t>tjenestematrise</a:t>
            </a:r>
            <a:r>
              <a:rPr lang="en-US" dirty="0"/>
              <a:t> (ACL), og hver VRF fortsetter videre i sitt eget DMVPN-overlay.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Hvor</a:t>
            </a:r>
            <a:r>
              <a:rPr lang="en-US" dirty="0"/>
              <a:t> Huben er NHRP-server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kontrollpunkt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første</a:t>
            </a:r>
            <a:r>
              <a:rPr lang="en-US" dirty="0"/>
              <a:t> trafikk mellom to spokes kan gå via BNHQ. </a:t>
            </a:r>
          </a:p>
          <a:p>
            <a:endParaRPr lang="en-US" dirty="0"/>
          </a:p>
          <a:p>
            <a:r>
              <a:rPr lang="en-US" dirty="0"/>
              <a:t>Huben sender NHRP redirect, og spoke lærer en shortcut. </a:t>
            </a:r>
          </a:p>
          <a:p>
            <a:endParaRPr lang="en-US" dirty="0"/>
          </a:p>
          <a:p>
            <a:r>
              <a:rPr lang="en-US" dirty="0" err="1"/>
              <a:t>Deretter</a:t>
            </a:r>
            <a:r>
              <a:rPr lang="en-US" dirty="0"/>
              <a:t> kan selve datatrafikken gå direkte mellom sites. </a:t>
            </a:r>
          </a:p>
          <a:p>
            <a:endParaRPr lang="en-US" dirty="0"/>
          </a:p>
          <a:p>
            <a:r>
              <a:rPr lang="en-US" dirty="0"/>
              <a:t>Det reduserer belastningen på huben og gjør løsningen mer skalerbar.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På</a:t>
            </a:r>
            <a:r>
              <a:rPr lang="en-US" dirty="0"/>
              <a:t> accesslaget stopper DHCP Snooping falske DHCP-servere og gir bindinger som DAI og IP Source Guard kan bruke. </a:t>
            </a:r>
          </a:p>
          <a:p>
            <a:endParaRPr lang="en-US" dirty="0"/>
          </a:p>
          <a:p>
            <a:r>
              <a:rPr lang="en-US" dirty="0"/>
              <a:t>STP-</a:t>
            </a:r>
            <a:r>
              <a:rPr lang="en-US" dirty="0" err="1"/>
              <a:t>beskyttelsen</a:t>
            </a:r>
            <a:r>
              <a:rPr lang="en-US" dirty="0"/>
              <a:t> hindrer uautoriserte switcher og loops. </a:t>
            </a:r>
          </a:p>
          <a:p>
            <a:endParaRPr lang="en-US" dirty="0"/>
          </a:p>
          <a:p>
            <a:r>
              <a:rPr lang="en-US" dirty="0" err="1"/>
              <a:t>Administrasjon</a:t>
            </a:r>
            <a:r>
              <a:rPr lang="en-US" dirty="0"/>
              <a:t> begrenses til MGMT, </a:t>
            </a:r>
            <a:r>
              <a:rPr lang="en-US" dirty="0" err="1"/>
              <a:t>som</a:t>
            </a:r>
            <a:r>
              <a:rPr lang="en-US" dirty="0"/>
              <a:t> </a:t>
            </a:r>
            <a:r>
              <a:rPr lang="en-US" dirty="0" err="1"/>
              <a:t>skjer</a:t>
            </a:r>
            <a:r>
              <a:rPr lang="en-US" dirty="0"/>
              <a:t> over SSH og autentiseres med TACACS+ </a:t>
            </a:r>
            <a:r>
              <a:rPr lang="en-US" dirty="0" err="1"/>
              <a:t>og</a:t>
            </a:r>
            <a:r>
              <a:rPr lang="en-US" dirty="0"/>
              <a:t> IPsec beskytter de operative DMVPN-overlayene.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 er det viktig å skille mellom syslog og ERSPAN. </a:t>
            </a:r>
          </a:p>
          <a:p>
            <a:endParaRPr lang="en-US" dirty="0"/>
          </a:p>
          <a:p>
            <a:r>
              <a:rPr lang="en-US" dirty="0"/>
              <a:t>Syslog er hendelser fra nettverksenhetene. ERSPAN er kopier av utvalgte </a:t>
            </a:r>
            <a:r>
              <a:rPr lang="en-US" dirty="0" err="1"/>
              <a:t>datapakker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NTP sørger for felles tid, og TACACS+ gir sentral kontroll på administrativ </a:t>
            </a:r>
            <a:r>
              <a:rPr lang="en-US" dirty="0" err="1"/>
              <a:t>tilgang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Samlet gir dette langt bedre </a:t>
            </a:r>
            <a:r>
              <a:rPr lang="en-US" dirty="0" err="1"/>
              <a:t>synlighet</a:t>
            </a:r>
            <a:r>
              <a:rPr lang="en-US" dirty="0"/>
              <a:t> </a:t>
            </a:r>
            <a:r>
              <a:rPr lang="en-US" dirty="0" err="1"/>
              <a:t>enn</a:t>
            </a:r>
            <a:r>
              <a:rPr lang="en-US" dirty="0"/>
              <a:t> </a:t>
            </a:r>
            <a:r>
              <a:rPr lang="en-US" dirty="0" err="1"/>
              <a:t>nettet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Nettverket</a:t>
            </a:r>
            <a:r>
              <a:rPr lang="en-US" dirty="0"/>
              <a:t> skal være mulig å </a:t>
            </a:r>
            <a:r>
              <a:rPr lang="en-US" dirty="0" err="1"/>
              <a:t>driftes</a:t>
            </a:r>
            <a:r>
              <a:rPr lang="en-US" dirty="0"/>
              <a:t> av de </a:t>
            </a:r>
            <a:r>
              <a:rPr lang="en-US" dirty="0" err="1"/>
              <a:t>som</a:t>
            </a:r>
            <a:r>
              <a:rPr lang="en-US" dirty="0"/>
              <a:t> tar over, </a:t>
            </a:r>
            <a:r>
              <a:rPr lang="en-US" dirty="0" err="1"/>
              <a:t>altså</a:t>
            </a:r>
            <a:r>
              <a:rPr lang="en-US" dirty="0"/>
              <a:t> </a:t>
            </a:r>
            <a:r>
              <a:rPr lang="en-US" dirty="0" err="1"/>
              <a:t>neste</a:t>
            </a:r>
            <a:r>
              <a:rPr lang="en-US" dirty="0"/>
              <a:t> </a:t>
            </a:r>
            <a:r>
              <a:rPr lang="en-US" dirty="0" err="1"/>
              <a:t>kontigent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Derfor</a:t>
            </a:r>
            <a:r>
              <a:rPr lang="en-US" dirty="0"/>
              <a:t> bruker vi samme site-struktur og samme sikkerhetsbaseline overalt. </a:t>
            </a:r>
          </a:p>
          <a:p>
            <a:endParaRPr lang="en-US" dirty="0"/>
          </a:p>
          <a:p>
            <a:r>
              <a:rPr lang="en-US" dirty="0"/>
              <a:t>Excel-</a:t>
            </a:r>
            <a:r>
              <a:rPr lang="en-US" dirty="0" err="1"/>
              <a:t>malen</a:t>
            </a:r>
            <a:r>
              <a:rPr lang="en-US" dirty="0"/>
              <a:t> beskriver site, VLAN, VRF, policy og tjenester, og generatoren lager router- og switch-konfigurasjoner. </a:t>
            </a:r>
          </a:p>
          <a:p>
            <a:endParaRPr lang="en-US" dirty="0"/>
          </a:p>
          <a:p>
            <a:r>
              <a:rPr lang="en-US" dirty="0"/>
              <a:t>Nye sites blir derfor mer forutsigbare og mindre avhengige av manuell konfigurasjon.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endrer ikke transportnettet, men legger kontroll og sikkerhet i vårt eget overlay. </a:t>
            </a:r>
          </a:p>
          <a:p>
            <a:endParaRPr lang="en-US" dirty="0"/>
          </a:p>
          <a:p>
            <a:r>
              <a:rPr lang="en-US" dirty="0" err="1"/>
              <a:t>Løsningen</a:t>
            </a:r>
            <a:r>
              <a:rPr lang="en-US" dirty="0"/>
              <a:t> gir segmentering, skalerbarhet og synlighet, samtidig som vi gjenbruker eksisterende infrastruktur og </a:t>
            </a:r>
            <a:r>
              <a:rPr lang="en-US" dirty="0" err="1"/>
              <a:t>standardiserer</a:t>
            </a:r>
            <a:r>
              <a:rPr lang="en-US" dirty="0"/>
              <a:t> </a:t>
            </a:r>
            <a:r>
              <a:rPr lang="en-US" dirty="0" err="1"/>
              <a:t>driften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576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Bataljonsnettverk – designpresentasjon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9372600" y="65105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• sikkerhet • drift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" name="Text 2"/>
          <p:cNvSpPr/>
          <p:nvPr/>
        </p:nvSpPr>
        <p:spPr>
          <a:xfrm>
            <a:off x="713232" y="65836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65D68C"/>
                </a:solidFill>
              </a:rPr>
              <a:t>DESIGNPRESENTASJON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" y="1051560"/>
            <a:ext cx="6309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Ny nettverksdesign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 bataljonen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731520" y="2670048"/>
            <a:ext cx="5806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8E2ED"/>
                </a:solidFill>
              </a:rPr>
              <a:t>Segmentert, skalerbar og overvåkbar løsning over eksisterende Layer 3-VPN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79476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132D46">
              <a:alpha val="92000"/>
            </a:srgbClr>
          </a:solidFill>
          <a:ln w="12700">
            <a:solidFill>
              <a:srgbClr val="2D4963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/>
          <p:nvPr/>
        </p:nvSpPr>
        <p:spPr>
          <a:xfrm>
            <a:off x="960120" y="398678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5D68C"/>
                </a:solidFill>
              </a:rPr>
              <a:t>Designmål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426110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Redusere risiko uten å miste funksjonalitet, endre den litauiske transporttjenesten eller kreve store nyanskaffelser.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0" y="1005840"/>
            <a:ext cx="3886200" cy="4389120"/>
          </a:xfrm>
          <a:prstGeom prst="roundRect">
            <a:avLst>
              <a:gd name="adj" fmla="val 1882"/>
            </a:avLst>
          </a:prstGeom>
          <a:solidFill>
            <a:srgbClr val="102A43"/>
          </a:solidFill>
          <a:ln w="12700">
            <a:solidFill>
              <a:srgbClr val="24435F"/>
            </a:solidFill>
            <a:prstDash val="solid"/>
          </a:ln>
          <a:effectLst>
            <a:outerShdw blurRad="17780" dist="1016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1" name="Shape 9"/>
          <p:cNvSpPr/>
          <p:nvPr/>
        </p:nvSpPr>
        <p:spPr>
          <a:xfrm>
            <a:off x="7699248" y="1417320"/>
            <a:ext cx="3127248" cy="685800"/>
          </a:xfrm>
          <a:prstGeom prst="roundRect">
            <a:avLst>
              <a:gd name="adj" fmla="val 6667"/>
            </a:avLst>
          </a:prstGeom>
          <a:solidFill>
            <a:srgbClr val="183B57"/>
          </a:solidFill>
          <a:ln w="12700">
            <a:solidFill>
              <a:srgbClr val="183B5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Text 10"/>
          <p:cNvSpPr/>
          <p:nvPr/>
        </p:nvSpPr>
        <p:spPr>
          <a:xfrm>
            <a:off x="7909560" y="1536192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</a:rPr>
              <a:t>SENTRALE TJENESTER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7882128" y="1773936"/>
            <a:ext cx="27614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D4E5EC"/>
                </a:solidFill>
              </a:rPr>
              <a:t>AAA • Syslog • NTP • Security Onion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7699248" y="2331720"/>
            <a:ext cx="3127248" cy="685800"/>
          </a:xfrm>
          <a:prstGeom prst="roundRect">
            <a:avLst>
              <a:gd name="adj" fmla="val 6667"/>
            </a:avLst>
          </a:prstGeom>
          <a:solidFill>
            <a:srgbClr val="194B67"/>
          </a:solidFill>
          <a:ln w="12700">
            <a:solidFill>
              <a:srgbClr val="194B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Text 13"/>
          <p:cNvSpPr/>
          <p:nvPr/>
        </p:nvSpPr>
        <p:spPr>
          <a:xfrm>
            <a:off x="7909560" y="2450592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</a:rPr>
              <a:t>DMVPN PHASE 3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7882128" y="2688336"/>
            <a:ext cx="27614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D4E5EC"/>
                </a:solidFill>
              </a:rPr>
              <a:t>Dynamisk spoke-to-spoke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7699248" y="3246120"/>
            <a:ext cx="3127248" cy="685800"/>
          </a:xfrm>
          <a:prstGeom prst="roundRect">
            <a:avLst>
              <a:gd name="adj" fmla="val 6667"/>
            </a:avLst>
          </a:prstGeom>
          <a:solidFill>
            <a:srgbClr val="1A5B72"/>
          </a:solidFill>
          <a:ln w="12700">
            <a:solidFill>
              <a:srgbClr val="1A5B72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8" name="Text 16"/>
          <p:cNvSpPr/>
          <p:nvPr/>
        </p:nvSpPr>
        <p:spPr>
          <a:xfrm>
            <a:off x="7909560" y="3364992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</a:rPr>
              <a:t>VRF + VLAN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7882128" y="3602736"/>
            <a:ext cx="27614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D4E5EC"/>
                </a:solidFill>
              </a:rPr>
              <a:t>MGMT • INET • UNET • PA • MONITORING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7699248" y="4160520"/>
            <a:ext cx="3127248" cy="685800"/>
          </a:xfrm>
          <a:prstGeom prst="roundRect">
            <a:avLst>
              <a:gd name="adj" fmla="val 6667"/>
            </a:avLst>
          </a:prstGeom>
          <a:solidFill>
            <a:srgbClr val="1D6A6D"/>
          </a:solidFill>
          <a:ln w="12700">
            <a:solidFill>
              <a:srgbClr val="1D6A6D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Text 19"/>
          <p:cNvSpPr/>
          <p:nvPr/>
        </p:nvSpPr>
        <p:spPr>
          <a:xfrm>
            <a:off x="7909560" y="4279392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</a:rPr>
              <a:t>L3-VPN UNDERLAY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7882128" y="4517136"/>
            <a:ext cx="27614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D4E5EC"/>
                </a:solidFill>
              </a:rPr>
              <a:t>Eksisterende transport – uendret</a:t>
            </a:r>
            <a:endParaRPr lang="en-US" sz="940" dirty="0"/>
          </a:p>
        </p:txBody>
      </p:sp>
      <p:sp>
        <p:nvSpPr>
          <p:cNvPr id="23" name="Text 21"/>
          <p:cNvSpPr/>
          <p:nvPr/>
        </p:nvSpPr>
        <p:spPr>
          <a:xfrm>
            <a:off x="8275320" y="5806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8BECE"/>
                </a:solidFill>
              </a:rPr>
              <a:t>Ca. 8–9 min + spørsmål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Utgangspunktet – hva måtte løses?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</a:rPr>
              <a:t>Designet er drevet av konkrete problemer i dagens nettverk og klare rammebetingelser.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11247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28A745"/>
                </a:solidFill>
              </a:rPr>
              <a:t>PROBLEM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DECEC"/>
          </a:solidFill>
          <a:ln w="10160">
            <a:solidFill>
              <a:srgbClr val="D8E0EA"/>
            </a:solidFill>
            <a:prstDash val="solid"/>
          </a:ln>
          <a:effectLst>
            <a:outerShdw blurRad="225806000" dist="129032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64008" cy="1508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Flatt nettverk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77240" y="185623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Lite eller ingen segmentering gjør at kompromittering eller feil kan få konsekvenser på tvers av tjenester.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01568" y="14173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FF4E5"/>
          </a:solidFill>
          <a:ln w="1016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3401568" y="1417320"/>
            <a:ext cx="64008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3584448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Ustabilitet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584448" y="185623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Private rutere og uautoriserte DHCP-servere har skapt ustabilitet og uforutsigbar klientkonfigurasjon.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08776" y="14173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1EBFF"/>
          </a:solidFill>
          <a:ln w="1016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4" name="Shape 12"/>
          <p:cNvSpPr/>
          <p:nvPr/>
        </p:nvSpPr>
        <p:spPr>
          <a:xfrm>
            <a:off x="6208776" y="1417320"/>
            <a:ext cx="64008" cy="1508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5" name="Text 13"/>
          <p:cNvSpPr/>
          <p:nvPr/>
        </p:nvSpPr>
        <p:spPr>
          <a:xfrm>
            <a:off x="6391656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Lite synlighet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391656" y="185623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Ingen sentral logging, overvåkning eller felles tid gjør feilsøking og hendelseshåndtering vanskelig.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15984" y="14173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AF2FF"/>
          </a:solidFill>
          <a:ln w="1016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8" name="Shape 16"/>
          <p:cNvSpPr/>
          <p:nvPr/>
        </p:nvSpPr>
        <p:spPr>
          <a:xfrm>
            <a:off x="9015984" y="1417320"/>
            <a:ext cx="64008" cy="1508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Text 17"/>
          <p:cNvSpPr/>
          <p:nvPr/>
        </p:nvSpPr>
        <p:spPr>
          <a:xfrm>
            <a:off x="9198864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Stramme rammer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198864" y="185623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</a:rPr>
              <a:t>Eksisterende Cisco-utstyr skal gjenbrukes, og den litauiske Layer 3-VPN-forbindelsen skal ikke endres.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28A745"/>
                </a:solidFill>
              </a:rPr>
              <a:t>DESIGNMÅL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85800" y="3657600"/>
            <a:ext cx="248716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23" name="Text 21"/>
          <p:cNvSpPr/>
          <p:nvPr/>
        </p:nvSpPr>
        <p:spPr>
          <a:xfrm>
            <a:off x="850392" y="384048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6A34A"/>
                </a:solidFill>
              </a:rPr>
              <a:t>SEGMENTERE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868680" y="4169664"/>
            <a:ext cx="2121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E293B"/>
                </a:solidFill>
              </a:rPr>
              <a:t>Skille tjenester og brukergrupper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3502152" y="3657600"/>
            <a:ext cx="248716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26" name="Text 24"/>
          <p:cNvSpPr/>
          <p:nvPr/>
        </p:nvSpPr>
        <p:spPr>
          <a:xfrm>
            <a:off x="3666744" y="384048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6A34A"/>
                </a:solidFill>
              </a:rPr>
              <a:t>BEGRENSE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3685032" y="4169664"/>
            <a:ext cx="2121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E293B"/>
                </a:solidFill>
              </a:rPr>
              <a:t>Kun nødvendig trafikk mellom soner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6318504" y="3657600"/>
            <a:ext cx="248716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29" name="Text 27"/>
          <p:cNvSpPr/>
          <p:nvPr/>
        </p:nvSpPr>
        <p:spPr>
          <a:xfrm>
            <a:off x="6483096" y="384048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6A34A"/>
                </a:solidFill>
              </a:rPr>
              <a:t>OVERVÅKE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6501384" y="4169664"/>
            <a:ext cx="2121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E293B"/>
                </a:solidFill>
              </a:rPr>
              <a:t>Sentral logging </a:t>
            </a:r>
            <a:r>
              <a:rPr lang="en-US" sz="1120" dirty="0" err="1">
                <a:solidFill>
                  <a:srgbClr val="1E293B"/>
                </a:solidFill>
              </a:rPr>
              <a:t>og</a:t>
            </a:r>
            <a:r>
              <a:rPr lang="en-US" sz="1120" dirty="0">
                <a:solidFill>
                  <a:srgbClr val="1E293B"/>
                </a:solidFill>
              </a:rPr>
              <a:t> IDS/SIEM</a:t>
            </a:r>
            <a:endParaRPr lang="en-US" sz="1120" dirty="0"/>
          </a:p>
        </p:txBody>
      </p:sp>
      <p:sp>
        <p:nvSpPr>
          <p:cNvPr id="31" name="Shape 29"/>
          <p:cNvSpPr/>
          <p:nvPr/>
        </p:nvSpPr>
        <p:spPr>
          <a:xfrm>
            <a:off x="9134856" y="3657600"/>
            <a:ext cx="2487168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32" name="Text 30"/>
          <p:cNvSpPr/>
          <p:nvPr/>
        </p:nvSpPr>
        <p:spPr>
          <a:xfrm>
            <a:off x="9299448" y="384048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6A34A"/>
                </a:solidFill>
              </a:rPr>
              <a:t>STANDARDISERE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9317736" y="4169664"/>
            <a:ext cx="2121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1E293B"/>
                </a:solidFill>
              </a:rPr>
              <a:t>Lik baseline og generator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694944" y="5321808"/>
            <a:ext cx="10927080" cy="658368"/>
          </a:xfrm>
          <a:prstGeom prst="roundRect">
            <a:avLst>
              <a:gd name="adj" fmla="val 8333"/>
            </a:avLst>
          </a:prstGeom>
          <a:solidFill>
            <a:srgbClr val="E9F7EE"/>
          </a:solidFill>
          <a:ln w="12700">
            <a:solidFill>
              <a:srgbClr val="BFE8CD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5" name="Text 33"/>
          <p:cNvSpPr/>
          <p:nvPr/>
        </p:nvSpPr>
        <p:spPr>
          <a:xfrm>
            <a:off x="914400" y="5522976"/>
            <a:ext cx="10469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20" b="1" dirty="0" err="1">
                <a:solidFill>
                  <a:srgbClr val="166534"/>
                </a:solidFill>
              </a:rPr>
              <a:t>Mål</a:t>
            </a:r>
            <a:r>
              <a:rPr lang="en-US" sz="1520" b="1" dirty="0">
                <a:solidFill>
                  <a:srgbClr val="166534"/>
                </a:solidFill>
              </a:rPr>
              <a:t>: behold underlayet – flytt kontroll, sikkerhet og standardisering inn i eget overlay.</a:t>
            </a:r>
            <a:endParaRPr lang="en-US" sz="152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Løsningen i ett bilde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</a:rPr>
              <a:t>Eksisterende transport beholdes som underlay; sikkerhet og segmentering bygges som overlay.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03504" y="1115568"/>
            <a:ext cx="2578608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6350" dist="254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713232" y="1188720"/>
            <a:ext cx="384048" cy="384048"/>
          </a:xfrm>
          <a:prstGeom prst="ellipse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  <a:effectLst>
            <a:outerShdw blurRad="1016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713232" y="122529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170432" y="1179576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0F172A"/>
                </a:solidFill>
              </a:rPr>
              <a:t>L3-VPN underlay</a:t>
            </a:r>
            <a:endParaRPr lang="en-US" sz="1070" dirty="0"/>
          </a:p>
        </p:txBody>
      </p:sp>
      <p:sp>
        <p:nvSpPr>
          <p:cNvPr id="8" name="Text 6"/>
          <p:cNvSpPr/>
          <p:nvPr/>
        </p:nvSpPr>
        <p:spPr>
          <a:xfrm>
            <a:off x="1170432" y="1362456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4748B"/>
                </a:solidFill>
              </a:rPr>
              <a:t>Uendret transport</a:t>
            </a:r>
            <a:endParaRPr lang="en-US" sz="890" dirty="0"/>
          </a:p>
        </p:txBody>
      </p:sp>
      <p:sp>
        <p:nvSpPr>
          <p:cNvPr id="9" name="Shape 7"/>
          <p:cNvSpPr/>
          <p:nvPr/>
        </p:nvSpPr>
        <p:spPr>
          <a:xfrm>
            <a:off x="3419856" y="1115568"/>
            <a:ext cx="2578608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6350" dist="254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3529584" y="1188720"/>
            <a:ext cx="384048" cy="384048"/>
          </a:xfrm>
          <a:prstGeom prst="ellipse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  <a:effectLst>
            <a:outerShdw blurRad="1016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3529584" y="122529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986784" y="1179576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0F172A"/>
                </a:solidFill>
              </a:rPr>
              <a:t>DMVPN per VRF</a:t>
            </a:r>
            <a:endParaRPr lang="en-US" sz="1070" dirty="0"/>
          </a:p>
        </p:txBody>
      </p:sp>
      <p:sp>
        <p:nvSpPr>
          <p:cNvPr id="13" name="Text 11"/>
          <p:cNvSpPr/>
          <p:nvPr/>
        </p:nvSpPr>
        <p:spPr>
          <a:xfrm>
            <a:off x="3986784" y="1362456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4748B"/>
                </a:solidFill>
              </a:rPr>
              <a:t>Segmentert overlay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6236208" y="1115568"/>
            <a:ext cx="2578608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6350" dist="254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5" name="Shape 13"/>
          <p:cNvSpPr/>
          <p:nvPr/>
        </p:nvSpPr>
        <p:spPr>
          <a:xfrm>
            <a:off x="6345936" y="1188720"/>
            <a:ext cx="384048" cy="384048"/>
          </a:xfrm>
          <a:prstGeom prst="ellipse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  <a:effectLst>
            <a:outerShdw blurRad="1016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6" name="Text 14"/>
          <p:cNvSpPr/>
          <p:nvPr/>
        </p:nvSpPr>
        <p:spPr>
          <a:xfrm>
            <a:off x="6345936" y="122529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03136" y="1179576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0F172A"/>
                </a:solidFill>
              </a:rPr>
              <a:t>BNHQ som hub</a:t>
            </a:r>
            <a:endParaRPr lang="en-US" sz="1070" dirty="0"/>
          </a:p>
        </p:txBody>
      </p:sp>
      <p:sp>
        <p:nvSpPr>
          <p:cNvPr id="18" name="Text 16"/>
          <p:cNvSpPr/>
          <p:nvPr/>
        </p:nvSpPr>
        <p:spPr>
          <a:xfrm>
            <a:off x="6803136" y="1362456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4748B"/>
                </a:solidFill>
              </a:rPr>
              <a:t>Sentrale tjenester</a:t>
            </a:r>
            <a:endParaRPr lang="en-US" sz="890" dirty="0"/>
          </a:p>
        </p:txBody>
      </p:sp>
      <p:sp>
        <p:nvSpPr>
          <p:cNvPr id="19" name="Shape 17"/>
          <p:cNvSpPr/>
          <p:nvPr/>
        </p:nvSpPr>
        <p:spPr>
          <a:xfrm>
            <a:off x="9052560" y="1115568"/>
            <a:ext cx="2578608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6350" dist="254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20" name="Shape 18"/>
          <p:cNvSpPr/>
          <p:nvPr/>
        </p:nvSpPr>
        <p:spPr>
          <a:xfrm>
            <a:off x="9162288" y="1188720"/>
            <a:ext cx="384048" cy="384048"/>
          </a:xfrm>
          <a:prstGeom prst="ellipse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  <a:effectLst>
            <a:outerShdw blurRad="10160" dist="508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21" name="Text 19"/>
          <p:cNvSpPr/>
          <p:nvPr/>
        </p:nvSpPr>
        <p:spPr>
          <a:xfrm>
            <a:off x="9162288" y="122529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619488" y="1179576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0F172A"/>
                </a:solidFill>
              </a:rPr>
              <a:t>ERSPAN</a:t>
            </a:r>
            <a:endParaRPr lang="en-US" sz="1070" dirty="0"/>
          </a:p>
        </p:txBody>
      </p:sp>
      <p:sp>
        <p:nvSpPr>
          <p:cNvPr id="23" name="Text 21"/>
          <p:cNvSpPr/>
          <p:nvPr/>
        </p:nvSpPr>
        <p:spPr>
          <a:xfrm>
            <a:off x="9619488" y="1362456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64748B"/>
                </a:solidFill>
              </a:rPr>
              <a:t>Trafikk </a:t>
            </a:r>
            <a:r>
              <a:rPr lang="en-US" sz="890" dirty="0" err="1">
                <a:solidFill>
                  <a:srgbClr val="64748B"/>
                </a:solidFill>
              </a:rPr>
              <a:t>til</a:t>
            </a:r>
            <a:r>
              <a:rPr lang="en-US" sz="890" dirty="0">
                <a:solidFill>
                  <a:srgbClr val="64748B"/>
                </a:solidFill>
              </a:rPr>
              <a:t> IDS</a:t>
            </a:r>
            <a:endParaRPr lang="en-US" sz="890" dirty="0"/>
          </a:p>
        </p:txBody>
      </p:sp>
      <p:sp>
        <p:nvSpPr>
          <p:cNvPr id="24" name="Shape 22"/>
          <p:cNvSpPr/>
          <p:nvPr/>
        </p:nvSpPr>
        <p:spPr>
          <a:xfrm>
            <a:off x="502920" y="1810512"/>
            <a:ext cx="11201400" cy="4407408"/>
          </a:xfrm>
          <a:prstGeom prst="roundRect">
            <a:avLst>
              <a:gd name="adj" fmla="val 1037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pic>
        <p:nvPicPr>
          <p:cNvPr id="25" name="Image 0" descr="/mnt/data/logisk_arkitekt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789" y="1956816"/>
            <a:ext cx="6803662" cy="4096512"/>
          </a:xfrm>
          <a:prstGeom prst="rect">
            <a:avLst/>
          </a:prstGeom>
        </p:spPr>
      </p:pic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Segmentering på hvert site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</a:rPr>
              <a:t>Samme logiske struktur gjenbrukes på alle lokasjoner.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6876288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pic>
        <p:nvPicPr>
          <p:cNvPr id="5" name="Image 0" descr="/mnt/data/log_i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580309"/>
            <a:ext cx="6492240" cy="42003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62672" y="120700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28A745"/>
                </a:solidFill>
              </a:rPr>
              <a:t>PRINSIPP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635240" y="1481328"/>
            <a:ext cx="3977640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Shape 5"/>
          <p:cNvSpPr/>
          <p:nvPr/>
        </p:nvSpPr>
        <p:spPr>
          <a:xfrm>
            <a:off x="7635240" y="1481328"/>
            <a:ext cx="64008" cy="9509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9" name="Text 6"/>
          <p:cNvSpPr/>
          <p:nvPr/>
        </p:nvSpPr>
        <p:spPr>
          <a:xfrm>
            <a:off x="7818120" y="1618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VLAN + VRF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7818120" y="192024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1E293B"/>
                </a:solidFill>
              </a:rPr>
              <a:t>VLAN 10/20/30/40/50 termineres i hver sin VRF: MGMT, INET, UNET, PA og MONITORING.</a:t>
            </a:r>
            <a:endParaRPr lang="en-US" sz="1170" dirty="0"/>
          </a:p>
        </p:txBody>
      </p:sp>
      <p:sp>
        <p:nvSpPr>
          <p:cNvPr id="11" name="Shape 8"/>
          <p:cNvSpPr/>
          <p:nvPr/>
        </p:nvSpPr>
        <p:spPr>
          <a:xfrm>
            <a:off x="7635240" y="2606040"/>
            <a:ext cx="3977640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" name="Shape 9"/>
          <p:cNvSpPr/>
          <p:nvPr/>
        </p:nvSpPr>
        <p:spPr>
          <a:xfrm>
            <a:off x="7635240" y="2606040"/>
            <a:ext cx="64008" cy="950976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3" name="Text 10"/>
          <p:cNvSpPr/>
          <p:nvPr/>
        </p:nvSpPr>
        <p:spPr>
          <a:xfrm>
            <a:off x="7818120" y="2743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Fast IP-mønster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30449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1E293B"/>
                </a:solidFill>
              </a:rPr>
              <a:t>10.X.&lt;</a:t>
            </a:r>
            <a:r>
              <a:rPr lang="en-US" sz="1170" dirty="0" err="1">
                <a:solidFill>
                  <a:srgbClr val="1E293B"/>
                </a:solidFill>
              </a:rPr>
              <a:t>tjeneste</a:t>
            </a:r>
            <a:r>
              <a:rPr lang="en-US" sz="1170" dirty="0">
                <a:solidFill>
                  <a:srgbClr val="1E293B"/>
                </a:solidFill>
              </a:rPr>
              <a:t>/</a:t>
            </a:r>
            <a:r>
              <a:rPr lang="en-US" sz="1170" dirty="0" err="1">
                <a:solidFill>
                  <a:srgbClr val="1E293B"/>
                </a:solidFill>
              </a:rPr>
              <a:t>vlan</a:t>
            </a:r>
            <a:r>
              <a:rPr lang="en-US" sz="1170" dirty="0">
                <a:solidFill>
                  <a:srgbClr val="1E293B"/>
                </a:solidFill>
              </a:rPr>
              <a:t>&gt;.0/24 gjør at site og tjeneste kan leses direkte fra adressen.</a:t>
            </a:r>
            <a:endParaRPr lang="en-US" sz="1170" dirty="0"/>
          </a:p>
        </p:txBody>
      </p:sp>
      <p:sp>
        <p:nvSpPr>
          <p:cNvPr id="15" name="Shape 12"/>
          <p:cNvSpPr/>
          <p:nvPr/>
        </p:nvSpPr>
        <p:spPr>
          <a:xfrm>
            <a:off x="7635240" y="3730752"/>
            <a:ext cx="3977640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" name="Shape 13"/>
          <p:cNvSpPr/>
          <p:nvPr/>
        </p:nvSpPr>
        <p:spPr>
          <a:xfrm>
            <a:off x="7635240" y="3730752"/>
            <a:ext cx="64008" cy="9509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7818120" y="38679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Least privilege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7818120" y="416966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1E293B"/>
                </a:solidFill>
              </a:rPr>
              <a:t>ACL-er bygges </a:t>
            </a:r>
            <a:r>
              <a:rPr lang="en-US" sz="1170" dirty="0" err="1">
                <a:solidFill>
                  <a:srgbClr val="1E293B"/>
                </a:solidFill>
              </a:rPr>
              <a:t>fra</a:t>
            </a:r>
            <a:r>
              <a:rPr lang="en-US" sz="1170" dirty="0">
                <a:solidFill>
                  <a:srgbClr val="1E293B"/>
                </a:solidFill>
              </a:rPr>
              <a:t> </a:t>
            </a:r>
            <a:r>
              <a:rPr lang="en-US" sz="1170" dirty="0" err="1">
                <a:solidFill>
                  <a:srgbClr val="1E293B"/>
                </a:solidFill>
              </a:rPr>
              <a:t>tjenestematrise</a:t>
            </a:r>
            <a:r>
              <a:rPr lang="en-US" sz="1170" dirty="0">
                <a:solidFill>
                  <a:srgbClr val="1E293B"/>
                </a:solidFill>
              </a:rPr>
              <a:t> (excel). Bare eksplisitt definert trafikk tillates.</a:t>
            </a:r>
            <a:endParaRPr lang="en-US" sz="1170" dirty="0"/>
          </a:p>
        </p:txBody>
      </p:sp>
      <p:sp>
        <p:nvSpPr>
          <p:cNvPr id="19" name="Shape 16"/>
          <p:cNvSpPr/>
          <p:nvPr/>
        </p:nvSpPr>
        <p:spPr>
          <a:xfrm>
            <a:off x="7635240" y="4855464"/>
            <a:ext cx="3977640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Shape 17"/>
          <p:cNvSpPr/>
          <p:nvPr/>
        </p:nvSpPr>
        <p:spPr>
          <a:xfrm>
            <a:off x="7635240" y="4855464"/>
            <a:ext cx="64008" cy="9509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" name="Text 18"/>
          <p:cNvSpPr/>
          <p:nvPr/>
        </p:nvSpPr>
        <p:spPr>
          <a:xfrm>
            <a:off x="7818120" y="49926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Ende-til-ende separasjon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7818120" y="529437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1E293B"/>
                </a:solidFill>
              </a:rPr>
              <a:t>Hver VRF får eget DMVPN-overlay, slik at segmenteringen videreføres mellom sites.</a:t>
            </a:r>
            <a:endParaRPr lang="en-US" sz="11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2">
            <a:extLst>
              <a:ext uri="{FF2B5EF4-FFF2-40B4-BE49-F238E27FC236}">
                <a16:creationId xmlns:a16="http://schemas.microsoft.com/office/drawing/2014/main" id="{8CB69B47-C5E0-1A49-DC3E-B0C881CBB935}"/>
              </a:ext>
            </a:extLst>
          </p:cNvPr>
          <p:cNvSpPr/>
          <p:nvPr/>
        </p:nvSpPr>
        <p:spPr>
          <a:xfrm>
            <a:off x="594360" y="1298448"/>
            <a:ext cx="681228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 dirty="0"/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8CE9C03D-C0CB-67F8-8045-EEE6D8E11BCF}"/>
              </a:ext>
            </a:extLst>
          </p:cNvPr>
          <p:cNvSpPr/>
          <p:nvPr/>
        </p:nvSpPr>
        <p:spPr>
          <a:xfrm>
            <a:off x="5166360" y="44348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EAF2FF"/>
          </a:solidFill>
          <a:ln w="165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" name="Text 0"/>
          <p:cNvSpPr/>
          <p:nvPr/>
        </p:nvSpPr>
        <p:spPr>
          <a:xfrm>
            <a:off x="548640" y="31089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Mellom sites – DMVPN Phase 3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</a:rPr>
              <a:t>Hub-and-spoke i kontrollplanet, men direkte spoke-to-spoke i dataplanet når det trengs.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971800" y="1856232"/>
            <a:ext cx="2011680" cy="841248"/>
          </a:xfrm>
          <a:prstGeom prst="roundRect">
            <a:avLst>
              <a:gd name="adj" fmla="val 8696"/>
            </a:avLst>
          </a:prstGeom>
          <a:solidFill>
            <a:srgbClr val="E6F5EB"/>
          </a:solidFill>
          <a:ln w="2032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3154680" y="204825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66534"/>
                </a:solidFill>
              </a:rPr>
              <a:t>BNHQ / HUB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166534"/>
                </a:solidFill>
              </a:rPr>
              <a:t>NHRP NHS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005840" y="44348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EAF2FF"/>
          </a:solidFill>
          <a:ln w="165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/>
          <p:nvPr/>
        </p:nvSpPr>
        <p:spPr>
          <a:xfrm>
            <a:off x="1005840" y="461772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</a:rPr>
              <a:t>SITE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66360" y="461772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</a:rPr>
              <a:t>SITE 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 flipV="1">
            <a:off x="1831470" y="3437321"/>
            <a:ext cx="781101" cy="906078"/>
          </a:xfrm>
          <a:prstGeom prst="line">
            <a:avLst/>
          </a:prstGeom>
          <a:noFill/>
          <a:ln w="279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13" name="Text 11"/>
          <p:cNvSpPr/>
          <p:nvPr/>
        </p:nvSpPr>
        <p:spPr>
          <a:xfrm>
            <a:off x="1046988" y="3181289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4748B"/>
                </a:solidFill>
              </a:rPr>
              <a:t>1  Første trafikk kan gå via hub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432304" y="4754880"/>
            <a:ext cx="2724912" cy="0"/>
          </a:xfrm>
          <a:prstGeom prst="line">
            <a:avLst/>
          </a:prstGeom>
          <a:noFill/>
          <a:ln w="50800">
            <a:solidFill>
              <a:srgbClr val="28A7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15" name="Text 13"/>
          <p:cNvSpPr/>
          <p:nvPr/>
        </p:nvSpPr>
        <p:spPr>
          <a:xfrm>
            <a:off x="2011680" y="5184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6534"/>
                </a:solidFill>
              </a:rPr>
              <a:t>2  NHRP redirect + shortcut → direkte dataplan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670048" y="2788920"/>
            <a:ext cx="2651760" cy="347472"/>
          </a:xfrm>
          <a:prstGeom prst="roundRect">
            <a:avLst>
              <a:gd name="adj" fmla="val 21053"/>
            </a:avLst>
          </a:prstGeom>
          <a:solidFill>
            <a:srgbClr val="EDF7EF"/>
          </a:solidFill>
          <a:ln w="12700">
            <a:solidFill>
              <a:srgbClr val="EDF7E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Text 15"/>
          <p:cNvSpPr/>
          <p:nvPr/>
        </p:nvSpPr>
        <p:spPr>
          <a:xfrm>
            <a:off x="2715768" y="2857500"/>
            <a:ext cx="2560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66534"/>
                </a:solidFill>
              </a:rPr>
              <a:t>HUB: ip nhrp redirect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2834640" y="4302252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nb-NO" dirty="0"/>
          </a:p>
        </p:txBody>
      </p:sp>
      <p:sp>
        <p:nvSpPr>
          <p:cNvPr id="19" name="Text 17"/>
          <p:cNvSpPr/>
          <p:nvPr/>
        </p:nvSpPr>
        <p:spPr>
          <a:xfrm>
            <a:off x="2880360" y="4370832"/>
            <a:ext cx="1691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E40AF"/>
                </a:solidFill>
              </a:rPr>
              <a:t>SPOKE: shortcut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7754112" y="13258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28A745"/>
                </a:solidFill>
              </a:rPr>
              <a:t>HVORFOR FASE 3?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26680" y="1627632"/>
            <a:ext cx="382219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Shape 20"/>
          <p:cNvSpPr/>
          <p:nvPr/>
        </p:nvSpPr>
        <p:spPr>
          <a:xfrm>
            <a:off x="7726680" y="1627632"/>
            <a:ext cx="64008" cy="96012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Text 21"/>
          <p:cNvSpPr/>
          <p:nvPr/>
        </p:nvSpPr>
        <p:spPr>
          <a:xfrm>
            <a:off x="7909560" y="1764792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Skalerbar routing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909560" y="2066544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1E293B"/>
                </a:solidFill>
              </a:rPr>
              <a:t>Spokes kan route mot huben; NHRP finner en bedre direkte vei ved behov.</a:t>
            </a:r>
            <a:endParaRPr lang="en-US" sz="1160" dirty="0"/>
          </a:p>
        </p:txBody>
      </p:sp>
      <p:sp>
        <p:nvSpPr>
          <p:cNvPr id="25" name="Shape 23"/>
          <p:cNvSpPr/>
          <p:nvPr/>
        </p:nvSpPr>
        <p:spPr>
          <a:xfrm>
            <a:off x="7726680" y="2761488"/>
            <a:ext cx="382219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6" name="Shape 24"/>
          <p:cNvSpPr/>
          <p:nvPr/>
        </p:nvSpPr>
        <p:spPr>
          <a:xfrm>
            <a:off x="7726680" y="2761488"/>
            <a:ext cx="64008" cy="960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Text 25"/>
          <p:cNvSpPr/>
          <p:nvPr/>
        </p:nvSpPr>
        <p:spPr>
          <a:xfrm>
            <a:off x="7909560" y="2898648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Mindre flaskehals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7909560" y="320040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1E293B"/>
                </a:solidFill>
              </a:rPr>
              <a:t>Direkte spoke-to-spoke reduserer unødvendig belastning på BNHQ og WAN-lenkene.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7726680" y="3895344"/>
            <a:ext cx="382219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0" name="Shape 28"/>
          <p:cNvSpPr/>
          <p:nvPr/>
        </p:nvSpPr>
        <p:spPr>
          <a:xfrm>
            <a:off x="7726680" y="3895344"/>
            <a:ext cx="64008" cy="96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1" name="Text 29"/>
          <p:cNvSpPr/>
          <p:nvPr/>
        </p:nvSpPr>
        <p:spPr>
          <a:xfrm>
            <a:off x="7909560" y="4032504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Dynamisk routing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909560" y="4334256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1E293B"/>
                </a:solidFill>
              </a:rPr>
              <a:t>EIGRP distribuerer rutene, mens NHRP håndterer mapping mellom tunnel- og underlay-adresser.</a:t>
            </a:r>
            <a:endParaRPr lang="en-US" sz="1160" dirty="0"/>
          </a:p>
        </p:txBody>
      </p:sp>
      <p:sp>
        <p:nvSpPr>
          <p:cNvPr id="33" name="Shape 31"/>
          <p:cNvSpPr/>
          <p:nvPr/>
        </p:nvSpPr>
        <p:spPr>
          <a:xfrm>
            <a:off x="7726680" y="5029200"/>
            <a:ext cx="382219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4" name="Shape 32"/>
          <p:cNvSpPr/>
          <p:nvPr/>
        </p:nvSpPr>
        <p:spPr>
          <a:xfrm>
            <a:off x="7726680" y="5029200"/>
            <a:ext cx="64008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5" name="Text 33"/>
          <p:cNvSpPr/>
          <p:nvPr/>
        </p:nvSpPr>
        <p:spPr>
          <a:xfrm>
            <a:off x="7909560" y="5166360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Ingen tunnel-fullmesh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909560" y="5468112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1E293B"/>
                </a:solidFill>
              </a:rPr>
              <a:t>Nye sites krever ikke separate punkt-til-punkt-tunneler til alle eksisterende sites.</a:t>
            </a:r>
            <a:endParaRPr lang="en-US" sz="116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Sikkerhet – flere lag, ikke ett enkelt tiltak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</a:rPr>
              <a:t>Tiltakene er valgt for å redusere både lokale Layer 2-angrep og risiko ved administrasjon og transport.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12648" y="1371600"/>
            <a:ext cx="3090672" cy="4526280"/>
          </a:xfrm>
          <a:prstGeom prst="roundRect">
            <a:avLst>
              <a:gd name="adj" fmla="val 1775"/>
            </a:avLst>
          </a:prstGeom>
          <a:solidFill>
            <a:srgbClr val="EAF2FF"/>
          </a:solidFill>
          <a:ln w="1397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" name="Text 3"/>
          <p:cNvSpPr/>
          <p:nvPr/>
        </p:nvSpPr>
        <p:spPr>
          <a:xfrm>
            <a:off x="813816" y="1600200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0F172A"/>
                </a:solidFill>
              </a:rPr>
              <a:t>Aksesslaget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813816" y="192024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64748B"/>
                </a:solidFill>
              </a:rPr>
              <a:t>Beskytt klientporter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4096512" y="1371600"/>
            <a:ext cx="3090672" cy="4526280"/>
          </a:xfrm>
          <a:prstGeom prst="roundRect">
            <a:avLst>
              <a:gd name="adj" fmla="val 1775"/>
            </a:avLst>
          </a:prstGeom>
          <a:solidFill>
            <a:srgbClr val="FFF4E5"/>
          </a:solidFill>
          <a:ln w="1397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6"/>
          <p:cNvSpPr/>
          <p:nvPr/>
        </p:nvSpPr>
        <p:spPr>
          <a:xfrm>
            <a:off x="4297680" y="1600200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0F172A"/>
                </a:solidFill>
              </a:rPr>
              <a:t>STP og fysisk tilgang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4297680" y="192024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64748B"/>
                </a:solidFill>
              </a:rPr>
              <a:t>Begrens feil og uautorisert utstyr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7580376" y="1371600"/>
            <a:ext cx="3090672" cy="4526280"/>
          </a:xfrm>
          <a:prstGeom prst="roundRect">
            <a:avLst>
              <a:gd name="adj" fmla="val 1775"/>
            </a:avLst>
          </a:prstGeom>
          <a:solidFill>
            <a:srgbClr val="EAF7EE"/>
          </a:solidFill>
          <a:ln w="1397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7781544" y="1600200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0F172A"/>
                </a:solidFill>
              </a:rPr>
              <a:t>Management og transport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781544" y="192024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64748B"/>
                </a:solidFill>
              </a:rPr>
              <a:t>Beskytt administrasjon og WAN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877824" y="2404872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BDD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" name="Text 12"/>
          <p:cNvSpPr/>
          <p:nvPr/>
        </p:nvSpPr>
        <p:spPr>
          <a:xfrm>
            <a:off x="1005840" y="2478024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1E40AF"/>
                </a:solidFill>
              </a:rPr>
              <a:t>DHCP Snooping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1005840" y="267004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Stopper falske DHCP-servere og bygger bindingtabell</a:t>
            </a:r>
            <a:endParaRPr lang="en-US" sz="835" dirty="0"/>
          </a:p>
        </p:txBody>
      </p:sp>
      <p:sp>
        <p:nvSpPr>
          <p:cNvPr id="16" name="Shape 14"/>
          <p:cNvSpPr/>
          <p:nvPr/>
        </p:nvSpPr>
        <p:spPr>
          <a:xfrm>
            <a:off x="877824" y="3108960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BDD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Text 15"/>
          <p:cNvSpPr/>
          <p:nvPr/>
        </p:nvSpPr>
        <p:spPr>
          <a:xfrm>
            <a:off x="1005840" y="3182112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1E40AF"/>
                </a:solidFill>
              </a:rPr>
              <a:t>DAI</a:t>
            </a:r>
            <a:endParaRPr lang="en-US" sz="1070" dirty="0"/>
          </a:p>
        </p:txBody>
      </p:sp>
      <p:sp>
        <p:nvSpPr>
          <p:cNvPr id="18" name="Text 16"/>
          <p:cNvSpPr/>
          <p:nvPr/>
        </p:nvSpPr>
        <p:spPr>
          <a:xfrm>
            <a:off x="1005840" y="3374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Validerer ARP mot IP–MAC-bindinger</a:t>
            </a:r>
            <a:endParaRPr lang="en-US" sz="835" dirty="0"/>
          </a:p>
        </p:txBody>
      </p:sp>
      <p:sp>
        <p:nvSpPr>
          <p:cNvPr id="19" name="Shape 17"/>
          <p:cNvSpPr/>
          <p:nvPr/>
        </p:nvSpPr>
        <p:spPr>
          <a:xfrm>
            <a:off x="877824" y="3813048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BDD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Text 18"/>
          <p:cNvSpPr/>
          <p:nvPr/>
        </p:nvSpPr>
        <p:spPr>
          <a:xfrm>
            <a:off x="1005840" y="3886200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1E40AF"/>
                </a:solidFill>
              </a:rPr>
              <a:t>IP Source Guard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1005840" y="4078224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Sjekker gyldig source-IP på porten</a:t>
            </a:r>
            <a:endParaRPr lang="en-US" sz="835" dirty="0"/>
          </a:p>
        </p:txBody>
      </p:sp>
      <p:sp>
        <p:nvSpPr>
          <p:cNvPr id="22" name="Shape 20"/>
          <p:cNvSpPr/>
          <p:nvPr/>
        </p:nvSpPr>
        <p:spPr>
          <a:xfrm>
            <a:off x="877824" y="4517136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BDD2EE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Text 21"/>
          <p:cNvSpPr/>
          <p:nvPr/>
        </p:nvSpPr>
        <p:spPr>
          <a:xfrm>
            <a:off x="1005840" y="4590288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1E40AF"/>
                </a:solidFill>
              </a:rPr>
              <a:t>Port Security</a:t>
            </a:r>
            <a:endParaRPr lang="en-US" sz="1070" dirty="0"/>
          </a:p>
        </p:txBody>
      </p:sp>
      <p:sp>
        <p:nvSpPr>
          <p:cNvPr id="24" name="Text 22"/>
          <p:cNvSpPr/>
          <p:nvPr/>
        </p:nvSpPr>
        <p:spPr>
          <a:xfrm>
            <a:off x="1005840" y="4782312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Begrenser MAC-adresser per accessport</a:t>
            </a:r>
            <a:endParaRPr lang="en-US" sz="835" dirty="0"/>
          </a:p>
        </p:txBody>
      </p:sp>
      <p:sp>
        <p:nvSpPr>
          <p:cNvPr id="25" name="Text 23"/>
          <p:cNvSpPr/>
          <p:nvPr/>
        </p:nvSpPr>
        <p:spPr>
          <a:xfrm>
            <a:off x="914400" y="53218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</a:rPr>
              <a:t>DHCP Snooping → grunnlag for DAI + IPSG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61688" y="2404872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EFD2A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Text 25"/>
          <p:cNvSpPr/>
          <p:nvPr/>
        </p:nvSpPr>
        <p:spPr>
          <a:xfrm>
            <a:off x="4489704" y="2478024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9A4F00"/>
                </a:solidFill>
              </a:rPr>
              <a:t>BPDU Guard</a:t>
            </a:r>
            <a:endParaRPr lang="en-US" sz="1070" dirty="0"/>
          </a:p>
        </p:txBody>
      </p:sp>
      <p:sp>
        <p:nvSpPr>
          <p:cNvPr id="28" name="Text 26"/>
          <p:cNvSpPr/>
          <p:nvPr/>
        </p:nvSpPr>
        <p:spPr>
          <a:xfrm>
            <a:off x="4489704" y="267004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Stenger edge-port ved mottatt BPDU</a:t>
            </a:r>
            <a:endParaRPr lang="en-US" sz="835" dirty="0"/>
          </a:p>
        </p:txBody>
      </p:sp>
      <p:sp>
        <p:nvSpPr>
          <p:cNvPr id="29" name="Shape 27"/>
          <p:cNvSpPr/>
          <p:nvPr/>
        </p:nvSpPr>
        <p:spPr>
          <a:xfrm>
            <a:off x="4361688" y="3108960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EFD2A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0" name="Text 28"/>
          <p:cNvSpPr/>
          <p:nvPr/>
        </p:nvSpPr>
        <p:spPr>
          <a:xfrm>
            <a:off x="4489704" y="3182112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9A4F00"/>
                </a:solidFill>
              </a:rPr>
              <a:t>Root Guard</a:t>
            </a:r>
            <a:endParaRPr lang="en-US" sz="1070" dirty="0"/>
          </a:p>
        </p:txBody>
      </p:sp>
      <p:sp>
        <p:nvSpPr>
          <p:cNvPr id="31" name="Text 29"/>
          <p:cNvSpPr/>
          <p:nvPr/>
        </p:nvSpPr>
        <p:spPr>
          <a:xfrm>
            <a:off x="4489704" y="3374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Hindrer downstream-switch i å bli root</a:t>
            </a:r>
            <a:endParaRPr lang="en-US" sz="835" dirty="0"/>
          </a:p>
        </p:txBody>
      </p:sp>
      <p:sp>
        <p:nvSpPr>
          <p:cNvPr id="32" name="Shape 30"/>
          <p:cNvSpPr/>
          <p:nvPr/>
        </p:nvSpPr>
        <p:spPr>
          <a:xfrm>
            <a:off x="4361688" y="3813048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EFD2A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3" name="Text 31"/>
          <p:cNvSpPr/>
          <p:nvPr/>
        </p:nvSpPr>
        <p:spPr>
          <a:xfrm>
            <a:off x="4489704" y="3886200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9A4F00"/>
                </a:solidFill>
              </a:rPr>
              <a:t>Loop Guard</a:t>
            </a:r>
            <a:endParaRPr lang="en-US" sz="1070" dirty="0"/>
          </a:p>
        </p:txBody>
      </p:sp>
      <p:sp>
        <p:nvSpPr>
          <p:cNvPr id="34" name="Text 32"/>
          <p:cNvSpPr/>
          <p:nvPr/>
        </p:nvSpPr>
        <p:spPr>
          <a:xfrm>
            <a:off x="4489704" y="4078224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Beskytter mot feilaktig forwarding ved linkfeil</a:t>
            </a:r>
            <a:endParaRPr lang="en-US" sz="835" dirty="0"/>
          </a:p>
        </p:txBody>
      </p:sp>
      <p:sp>
        <p:nvSpPr>
          <p:cNvPr id="35" name="Shape 33"/>
          <p:cNvSpPr/>
          <p:nvPr/>
        </p:nvSpPr>
        <p:spPr>
          <a:xfrm>
            <a:off x="4361688" y="4517136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EFD2A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6" name="Text 34"/>
          <p:cNvSpPr/>
          <p:nvPr/>
        </p:nvSpPr>
        <p:spPr>
          <a:xfrm>
            <a:off x="4489704" y="4590288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9A4F00"/>
                </a:solidFill>
              </a:rPr>
              <a:t>VLAN 999 + shutdown</a:t>
            </a:r>
            <a:endParaRPr lang="en-US" sz="1070" dirty="0"/>
          </a:p>
        </p:txBody>
      </p:sp>
      <p:sp>
        <p:nvSpPr>
          <p:cNvPr id="37" name="Text 35"/>
          <p:cNvSpPr/>
          <p:nvPr/>
        </p:nvSpPr>
        <p:spPr>
          <a:xfrm>
            <a:off x="4489704" y="4782312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Ubrukte porter bærer ikke produksjonstrafikk</a:t>
            </a:r>
            <a:endParaRPr lang="en-US" sz="835" dirty="0"/>
          </a:p>
        </p:txBody>
      </p:sp>
      <p:sp>
        <p:nvSpPr>
          <p:cNvPr id="38" name="Shape 36"/>
          <p:cNvSpPr/>
          <p:nvPr/>
        </p:nvSpPr>
        <p:spPr>
          <a:xfrm>
            <a:off x="7845552" y="2404872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BFE3C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39" name="Text 37"/>
          <p:cNvSpPr/>
          <p:nvPr/>
        </p:nvSpPr>
        <p:spPr>
          <a:xfrm>
            <a:off x="7973568" y="2478024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166534"/>
                </a:solidFill>
              </a:rPr>
              <a:t>VRF + ACL</a:t>
            </a:r>
            <a:endParaRPr lang="en-US" sz="1070" dirty="0"/>
          </a:p>
        </p:txBody>
      </p:sp>
      <p:sp>
        <p:nvSpPr>
          <p:cNvPr id="40" name="Text 38"/>
          <p:cNvSpPr/>
          <p:nvPr/>
        </p:nvSpPr>
        <p:spPr>
          <a:xfrm>
            <a:off x="7973568" y="267004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Segmentering og eksplisitt trafikkpolicy</a:t>
            </a:r>
            <a:endParaRPr lang="en-US" sz="835" dirty="0"/>
          </a:p>
        </p:txBody>
      </p:sp>
      <p:sp>
        <p:nvSpPr>
          <p:cNvPr id="41" name="Shape 39"/>
          <p:cNvSpPr/>
          <p:nvPr/>
        </p:nvSpPr>
        <p:spPr>
          <a:xfrm>
            <a:off x="7845552" y="3108960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BFE3C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2" name="Text 40"/>
          <p:cNvSpPr/>
          <p:nvPr/>
        </p:nvSpPr>
        <p:spPr>
          <a:xfrm>
            <a:off x="7973568" y="3182112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166534"/>
                </a:solidFill>
              </a:rPr>
              <a:t>SSH v2</a:t>
            </a:r>
            <a:endParaRPr lang="en-US" sz="1070" dirty="0"/>
          </a:p>
        </p:txBody>
      </p:sp>
      <p:sp>
        <p:nvSpPr>
          <p:cNvPr id="43" name="Text 41"/>
          <p:cNvSpPr/>
          <p:nvPr/>
        </p:nvSpPr>
        <p:spPr>
          <a:xfrm>
            <a:off x="7973568" y="3374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Kryptert administrasjon fra MGMT-nett</a:t>
            </a:r>
            <a:endParaRPr lang="en-US" sz="835" dirty="0"/>
          </a:p>
        </p:txBody>
      </p:sp>
      <p:sp>
        <p:nvSpPr>
          <p:cNvPr id="44" name="Shape 42"/>
          <p:cNvSpPr/>
          <p:nvPr/>
        </p:nvSpPr>
        <p:spPr>
          <a:xfrm>
            <a:off x="7845552" y="3813048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BFE3C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5" name="Text 43"/>
          <p:cNvSpPr/>
          <p:nvPr/>
        </p:nvSpPr>
        <p:spPr>
          <a:xfrm>
            <a:off x="7973568" y="3886200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166534"/>
                </a:solidFill>
              </a:rPr>
              <a:t>TACACS+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7973568" y="4078224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Sentral autentisering og autorisasjon</a:t>
            </a:r>
            <a:endParaRPr lang="en-US" sz="835" dirty="0"/>
          </a:p>
        </p:txBody>
      </p:sp>
      <p:sp>
        <p:nvSpPr>
          <p:cNvPr id="47" name="Shape 45"/>
          <p:cNvSpPr/>
          <p:nvPr/>
        </p:nvSpPr>
        <p:spPr>
          <a:xfrm>
            <a:off x="7845552" y="4517136"/>
            <a:ext cx="2542032" cy="603504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0160">
            <a:solidFill>
              <a:srgbClr val="BFE3C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48" name="Text 46"/>
          <p:cNvSpPr/>
          <p:nvPr/>
        </p:nvSpPr>
        <p:spPr>
          <a:xfrm>
            <a:off x="7973568" y="4590288"/>
            <a:ext cx="2267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b="1" dirty="0">
                <a:solidFill>
                  <a:srgbClr val="166534"/>
                </a:solidFill>
              </a:rPr>
              <a:t>IPsec</a:t>
            </a:r>
            <a:endParaRPr lang="en-US" sz="1070" dirty="0"/>
          </a:p>
        </p:txBody>
      </p:sp>
      <p:sp>
        <p:nvSpPr>
          <p:cNvPr id="49" name="Text 47"/>
          <p:cNvSpPr/>
          <p:nvPr/>
        </p:nvSpPr>
        <p:spPr>
          <a:xfrm>
            <a:off x="7973568" y="4782312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5" dirty="0">
                <a:solidFill>
                  <a:srgbClr val="1E293B"/>
                </a:solidFill>
              </a:rPr>
              <a:t>Kryptering/integritet på operative overlay</a:t>
            </a:r>
            <a:endParaRPr lang="en-US" sz="835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Sentral overvåkning, logging og tid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</a:rPr>
              <a:t>BNHQ samler synlighet og administrasjon – uten å blande sammen syslog og speilet trafikk.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5715000" cy="4553712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pic>
        <p:nvPicPr>
          <p:cNvPr id="5" name="Image 0" descr="/mnt/data/bnhq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802276"/>
            <a:ext cx="5349240" cy="34454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656832" y="130759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28A745"/>
                </a:solidFill>
              </a:rPr>
              <a:t>TO DATASTRØMMER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629400" y="1645920"/>
            <a:ext cx="480060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B7D2F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5"/>
          <p:cNvSpPr/>
          <p:nvPr/>
        </p:nvSpPr>
        <p:spPr>
          <a:xfrm>
            <a:off x="6858000" y="18653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40AF"/>
                </a:solidFill>
              </a:rPr>
              <a:t>SYSLOG + NTP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75320" y="180136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1E293B"/>
                </a:solidFill>
              </a:rPr>
              <a:t>Enhetene sender hendelser til sentral loggtjeneste. Felles NTP gjør at hendelser kan korreleres i riktig tidsrekkefølge.</a:t>
            </a:r>
            <a:endParaRPr lang="en-US" sz="1110" dirty="0"/>
          </a:p>
        </p:txBody>
      </p:sp>
      <p:sp>
        <p:nvSpPr>
          <p:cNvPr id="10" name="Shape 7"/>
          <p:cNvSpPr/>
          <p:nvPr/>
        </p:nvSpPr>
        <p:spPr>
          <a:xfrm>
            <a:off x="6629400" y="2999232"/>
            <a:ext cx="4800600" cy="1143000"/>
          </a:xfrm>
          <a:prstGeom prst="roundRect">
            <a:avLst>
              <a:gd name="adj" fmla="val 4800"/>
            </a:avLst>
          </a:prstGeom>
          <a:solidFill>
            <a:srgbClr val="EAF7EE"/>
          </a:solidFill>
          <a:ln w="12700">
            <a:solidFill>
              <a:srgbClr val="BFE3C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6858000" y="322783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6534"/>
                </a:solidFill>
              </a:rPr>
              <a:t>ERSPAN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275320" y="3145536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1E293B"/>
                </a:solidFill>
              </a:rPr>
              <a:t>Utvalgt dataplantrafikk speiles over MONITORING-overlayet til Security Onion for IDS- og nettverksanalyse.</a:t>
            </a:r>
            <a:endParaRPr lang="en-US" sz="1110" dirty="0"/>
          </a:p>
        </p:txBody>
      </p:sp>
      <p:sp>
        <p:nvSpPr>
          <p:cNvPr id="13" name="Shape 10"/>
          <p:cNvSpPr/>
          <p:nvPr/>
        </p:nvSpPr>
        <p:spPr>
          <a:xfrm>
            <a:off x="6629400" y="4352544"/>
            <a:ext cx="4800600" cy="1051560"/>
          </a:xfrm>
          <a:prstGeom prst="roundRect">
            <a:avLst>
              <a:gd name="adj" fmla="val 5217"/>
            </a:avLst>
          </a:prstGeom>
          <a:solidFill>
            <a:srgbClr val="F1EBFF"/>
          </a:solidFill>
          <a:ln w="12700">
            <a:solidFill>
              <a:srgbClr val="D8C7FF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6858000" y="45902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B21B6"/>
                </a:solidFill>
              </a:rPr>
              <a:t>AAA / TACACS+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275320" y="450799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dirty="0">
                <a:solidFill>
                  <a:srgbClr val="1E293B"/>
                </a:solidFill>
              </a:rPr>
              <a:t>Sentral kontroll på hvem som kan administrere utstyret, med lokal fallback dersom tjenesten er utilgjengelig.</a:t>
            </a:r>
            <a:endParaRPr lang="en-US" sz="1110" dirty="0"/>
          </a:p>
        </p:txBody>
      </p:sp>
      <p:sp>
        <p:nvSpPr>
          <p:cNvPr id="16" name="Shape 13"/>
          <p:cNvSpPr/>
          <p:nvPr/>
        </p:nvSpPr>
        <p:spPr>
          <a:xfrm>
            <a:off x="804672" y="5925312"/>
            <a:ext cx="10378440" cy="384048"/>
          </a:xfrm>
          <a:prstGeom prst="roundRect">
            <a:avLst>
              <a:gd name="adj" fmla="val 9524"/>
            </a:avLst>
          </a:prstGeom>
          <a:solidFill>
            <a:srgbClr val="EEF2F7"/>
          </a:solidFill>
          <a:ln w="1270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7" name="Text 14"/>
          <p:cNvSpPr/>
          <p:nvPr/>
        </p:nvSpPr>
        <p:spPr>
          <a:xfrm>
            <a:off x="1005840" y="6025896"/>
            <a:ext cx="9966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40" b="1" dirty="0">
                <a:solidFill>
                  <a:srgbClr val="0F172A"/>
                </a:solidFill>
              </a:rPr>
              <a:t>Poenget: vi får både hendelseslogger og </a:t>
            </a:r>
            <a:r>
              <a:rPr lang="en-US" sz="1140" b="1" dirty="0" err="1">
                <a:solidFill>
                  <a:srgbClr val="0F172A"/>
                </a:solidFill>
              </a:rPr>
              <a:t>selve</a:t>
            </a:r>
            <a:r>
              <a:rPr lang="en-US" sz="1140" b="1" dirty="0">
                <a:solidFill>
                  <a:srgbClr val="0F172A"/>
                </a:solidFill>
              </a:rPr>
              <a:t> </a:t>
            </a:r>
            <a:r>
              <a:rPr lang="en-US" sz="1140" b="1" dirty="0" err="1">
                <a:solidFill>
                  <a:srgbClr val="0F172A"/>
                </a:solidFill>
              </a:rPr>
              <a:t>nettverkstrafikken</a:t>
            </a:r>
            <a:r>
              <a:rPr lang="en-US" sz="1140" b="1" dirty="0">
                <a:solidFill>
                  <a:srgbClr val="0F172A"/>
                </a:solidFill>
              </a:rPr>
              <a:t>, to komplementære kilder ved feilsøking og hendelseshåndtering.</a:t>
            </a:r>
            <a:endParaRPr lang="en-US" sz="11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Drift og skalerbarhet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</a:rPr>
              <a:t>Standardisert fysisk oppbygning og konfigurasjonsgenerator reduserer manuelt arbeid og konfigurasjonsavvik.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6080760" cy="443484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pic>
        <p:nvPicPr>
          <p:cNvPr id="5" name="Image 0" descr="/mnt/data/bygg_nettverk(2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44394"/>
            <a:ext cx="5623560" cy="34606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86016" y="12984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28A745"/>
                </a:solidFill>
              </a:rPr>
              <a:t>FRA MAL TIL FERDIG KONFIG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967728" y="1828800"/>
            <a:ext cx="1261872" cy="1298448"/>
          </a:xfrm>
          <a:prstGeom prst="roundRect">
            <a:avLst>
              <a:gd name="adj" fmla="val 4348"/>
            </a:avLst>
          </a:prstGeom>
          <a:solidFill>
            <a:srgbClr val="EAF2FF"/>
          </a:solidFill>
          <a:ln w="1397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8" name="Text 5"/>
          <p:cNvSpPr/>
          <p:nvPr/>
        </p:nvSpPr>
        <p:spPr>
          <a:xfrm>
            <a:off x="7059168" y="1993392"/>
            <a:ext cx="10789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0F172A"/>
                </a:solidFill>
              </a:rPr>
              <a:t>Excel-mal</a:t>
            </a:r>
            <a:endParaRPr lang="en-US" sz="1320" dirty="0"/>
          </a:p>
        </p:txBody>
      </p:sp>
      <p:sp>
        <p:nvSpPr>
          <p:cNvPr id="9" name="Text 6"/>
          <p:cNvSpPr/>
          <p:nvPr/>
        </p:nvSpPr>
        <p:spPr>
          <a:xfrm>
            <a:off x="7059168" y="2331720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E293B"/>
                </a:solidFill>
              </a:rPr>
              <a:t>Sites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E293B"/>
                </a:solidFill>
              </a:rPr>
              <a:t>VLAN/VRF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E293B"/>
                </a:solidFill>
              </a:rPr>
              <a:t>policy</a:t>
            </a:r>
            <a:endParaRPr lang="en-US" sz="1020" dirty="0"/>
          </a:p>
        </p:txBody>
      </p:sp>
      <p:sp>
        <p:nvSpPr>
          <p:cNvPr id="10" name="Shape 7"/>
          <p:cNvSpPr/>
          <p:nvPr/>
        </p:nvSpPr>
        <p:spPr>
          <a:xfrm>
            <a:off x="8659368" y="1828800"/>
            <a:ext cx="1353312" cy="1298448"/>
          </a:xfrm>
          <a:prstGeom prst="roundRect">
            <a:avLst>
              <a:gd name="adj" fmla="val 4225"/>
            </a:avLst>
          </a:prstGeom>
          <a:solidFill>
            <a:srgbClr val="F1EB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" name="Text 8"/>
          <p:cNvSpPr/>
          <p:nvPr/>
        </p:nvSpPr>
        <p:spPr>
          <a:xfrm>
            <a:off x="8750808" y="1993392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0F172A"/>
                </a:solidFill>
              </a:rPr>
              <a:t>Generator</a:t>
            </a:r>
            <a:endParaRPr lang="en-US" sz="1320" dirty="0"/>
          </a:p>
        </p:txBody>
      </p:sp>
      <p:sp>
        <p:nvSpPr>
          <p:cNvPr id="12" name="Text 9"/>
          <p:cNvSpPr/>
          <p:nvPr/>
        </p:nvSpPr>
        <p:spPr>
          <a:xfrm>
            <a:off x="8750808" y="2331720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E293B"/>
                </a:solidFill>
              </a:rPr>
              <a:t>Validerer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E293B"/>
                </a:solidFill>
              </a:rPr>
              <a:t>og bygger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E293B"/>
                </a:solidFill>
              </a:rPr>
              <a:t>config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10442448" y="1828800"/>
            <a:ext cx="1115568" cy="1298448"/>
          </a:xfrm>
          <a:prstGeom prst="roundRect">
            <a:avLst>
              <a:gd name="adj" fmla="val 4918"/>
            </a:avLst>
          </a:prstGeom>
          <a:solidFill>
            <a:srgbClr val="EAF7EE"/>
          </a:solidFill>
          <a:ln w="1397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" name="Text 11"/>
          <p:cNvSpPr/>
          <p:nvPr/>
        </p:nvSpPr>
        <p:spPr>
          <a:xfrm>
            <a:off x="10533888" y="1993392"/>
            <a:ext cx="932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0F172A"/>
                </a:solidFill>
              </a:rPr>
              <a:t>Output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10533888" y="2331720"/>
            <a:ext cx="932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E293B"/>
                </a:solidFill>
              </a:rPr>
              <a:t>Router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E293B"/>
                </a:solidFill>
              </a:rPr>
              <a:t>Switch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E293B"/>
                </a:solidFill>
              </a:rPr>
              <a:t>baseline</a:t>
            </a:r>
            <a:endParaRPr lang="en-US" sz="1020" dirty="0"/>
          </a:p>
        </p:txBody>
      </p:sp>
      <p:sp>
        <p:nvSpPr>
          <p:cNvPr id="16" name="Shape 13"/>
          <p:cNvSpPr/>
          <p:nvPr/>
        </p:nvSpPr>
        <p:spPr>
          <a:xfrm>
            <a:off x="8275320" y="2478024"/>
            <a:ext cx="310896" cy="0"/>
          </a:xfrm>
          <a:prstGeom prst="line">
            <a:avLst/>
          </a:prstGeom>
          <a:noFill/>
          <a:ln w="2286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17" name="Shape 14"/>
          <p:cNvSpPr/>
          <p:nvPr/>
        </p:nvSpPr>
        <p:spPr>
          <a:xfrm>
            <a:off x="10058400" y="2478024"/>
            <a:ext cx="310896" cy="0"/>
          </a:xfrm>
          <a:prstGeom prst="line">
            <a:avLst/>
          </a:prstGeom>
          <a:noFill/>
          <a:ln w="2286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nb-NO"/>
          </a:p>
        </p:txBody>
      </p:sp>
      <p:sp>
        <p:nvSpPr>
          <p:cNvPr id="18" name="Shape 15"/>
          <p:cNvSpPr/>
          <p:nvPr/>
        </p:nvSpPr>
        <p:spPr>
          <a:xfrm>
            <a:off x="6976872" y="3429000"/>
            <a:ext cx="46177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" name="Shape 16"/>
          <p:cNvSpPr/>
          <p:nvPr/>
        </p:nvSpPr>
        <p:spPr>
          <a:xfrm>
            <a:off x="6976872" y="3429000"/>
            <a:ext cx="64008" cy="786384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" name="Text 17"/>
          <p:cNvSpPr/>
          <p:nvPr/>
        </p:nvSpPr>
        <p:spPr>
          <a:xfrm>
            <a:off x="7159752" y="35661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Ny site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7159752" y="386791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E293B"/>
                </a:solidFill>
              </a:rPr>
              <a:t>Samme VLAN/VRF-struktur og DMVPN-baseline gjenbrukes. Færre manuelle endringer på hub.</a:t>
            </a:r>
            <a:endParaRPr lang="en-US" sz="1120" dirty="0"/>
          </a:p>
        </p:txBody>
      </p:sp>
      <p:sp>
        <p:nvSpPr>
          <p:cNvPr id="22" name="Shape 19"/>
          <p:cNvSpPr/>
          <p:nvPr/>
        </p:nvSpPr>
        <p:spPr>
          <a:xfrm>
            <a:off x="6976872" y="4370832"/>
            <a:ext cx="46177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" name="Shape 20"/>
          <p:cNvSpPr/>
          <p:nvPr/>
        </p:nvSpPr>
        <p:spPr>
          <a:xfrm>
            <a:off x="6976872" y="4370832"/>
            <a:ext cx="64008" cy="7863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4" name="Text 21"/>
          <p:cNvSpPr/>
          <p:nvPr/>
        </p:nvSpPr>
        <p:spPr>
          <a:xfrm>
            <a:off x="7159752" y="4507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Tilgjengelighet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7159752" y="480974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E293B"/>
                </a:solidFill>
              </a:rPr>
              <a:t>EtherChannel, STP-beskyttelse og QoS reduserer konsekvensene av feil og kapasitetsmangel.</a:t>
            </a:r>
            <a:endParaRPr lang="en-US" sz="1120" dirty="0"/>
          </a:p>
        </p:txBody>
      </p:sp>
      <p:sp>
        <p:nvSpPr>
          <p:cNvPr id="26" name="Shape 23"/>
          <p:cNvSpPr/>
          <p:nvPr/>
        </p:nvSpPr>
        <p:spPr>
          <a:xfrm>
            <a:off x="6976872" y="5312664"/>
            <a:ext cx="46177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16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7" name="Shape 24"/>
          <p:cNvSpPr/>
          <p:nvPr/>
        </p:nvSpPr>
        <p:spPr>
          <a:xfrm>
            <a:off x="6976872" y="5312664"/>
            <a:ext cx="64008" cy="7863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8" name="Text 25"/>
          <p:cNvSpPr/>
          <p:nvPr/>
        </p:nvSpPr>
        <p:spPr>
          <a:xfrm>
            <a:off x="7159752" y="544982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</a:rPr>
              <a:t>Kontrollert innføring</a:t>
            </a:r>
            <a:endParaRPr lang="en-US" sz="1650" dirty="0"/>
          </a:p>
        </p:txBody>
      </p:sp>
      <p:sp>
        <p:nvSpPr>
          <p:cNvPr id="29" name="Text 26"/>
          <p:cNvSpPr/>
          <p:nvPr/>
        </p:nvSpPr>
        <p:spPr>
          <a:xfrm>
            <a:off x="7159752" y="57515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E293B"/>
                </a:solidFill>
              </a:rPr>
              <a:t>Konfigurasjonen testes i lab før produksjon og dokumenteres for senere kontingenter.</a:t>
            </a:r>
            <a:endParaRPr lang="en-US" sz="112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Hvorfor denne løsningen?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</a:rPr>
              <a:t>Designet møter kravene uten å gjøre transportnettet eller driften unødvendig komplisert.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EAF7EE"/>
          </a:solidFill>
          <a:ln w="1016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64008" cy="150876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</a:rPr>
              <a:t>Sikkerhet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85623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E293B"/>
                </a:solidFill>
              </a:rPr>
              <a:t>VRF/VLAN, least-privilege ACL, Layer 2-beskyttelse, SSH/TACACS+ og IPsec.</a:t>
            </a:r>
            <a:endParaRPr lang="en-US" sz="123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EAF2FF"/>
          </a:solidFill>
          <a:ln w="1016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64008" cy="1508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Text 8"/>
          <p:cNvSpPr/>
          <p:nvPr/>
        </p:nvSpPr>
        <p:spPr>
          <a:xfrm>
            <a:off x="4526280" y="1554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</a:rPr>
              <a:t>Skalerbarhet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185623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E293B"/>
                </a:solidFill>
              </a:rPr>
              <a:t>DMVPN Phase 3, EIGRP og standardiserte sites gjør vekst enklere.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8001000" y="141732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1EBFF"/>
          </a:solidFill>
          <a:ln w="1016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64008" cy="1508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" name="Text 12"/>
          <p:cNvSpPr/>
          <p:nvPr/>
        </p:nvSpPr>
        <p:spPr>
          <a:xfrm>
            <a:off x="8183880" y="1554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</a:rPr>
              <a:t>Synlighet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183880" y="185623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E293B"/>
                </a:solidFill>
              </a:rPr>
              <a:t>Sentral syslog, NTP, ERSPAN og Security Onion gir bedre deteksjon og feilsøking.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2514600" y="3182112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FF4E5"/>
          </a:solidFill>
          <a:ln w="1016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17" name="Shape 15"/>
          <p:cNvSpPr/>
          <p:nvPr/>
        </p:nvSpPr>
        <p:spPr>
          <a:xfrm>
            <a:off x="2514600" y="3182112"/>
            <a:ext cx="64008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8" name="Text 16"/>
          <p:cNvSpPr/>
          <p:nvPr/>
        </p:nvSpPr>
        <p:spPr>
          <a:xfrm>
            <a:off x="2697480" y="33192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</a:rPr>
              <a:t>Gjenbruk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697480" y="3621024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E293B"/>
                </a:solidFill>
              </a:rPr>
              <a:t>Litauisk L3-VPN beholdes uendret og eksisterende Cisco-utstyr brukes så langt som mulig.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6172200" y="3182112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DECEC"/>
          </a:solidFill>
          <a:ln w="10160">
            <a:solidFill>
              <a:srgbClr val="D8E0E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21" name="Shape 19"/>
          <p:cNvSpPr/>
          <p:nvPr/>
        </p:nvSpPr>
        <p:spPr>
          <a:xfrm>
            <a:off x="6172200" y="3182112"/>
            <a:ext cx="64008" cy="1508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" name="Text 20"/>
          <p:cNvSpPr/>
          <p:nvPr/>
        </p:nvSpPr>
        <p:spPr>
          <a:xfrm>
            <a:off x="6355080" y="33192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</a:rPr>
              <a:t>Drift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3621024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E293B"/>
                </a:solidFill>
              </a:rPr>
              <a:t>Konfigurasjonsgenerator, felles baseline og labtesting reduserer konfigurasjonsavvik og risiko.</a:t>
            </a:r>
            <a:endParaRPr lang="en-US" sz="1230" dirty="0"/>
          </a:p>
        </p:txBody>
      </p:sp>
      <p:sp>
        <p:nvSpPr>
          <p:cNvPr id="24" name="Shape 22"/>
          <p:cNvSpPr/>
          <p:nvPr/>
        </p:nvSpPr>
        <p:spPr>
          <a:xfrm>
            <a:off x="1005840" y="5166360"/>
            <a:ext cx="10149840" cy="777240"/>
          </a:xfrm>
          <a:prstGeom prst="roundRect">
            <a:avLst>
              <a:gd name="adj" fmla="val 7059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nb-NO"/>
          </a:p>
        </p:txBody>
      </p:sp>
      <p:sp>
        <p:nvSpPr>
          <p:cNvPr id="25" name="Text 23"/>
          <p:cNvSpPr/>
          <p:nvPr/>
        </p:nvSpPr>
        <p:spPr>
          <a:xfrm>
            <a:off x="1280160" y="5413248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50" b="1" dirty="0">
                <a:solidFill>
                  <a:srgbClr val="FFFFFF"/>
                </a:solidFill>
              </a:rPr>
              <a:t>Behold underlayet. Segmenter tjenestene. Sikre overlayet. Standardiser driften.</a:t>
            </a:r>
            <a:endParaRPr lang="en-US" sz="1850" dirty="0"/>
          </a:p>
        </p:txBody>
      </p:sp>
      <p:sp>
        <p:nvSpPr>
          <p:cNvPr id="26" name="Text 24"/>
          <p:cNvSpPr/>
          <p:nvPr/>
        </p:nvSpPr>
        <p:spPr>
          <a:xfrm>
            <a:off x="5074920" y="6080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A34A"/>
                </a:solidFill>
              </a:rPr>
              <a:t>Spørsmål?</a:t>
            </a:r>
            <a:endParaRPr lang="en-US" sz="21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1311</Words>
  <Application>Microsoft Office PowerPoint</Application>
  <PresentationFormat>Widescreen</PresentationFormat>
  <Paragraphs>223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NETworkSTUFF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Designløsning for bataljonsnettverk</dc:title>
  <dc:subject>Designpresentasjon – bataljonsnettverk</dc:subject>
  <dc:creator>OpenAI</dc:creator>
  <cp:lastModifiedBy>yonatan moknen</cp:lastModifiedBy>
  <cp:revision>7</cp:revision>
  <dcterms:created xsi:type="dcterms:W3CDTF">2026-09-21T14:36:40Z</dcterms:created>
  <dcterms:modified xsi:type="dcterms:W3CDTF">2026-09-21T20:10:18Z</dcterms:modified>
</cp:coreProperties>
</file>