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3" autoAdjust="0"/>
    <p:restoredTop sz="94610"/>
  </p:normalViewPr>
  <p:slideViewPr>
    <p:cSldViewPr snapToGrid="0" snapToObjects="1">
      <p:cViewPr>
        <p:scale>
          <a:sx n="150" d="100"/>
          <a:sy n="150" d="100"/>
        </p:scale>
        <p:origin x="2832" y="3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003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30 sek. Åpne med én setning: Vi har beholdt den eksisterende transporten, men bygget et segmentert og overvåkbart overlay oppå den. Målet er å redusere risiko uten å miste dagens funksjonalitet eller kreve store nyanskaffelser.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55 sek. Forklar hvorfor redesign er nødvendig: nettet er flatt, private DHCP-enheter har skapt ustabilitet, og det mangler sentral logging og synlighet. Samtidig må vi gjenbruke eksisterende utstyr og ikke endre det litauiske Layer 3-VPN-et. Designmålet blir derfor å segmentere, begrense, overvåke og standardisere.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70 sek. Gå fra venstre mot høyre. Den litauiske VPN-en er bare transport og endres ikke. Over den kjører vi separate DMVPN-overlay per VRF. BNHQ er hub og samler sentrale tjenester som AAA, logging, NTP og IDS. Operative overlay beskyttes med IPsec, mens INET ikke trenger samme beskyttelse. Monitoring-trafikk kan speiles med ERSPAN til Security Onion.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65 sek. På hvert site bruker vi samme fem segmenter. VLAN skiller på Layer 2 og VRF skiller rutingtabellene på Layer 3. Adresseplanen er konsekvent: andre oktett er site, tredje identifiserer tjenesten. Trafikk mellom segmenter følger en eksplisitt tjenestematrise, og hver VRF fortsetter videre i sitt eget DMVPN-overlay.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80 sek. Dette er nøkkelforskjellen fra ren hub-and-spoke. Huben er fortsatt NHRP-server og kontrollpunkt. Første trafikk mellom to spokes kan gå via BNHQ. Huben sender NHRP redirect, og spoke lærer en shortcut. Deretter kan selve datatrafikken gå direkte mellom sites. Det reduserer belastningen på huben og gjør løsningen mer skalerbar.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70 sek. Presenter sikkerheten lagvis. På accesslaget stopper DHCP Snooping falske DHCP-servere og gir bindinger som DAI og IP Source Guard kan bruke. STP-beskyttelsen hindrer uautoriserte switcher og loops. Administrasjon begrenses til MGMT, skjer over SSH og autentiseres med TACACS+. IPsec beskytter de operative DMVPN-overlayene.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60 sek. Her er det viktig å skille mellom syslog og ERSPAN. Syslog er hendelser fra nettverksenhetene. ERSPAN er kopier av utvalgte datapakker. NTP sørger for felles tid, og TACACS+ gir sentral kontroll på administrativ tilgang. Samlet gir dette langt bedre synlighet enn dagens nett.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60 sek. Nettverket skal være mulig å drifte også av neste kontingent. Derfor bruker vi samme site-struktur og samme sikkerhetsbaseline overalt. Excel-malen beskriver site, VLAN, VRF, policy og tjenester, og generatoren lager router- og switch-konfigurasjoner. Nye sites blir derfor mer forutsigbare og mindre avhengige av manuell konfigurasjon.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40 sek. Avslutt med hovedpoenget: vi endrer ikke transportnettet, men legger kontroll og sikkerhet i vårt eget overlay. Løsningen gir segmentering, skalerbarhet og synlighet, samtidig som vi gjenbruker eksisterende infrastruktur og standardiserer driften. Stopp her og ta spørsmål.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8A745"/>
          </a:solidFill>
          <a:ln w="12700">
            <a:solidFill>
              <a:srgbClr val="28A745"/>
            </a:solidFill>
            <a:prstDash val="solid"/>
          </a:ln>
        </p:spPr>
        <p:txBody>
          <a:bodyPr/>
          <a:lstStyle/>
          <a:p>
            <a:endParaRPr lang="nb-NO"/>
          </a:p>
        </p:txBody>
      </p:sp>
      <p:sp>
        <p:nvSpPr>
          <p:cNvPr id="3" name="Text 1"/>
          <p:cNvSpPr/>
          <p:nvPr/>
        </p:nvSpPr>
        <p:spPr>
          <a:xfrm>
            <a:off x="502920" y="6510528"/>
            <a:ext cx="5760720" cy="164592"/>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Bataljonsnettverk – designpresentasjon</a:t>
            </a:r>
            <a:endParaRPr lang="en-US" sz="850" dirty="0"/>
          </a:p>
        </p:txBody>
      </p:sp>
      <p:sp>
        <p:nvSpPr>
          <p:cNvPr id="4" name="Text 2"/>
          <p:cNvSpPr/>
          <p:nvPr/>
        </p:nvSpPr>
        <p:spPr>
          <a:xfrm>
            <a:off x="9372600" y="6510528"/>
            <a:ext cx="2286000" cy="164592"/>
          </a:xfrm>
          <a:prstGeom prst="rect">
            <a:avLst/>
          </a:prstGeom>
          <a:noFill/>
          <a:ln/>
        </p:spPr>
        <p:txBody>
          <a:bodyPr wrap="square" lIns="0" tIns="0" rIns="0" bIns="0" rtlCol="0" anchor="ctr"/>
          <a:lstStyle/>
          <a:p>
            <a:pPr marL="0" indent="0" algn="r">
              <a:buNone/>
            </a:pPr>
            <a:r>
              <a:rPr lang="en-US" sz="850" dirty="0">
                <a:solidFill>
                  <a:srgbClr val="64748B"/>
                </a:solidFill>
                <a:latin typeface="Aptos" pitchFamily="34" charset="0"/>
                <a:ea typeface="Aptos" pitchFamily="34" charset="-122"/>
                <a:cs typeface="Aptos" pitchFamily="34" charset="-120"/>
              </a:rPr>
              <a:t>Design • sikkerhet • drift</a:t>
            </a:r>
            <a:endParaRPr lang="en-US" sz="85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F33"/>
          </a:solidFill>
          <a:ln w="12700">
            <a:solidFill>
              <a:srgbClr val="0B1F33"/>
            </a:solidFill>
            <a:prstDash val="solid"/>
          </a:ln>
        </p:spPr>
        <p:txBody>
          <a:bodyPr/>
          <a:lstStyle/>
          <a:p>
            <a:endParaRPr lang="nb-NO"/>
          </a:p>
        </p:txBody>
      </p:sp>
      <p:sp>
        <p:nvSpPr>
          <p:cNvPr id="3" name="Shape 1"/>
          <p:cNvSpPr/>
          <p:nvPr/>
        </p:nvSpPr>
        <p:spPr>
          <a:xfrm>
            <a:off x="0" y="0"/>
            <a:ext cx="12191695" cy="73152"/>
          </a:xfrm>
          <a:prstGeom prst="rect">
            <a:avLst/>
          </a:prstGeom>
          <a:solidFill>
            <a:srgbClr val="28A745"/>
          </a:solidFill>
          <a:ln w="12700">
            <a:solidFill>
              <a:srgbClr val="28A745"/>
            </a:solidFill>
            <a:prstDash val="solid"/>
          </a:ln>
        </p:spPr>
        <p:txBody>
          <a:bodyPr/>
          <a:lstStyle/>
          <a:p>
            <a:endParaRPr lang="nb-NO"/>
          </a:p>
        </p:txBody>
      </p:sp>
      <p:sp>
        <p:nvSpPr>
          <p:cNvPr id="4" name="Text 2"/>
          <p:cNvSpPr/>
          <p:nvPr/>
        </p:nvSpPr>
        <p:spPr>
          <a:xfrm>
            <a:off x="713232" y="658368"/>
            <a:ext cx="3017520" cy="219456"/>
          </a:xfrm>
          <a:prstGeom prst="rect">
            <a:avLst/>
          </a:prstGeom>
          <a:noFill/>
          <a:ln/>
        </p:spPr>
        <p:txBody>
          <a:bodyPr wrap="square" lIns="0" tIns="0" rIns="0" bIns="0" rtlCol="0" anchor="ctr"/>
          <a:lstStyle/>
          <a:p>
            <a:pPr marL="0" indent="0">
              <a:buNone/>
            </a:pPr>
            <a:r>
              <a:rPr lang="en-US" sz="1100" b="1" kern="0" spc="160" dirty="0">
                <a:solidFill>
                  <a:srgbClr val="65D68C"/>
                </a:solidFill>
              </a:rPr>
              <a:t>DESIGNPRESENTASJON</a:t>
            </a:r>
            <a:endParaRPr lang="en-US" sz="1100" dirty="0"/>
          </a:p>
        </p:txBody>
      </p:sp>
      <p:sp>
        <p:nvSpPr>
          <p:cNvPr id="5" name="Text 3"/>
          <p:cNvSpPr/>
          <p:nvPr/>
        </p:nvSpPr>
        <p:spPr>
          <a:xfrm>
            <a:off x="713232" y="1051560"/>
            <a:ext cx="6309360" cy="1417320"/>
          </a:xfrm>
          <a:prstGeom prst="rect">
            <a:avLst/>
          </a:prstGeom>
          <a:noFill/>
          <a:ln/>
        </p:spPr>
        <p:txBody>
          <a:bodyPr wrap="square" lIns="0" tIns="0" rIns="0" bIns="0" rtlCol="0" anchor="ctr">
            <a:normAutofit/>
          </a:bodyPr>
          <a:lstStyle/>
          <a:p>
            <a:pPr marL="0" indent="0">
              <a:buNone/>
            </a:pPr>
            <a:r>
              <a:rPr lang="en-US" sz="3300" b="1" dirty="0">
                <a:solidFill>
                  <a:srgbClr val="FFFFFF"/>
                </a:solidFill>
                <a:latin typeface="Aptos Display" pitchFamily="34" charset="0"/>
                <a:ea typeface="Aptos Display" pitchFamily="34" charset="-122"/>
                <a:cs typeface="Aptos Display" pitchFamily="34" charset="-120"/>
              </a:rPr>
              <a:t>Ny nettverksdesign</a:t>
            </a:r>
            <a:endParaRPr lang="en-US" sz="3300" dirty="0"/>
          </a:p>
          <a:p>
            <a:pPr marL="0" indent="0">
              <a:buNone/>
            </a:pPr>
            <a:r>
              <a:rPr lang="en-US" sz="3300" b="1" dirty="0">
                <a:solidFill>
                  <a:srgbClr val="FFFFFF"/>
                </a:solidFill>
                <a:latin typeface="Aptos Display" pitchFamily="34" charset="0"/>
                <a:ea typeface="Aptos Display" pitchFamily="34" charset="-122"/>
                <a:cs typeface="Aptos Display" pitchFamily="34" charset="-120"/>
              </a:rPr>
              <a:t>for bataljonen</a:t>
            </a:r>
            <a:endParaRPr lang="en-US" sz="3300" dirty="0"/>
          </a:p>
        </p:txBody>
      </p:sp>
      <p:sp>
        <p:nvSpPr>
          <p:cNvPr id="6" name="Text 4"/>
          <p:cNvSpPr/>
          <p:nvPr/>
        </p:nvSpPr>
        <p:spPr>
          <a:xfrm>
            <a:off x="731520" y="2670048"/>
            <a:ext cx="5806440" cy="594360"/>
          </a:xfrm>
          <a:prstGeom prst="rect">
            <a:avLst/>
          </a:prstGeom>
          <a:noFill/>
          <a:ln/>
        </p:spPr>
        <p:txBody>
          <a:bodyPr wrap="square" lIns="0" tIns="0" rIns="0" bIns="0" rtlCol="0" anchor="ctr">
            <a:normAutofit/>
          </a:bodyPr>
          <a:lstStyle/>
          <a:p>
            <a:pPr marL="0" indent="0">
              <a:buNone/>
            </a:pPr>
            <a:r>
              <a:rPr lang="en-US" sz="1700" dirty="0">
                <a:solidFill>
                  <a:srgbClr val="D8E2ED"/>
                </a:solidFill>
              </a:rPr>
              <a:t>Segmentert, skalerbar og overvåkbar løsning over eksisterende Layer 3-VPN</a:t>
            </a:r>
            <a:endParaRPr lang="en-US" sz="1700" dirty="0"/>
          </a:p>
        </p:txBody>
      </p:sp>
      <p:sp>
        <p:nvSpPr>
          <p:cNvPr id="7" name="Shape 5"/>
          <p:cNvSpPr/>
          <p:nvPr/>
        </p:nvSpPr>
        <p:spPr>
          <a:xfrm>
            <a:off x="731520" y="3794760"/>
            <a:ext cx="5440680" cy="1143000"/>
          </a:xfrm>
          <a:prstGeom prst="roundRect">
            <a:avLst>
              <a:gd name="adj" fmla="val 6400"/>
            </a:avLst>
          </a:prstGeom>
          <a:solidFill>
            <a:srgbClr val="132D46">
              <a:alpha val="92000"/>
            </a:srgbClr>
          </a:solidFill>
          <a:ln w="12700">
            <a:solidFill>
              <a:srgbClr val="2D4963"/>
            </a:solidFill>
            <a:prstDash val="solid"/>
          </a:ln>
        </p:spPr>
        <p:txBody>
          <a:bodyPr/>
          <a:lstStyle/>
          <a:p>
            <a:endParaRPr lang="nb-NO"/>
          </a:p>
        </p:txBody>
      </p:sp>
      <p:sp>
        <p:nvSpPr>
          <p:cNvPr id="8" name="Text 6"/>
          <p:cNvSpPr/>
          <p:nvPr/>
        </p:nvSpPr>
        <p:spPr>
          <a:xfrm>
            <a:off x="960120" y="3986784"/>
            <a:ext cx="1097280" cy="201168"/>
          </a:xfrm>
          <a:prstGeom prst="rect">
            <a:avLst/>
          </a:prstGeom>
          <a:noFill/>
          <a:ln/>
        </p:spPr>
        <p:txBody>
          <a:bodyPr wrap="square" lIns="0" tIns="0" rIns="0" bIns="0" rtlCol="0" anchor="ctr"/>
          <a:lstStyle/>
          <a:p>
            <a:pPr marL="0" indent="0">
              <a:buNone/>
            </a:pPr>
            <a:r>
              <a:rPr lang="en-US" sz="1100" b="1" dirty="0">
                <a:solidFill>
                  <a:srgbClr val="65D68C"/>
                </a:solidFill>
              </a:rPr>
              <a:t>Designmål</a:t>
            </a:r>
            <a:endParaRPr lang="en-US" sz="1100" dirty="0"/>
          </a:p>
        </p:txBody>
      </p:sp>
      <p:sp>
        <p:nvSpPr>
          <p:cNvPr id="9" name="Text 7"/>
          <p:cNvSpPr/>
          <p:nvPr/>
        </p:nvSpPr>
        <p:spPr>
          <a:xfrm>
            <a:off x="960120" y="4261104"/>
            <a:ext cx="4892040" cy="457200"/>
          </a:xfrm>
          <a:prstGeom prst="rect">
            <a:avLst/>
          </a:prstGeom>
          <a:noFill/>
          <a:ln/>
        </p:spPr>
        <p:txBody>
          <a:bodyPr wrap="square" lIns="0" tIns="0" rIns="0" bIns="0" rtlCol="0" anchor="ctr">
            <a:normAutofit/>
          </a:bodyPr>
          <a:lstStyle/>
          <a:p>
            <a:pPr marL="0" indent="0">
              <a:buNone/>
            </a:pPr>
            <a:r>
              <a:rPr lang="en-US" sz="1400" dirty="0">
                <a:solidFill>
                  <a:srgbClr val="FFFFFF"/>
                </a:solidFill>
              </a:rPr>
              <a:t>Redusere risiko uten å miste funksjonalitet, endre den litauiske transporttjenesten eller kreve store nyanskaffelser.</a:t>
            </a:r>
            <a:endParaRPr lang="en-US" sz="1400" dirty="0"/>
          </a:p>
        </p:txBody>
      </p:sp>
      <p:sp>
        <p:nvSpPr>
          <p:cNvPr id="10" name="Shape 8"/>
          <p:cNvSpPr/>
          <p:nvPr/>
        </p:nvSpPr>
        <p:spPr>
          <a:xfrm>
            <a:off x="7315200" y="1005840"/>
            <a:ext cx="3886200" cy="4389120"/>
          </a:xfrm>
          <a:prstGeom prst="roundRect">
            <a:avLst>
              <a:gd name="adj" fmla="val 1882"/>
            </a:avLst>
          </a:prstGeom>
          <a:solidFill>
            <a:srgbClr val="102A43"/>
          </a:solidFill>
          <a:ln w="12700">
            <a:solidFill>
              <a:srgbClr val="24435F"/>
            </a:solidFill>
            <a:prstDash val="solid"/>
          </a:ln>
          <a:effectLst>
            <a:outerShdw blurRad="17780" dist="10160" dir="2700000" algn="bl" rotWithShape="0">
              <a:srgbClr val="000000">
                <a:alpha val="16000"/>
              </a:srgbClr>
            </a:outerShdw>
          </a:effectLst>
        </p:spPr>
        <p:txBody>
          <a:bodyPr/>
          <a:lstStyle/>
          <a:p>
            <a:endParaRPr lang="nb-NO"/>
          </a:p>
        </p:txBody>
      </p:sp>
      <p:sp>
        <p:nvSpPr>
          <p:cNvPr id="11" name="Shape 9"/>
          <p:cNvSpPr/>
          <p:nvPr/>
        </p:nvSpPr>
        <p:spPr>
          <a:xfrm>
            <a:off x="7699248" y="1417320"/>
            <a:ext cx="3127248" cy="685800"/>
          </a:xfrm>
          <a:prstGeom prst="roundRect">
            <a:avLst>
              <a:gd name="adj" fmla="val 6667"/>
            </a:avLst>
          </a:prstGeom>
          <a:solidFill>
            <a:srgbClr val="183B57"/>
          </a:solidFill>
          <a:ln w="12700">
            <a:solidFill>
              <a:srgbClr val="183B57"/>
            </a:solidFill>
            <a:prstDash val="solid"/>
          </a:ln>
        </p:spPr>
        <p:txBody>
          <a:bodyPr/>
          <a:lstStyle/>
          <a:p>
            <a:endParaRPr lang="nb-NO"/>
          </a:p>
        </p:txBody>
      </p:sp>
      <p:sp>
        <p:nvSpPr>
          <p:cNvPr id="12" name="Text 10"/>
          <p:cNvSpPr/>
          <p:nvPr/>
        </p:nvSpPr>
        <p:spPr>
          <a:xfrm>
            <a:off x="7909560" y="15361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SENTRALE TJENESTER</a:t>
            </a:r>
            <a:endParaRPr lang="en-US" sz="1120" dirty="0"/>
          </a:p>
        </p:txBody>
      </p:sp>
      <p:sp>
        <p:nvSpPr>
          <p:cNvPr id="13" name="Text 11"/>
          <p:cNvSpPr/>
          <p:nvPr/>
        </p:nvSpPr>
        <p:spPr>
          <a:xfrm>
            <a:off x="7882128" y="17739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AAA • Syslog • NTP • Security Onion</a:t>
            </a:r>
            <a:endParaRPr lang="en-US" sz="940" dirty="0"/>
          </a:p>
        </p:txBody>
      </p:sp>
      <p:sp>
        <p:nvSpPr>
          <p:cNvPr id="14" name="Shape 12"/>
          <p:cNvSpPr/>
          <p:nvPr/>
        </p:nvSpPr>
        <p:spPr>
          <a:xfrm>
            <a:off x="7699248" y="2331720"/>
            <a:ext cx="3127248" cy="685800"/>
          </a:xfrm>
          <a:prstGeom prst="roundRect">
            <a:avLst>
              <a:gd name="adj" fmla="val 6667"/>
            </a:avLst>
          </a:prstGeom>
          <a:solidFill>
            <a:srgbClr val="194B67"/>
          </a:solidFill>
          <a:ln w="12700">
            <a:solidFill>
              <a:srgbClr val="194B67"/>
            </a:solidFill>
            <a:prstDash val="solid"/>
          </a:ln>
        </p:spPr>
        <p:txBody>
          <a:bodyPr/>
          <a:lstStyle/>
          <a:p>
            <a:endParaRPr lang="nb-NO"/>
          </a:p>
        </p:txBody>
      </p:sp>
      <p:sp>
        <p:nvSpPr>
          <p:cNvPr id="15" name="Text 13"/>
          <p:cNvSpPr/>
          <p:nvPr/>
        </p:nvSpPr>
        <p:spPr>
          <a:xfrm>
            <a:off x="7909560" y="24505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DMVPN PHASE 3</a:t>
            </a:r>
            <a:endParaRPr lang="en-US" sz="1120" dirty="0"/>
          </a:p>
        </p:txBody>
      </p:sp>
      <p:sp>
        <p:nvSpPr>
          <p:cNvPr id="16" name="Text 14"/>
          <p:cNvSpPr/>
          <p:nvPr/>
        </p:nvSpPr>
        <p:spPr>
          <a:xfrm>
            <a:off x="7882128" y="26883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Dynamisk spoke-to-spoke</a:t>
            </a:r>
            <a:endParaRPr lang="en-US" sz="940" dirty="0"/>
          </a:p>
        </p:txBody>
      </p:sp>
      <p:sp>
        <p:nvSpPr>
          <p:cNvPr id="17" name="Shape 15"/>
          <p:cNvSpPr/>
          <p:nvPr/>
        </p:nvSpPr>
        <p:spPr>
          <a:xfrm>
            <a:off x="7699248" y="3246120"/>
            <a:ext cx="3127248" cy="685800"/>
          </a:xfrm>
          <a:prstGeom prst="roundRect">
            <a:avLst>
              <a:gd name="adj" fmla="val 6667"/>
            </a:avLst>
          </a:prstGeom>
          <a:solidFill>
            <a:srgbClr val="1A5B72"/>
          </a:solidFill>
          <a:ln w="12700">
            <a:solidFill>
              <a:srgbClr val="1A5B72"/>
            </a:solidFill>
            <a:prstDash val="solid"/>
          </a:ln>
        </p:spPr>
        <p:txBody>
          <a:bodyPr/>
          <a:lstStyle/>
          <a:p>
            <a:endParaRPr lang="nb-NO"/>
          </a:p>
        </p:txBody>
      </p:sp>
      <p:sp>
        <p:nvSpPr>
          <p:cNvPr id="18" name="Text 16"/>
          <p:cNvSpPr/>
          <p:nvPr/>
        </p:nvSpPr>
        <p:spPr>
          <a:xfrm>
            <a:off x="7909560" y="33649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VRF + VLAN</a:t>
            </a:r>
            <a:endParaRPr lang="en-US" sz="1120" dirty="0"/>
          </a:p>
        </p:txBody>
      </p:sp>
      <p:sp>
        <p:nvSpPr>
          <p:cNvPr id="19" name="Text 17"/>
          <p:cNvSpPr/>
          <p:nvPr/>
        </p:nvSpPr>
        <p:spPr>
          <a:xfrm>
            <a:off x="7882128" y="36027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MGMT • INET • UNET • PA • MONITORING</a:t>
            </a:r>
            <a:endParaRPr lang="en-US" sz="940" dirty="0"/>
          </a:p>
        </p:txBody>
      </p:sp>
      <p:sp>
        <p:nvSpPr>
          <p:cNvPr id="20" name="Shape 18"/>
          <p:cNvSpPr/>
          <p:nvPr/>
        </p:nvSpPr>
        <p:spPr>
          <a:xfrm>
            <a:off x="7699248" y="4160520"/>
            <a:ext cx="3127248" cy="685800"/>
          </a:xfrm>
          <a:prstGeom prst="roundRect">
            <a:avLst>
              <a:gd name="adj" fmla="val 6667"/>
            </a:avLst>
          </a:prstGeom>
          <a:solidFill>
            <a:srgbClr val="1D6A6D"/>
          </a:solidFill>
          <a:ln w="12700">
            <a:solidFill>
              <a:srgbClr val="1D6A6D"/>
            </a:solidFill>
            <a:prstDash val="solid"/>
          </a:ln>
        </p:spPr>
        <p:txBody>
          <a:bodyPr/>
          <a:lstStyle/>
          <a:p>
            <a:endParaRPr lang="nb-NO"/>
          </a:p>
        </p:txBody>
      </p:sp>
      <p:sp>
        <p:nvSpPr>
          <p:cNvPr id="21" name="Text 19"/>
          <p:cNvSpPr/>
          <p:nvPr/>
        </p:nvSpPr>
        <p:spPr>
          <a:xfrm>
            <a:off x="7909560" y="42793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L3-VPN UNDERLAY</a:t>
            </a:r>
            <a:endParaRPr lang="en-US" sz="1120" dirty="0"/>
          </a:p>
        </p:txBody>
      </p:sp>
      <p:sp>
        <p:nvSpPr>
          <p:cNvPr id="22" name="Text 20"/>
          <p:cNvSpPr/>
          <p:nvPr/>
        </p:nvSpPr>
        <p:spPr>
          <a:xfrm>
            <a:off x="7882128" y="45171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Eksisterende transport – uendret</a:t>
            </a:r>
            <a:endParaRPr lang="en-US" sz="940" dirty="0"/>
          </a:p>
        </p:txBody>
      </p:sp>
      <p:sp>
        <p:nvSpPr>
          <p:cNvPr id="23" name="Text 21"/>
          <p:cNvSpPr/>
          <p:nvPr/>
        </p:nvSpPr>
        <p:spPr>
          <a:xfrm>
            <a:off x="8275320" y="5806440"/>
            <a:ext cx="2011680" cy="228600"/>
          </a:xfrm>
          <a:prstGeom prst="rect">
            <a:avLst/>
          </a:prstGeom>
          <a:noFill/>
          <a:ln/>
        </p:spPr>
        <p:txBody>
          <a:bodyPr wrap="square" lIns="0" tIns="0" rIns="0" bIns="0" rtlCol="0" anchor="ctr"/>
          <a:lstStyle/>
          <a:p>
            <a:pPr marL="0" indent="0" algn="ctr">
              <a:buNone/>
            </a:pPr>
            <a:r>
              <a:rPr lang="en-US" sz="1050" dirty="0">
                <a:solidFill>
                  <a:srgbClr val="A8BECE"/>
                </a:solidFill>
              </a:rPr>
              <a:t>Ca. 8–9 min + spørsmål</a:t>
            </a:r>
            <a:endParaRPr lang="en-US" sz="105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1. Utgangspunktet – hva måtte løses?</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Designet er drevet av konkrete problemer i dagens nettverk og klare rammebetingelser.</a:t>
            </a:r>
            <a:endParaRPr lang="en-US" sz="1250" dirty="0"/>
          </a:p>
        </p:txBody>
      </p:sp>
      <p:sp>
        <p:nvSpPr>
          <p:cNvPr id="4" name="Text 2"/>
          <p:cNvSpPr/>
          <p:nvPr/>
        </p:nvSpPr>
        <p:spPr>
          <a:xfrm>
            <a:off x="566928" y="1124712"/>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PROBLEM</a:t>
            </a:r>
            <a:endParaRPr lang="en-US" sz="950" dirty="0"/>
          </a:p>
        </p:txBody>
      </p:sp>
      <p:sp>
        <p:nvSpPr>
          <p:cNvPr id="5" name="Shape 3"/>
          <p:cNvSpPr/>
          <p:nvPr/>
        </p:nvSpPr>
        <p:spPr>
          <a:xfrm>
            <a:off x="594360" y="1417320"/>
            <a:ext cx="2606040" cy="1508760"/>
          </a:xfrm>
          <a:prstGeom prst="roundRect">
            <a:avLst>
              <a:gd name="adj" fmla="val 4848"/>
            </a:avLst>
          </a:prstGeom>
          <a:solidFill>
            <a:srgbClr val="FDECEC"/>
          </a:solidFill>
          <a:ln w="10160">
            <a:solidFill>
              <a:srgbClr val="D8E0EA"/>
            </a:solidFill>
            <a:prstDash val="solid"/>
          </a:ln>
          <a:effectLst>
            <a:outerShdw blurRad="225806000" dist="129032000" algn="bl" rotWithShape="0">
              <a:srgbClr val="000000">
                <a:alpha val="0"/>
              </a:srgbClr>
            </a:outerShdw>
          </a:effectLst>
        </p:spPr>
        <p:txBody>
          <a:bodyPr/>
          <a:lstStyle/>
          <a:p>
            <a:endParaRPr lang="nb-NO"/>
          </a:p>
        </p:txBody>
      </p:sp>
      <p:sp>
        <p:nvSpPr>
          <p:cNvPr id="6" name="Shape 4"/>
          <p:cNvSpPr/>
          <p:nvPr/>
        </p:nvSpPr>
        <p:spPr>
          <a:xfrm>
            <a:off x="594360" y="1417320"/>
            <a:ext cx="64008" cy="1508760"/>
          </a:xfrm>
          <a:prstGeom prst="rect">
            <a:avLst/>
          </a:prstGeom>
          <a:solidFill>
            <a:srgbClr val="DC2626"/>
          </a:solidFill>
          <a:ln w="12700">
            <a:solidFill>
              <a:srgbClr val="DC2626"/>
            </a:solidFill>
            <a:prstDash val="solid"/>
          </a:ln>
        </p:spPr>
        <p:txBody>
          <a:bodyPr/>
          <a:lstStyle/>
          <a:p>
            <a:endParaRPr lang="nb-NO"/>
          </a:p>
        </p:txBody>
      </p:sp>
      <p:sp>
        <p:nvSpPr>
          <p:cNvPr id="7" name="Text 5"/>
          <p:cNvSpPr/>
          <p:nvPr/>
        </p:nvSpPr>
        <p:spPr>
          <a:xfrm>
            <a:off x="777240"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Flatt nettverk</a:t>
            </a:r>
            <a:endParaRPr lang="en-US" sz="1650" dirty="0"/>
          </a:p>
        </p:txBody>
      </p:sp>
      <p:sp>
        <p:nvSpPr>
          <p:cNvPr id="8" name="Text 6"/>
          <p:cNvSpPr/>
          <p:nvPr/>
        </p:nvSpPr>
        <p:spPr>
          <a:xfrm>
            <a:off x="777240"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Lite eller ingen segmentering gjør at kompromittering eller feil kan få konsekvenser på tvers av tjenester.</a:t>
            </a:r>
            <a:endParaRPr lang="en-US" sz="1250" dirty="0"/>
          </a:p>
        </p:txBody>
      </p:sp>
      <p:sp>
        <p:nvSpPr>
          <p:cNvPr id="9" name="Shape 7"/>
          <p:cNvSpPr/>
          <p:nvPr/>
        </p:nvSpPr>
        <p:spPr>
          <a:xfrm>
            <a:off x="3401568" y="1417320"/>
            <a:ext cx="2606040" cy="1508760"/>
          </a:xfrm>
          <a:prstGeom prst="roundRect">
            <a:avLst>
              <a:gd name="adj" fmla="val 4848"/>
            </a:avLst>
          </a:prstGeom>
          <a:solidFill>
            <a:srgbClr val="FFF4E5"/>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0" name="Shape 8"/>
          <p:cNvSpPr/>
          <p:nvPr/>
        </p:nvSpPr>
        <p:spPr>
          <a:xfrm>
            <a:off x="3401568" y="1417320"/>
            <a:ext cx="64008" cy="1508760"/>
          </a:xfrm>
          <a:prstGeom prst="rect">
            <a:avLst/>
          </a:prstGeom>
          <a:solidFill>
            <a:srgbClr val="D97706"/>
          </a:solidFill>
          <a:ln w="12700">
            <a:solidFill>
              <a:srgbClr val="D97706"/>
            </a:solidFill>
            <a:prstDash val="solid"/>
          </a:ln>
        </p:spPr>
        <p:txBody>
          <a:bodyPr/>
          <a:lstStyle/>
          <a:p>
            <a:endParaRPr lang="nb-NO"/>
          </a:p>
        </p:txBody>
      </p:sp>
      <p:sp>
        <p:nvSpPr>
          <p:cNvPr id="11" name="Text 9"/>
          <p:cNvSpPr/>
          <p:nvPr/>
        </p:nvSpPr>
        <p:spPr>
          <a:xfrm>
            <a:off x="3584448"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Ustabilitet</a:t>
            </a:r>
            <a:endParaRPr lang="en-US" sz="1650" dirty="0"/>
          </a:p>
        </p:txBody>
      </p:sp>
      <p:sp>
        <p:nvSpPr>
          <p:cNvPr id="12" name="Text 10"/>
          <p:cNvSpPr/>
          <p:nvPr/>
        </p:nvSpPr>
        <p:spPr>
          <a:xfrm>
            <a:off x="3584448"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Private rutere og uautoriserte DHCP-servere har skapt ustabilitet og uforutsigbar klientkonfigurasjon.</a:t>
            </a:r>
            <a:endParaRPr lang="en-US" sz="1250" dirty="0"/>
          </a:p>
        </p:txBody>
      </p:sp>
      <p:sp>
        <p:nvSpPr>
          <p:cNvPr id="13" name="Shape 11"/>
          <p:cNvSpPr/>
          <p:nvPr/>
        </p:nvSpPr>
        <p:spPr>
          <a:xfrm>
            <a:off x="6208776" y="1417320"/>
            <a:ext cx="2606040" cy="1508760"/>
          </a:xfrm>
          <a:prstGeom prst="roundRect">
            <a:avLst>
              <a:gd name="adj" fmla="val 4848"/>
            </a:avLst>
          </a:prstGeom>
          <a:solidFill>
            <a:srgbClr val="F1EB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4" name="Shape 12"/>
          <p:cNvSpPr/>
          <p:nvPr/>
        </p:nvSpPr>
        <p:spPr>
          <a:xfrm>
            <a:off x="6208776" y="1417320"/>
            <a:ext cx="64008" cy="1508760"/>
          </a:xfrm>
          <a:prstGeom prst="rect">
            <a:avLst/>
          </a:prstGeom>
          <a:solidFill>
            <a:srgbClr val="7C3AED"/>
          </a:solidFill>
          <a:ln w="12700">
            <a:solidFill>
              <a:srgbClr val="7C3AED"/>
            </a:solidFill>
            <a:prstDash val="solid"/>
          </a:ln>
        </p:spPr>
        <p:txBody>
          <a:bodyPr/>
          <a:lstStyle/>
          <a:p>
            <a:endParaRPr lang="nb-NO"/>
          </a:p>
        </p:txBody>
      </p:sp>
      <p:sp>
        <p:nvSpPr>
          <p:cNvPr id="15" name="Text 13"/>
          <p:cNvSpPr/>
          <p:nvPr/>
        </p:nvSpPr>
        <p:spPr>
          <a:xfrm>
            <a:off x="6391656"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Lite synlighet</a:t>
            </a:r>
            <a:endParaRPr lang="en-US" sz="1650" dirty="0"/>
          </a:p>
        </p:txBody>
      </p:sp>
      <p:sp>
        <p:nvSpPr>
          <p:cNvPr id="16" name="Text 14"/>
          <p:cNvSpPr/>
          <p:nvPr/>
        </p:nvSpPr>
        <p:spPr>
          <a:xfrm>
            <a:off x="6391656"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Ingen sentral logging, overvåkning eller felles tid gjør feilsøking og hendelseshåndtering vanskelig.</a:t>
            </a:r>
            <a:endParaRPr lang="en-US" sz="1250" dirty="0"/>
          </a:p>
        </p:txBody>
      </p:sp>
      <p:sp>
        <p:nvSpPr>
          <p:cNvPr id="17" name="Shape 15"/>
          <p:cNvSpPr/>
          <p:nvPr/>
        </p:nvSpPr>
        <p:spPr>
          <a:xfrm>
            <a:off x="9015984" y="1417320"/>
            <a:ext cx="2606040" cy="1508760"/>
          </a:xfrm>
          <a:prstGeom prst="roundRect">
            <a:avLst>
              <a:gd name="adj" fmla="val 4848"/>
            </a:avLst>
          </a:prstGeom>
          <a:solidFill>
            <a:srgbClr val="EAF2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8" name="Shape 16"/>
          <p:cNvSpPr/>
          <p:nvPr/>
        </p:nvSpPr>
        <p:spPr>
          <a:xfrm>
            <a:off x="9015984" y="1417320"/>
            <a:ext cx="64008" cy="1508760"/>
          </a:xfrm>
          <a:prstGeom prst="rect">
            <a:avLst/>
          </a:prstGeom>
          <a:solidFill>
            <a:srgbClr val="2563EB"/>
          </a:solidFill>
          <a:ln w="12700">
            <a:solidFill>
              <a:srgbClr val="2563EB"/>
            </a:solidFill>
            <a:prstDash val="solid"/>
          </a:ln>
        </p:spPr>
        <p:txBody>
          <a:bodyPr/>
          <a:lstStyle/>
          <a:p>
            <a:endParaRPr lang="nb-NO"/>
          </a:p>
        </p:txBody>
      </p:sp>
      <p:sp>
        <p:nvSpPr>
          <p:cNvPr id="19" name="Text 17"/>
          <p:cNvSpPr/>
          <p:nvPr/>
        </p:nvSpPr>
        <p:spPr>
          <a:xfrm>
            <a:off x="9198864"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Stramme rammer</a:t>
            </a:r>
            <a:endParaRPr lang="en-US" sz="1650" dirty="0"/>
          </a:p>
        </p:txBody>
      </p:sp>
      <p:sp>
        <p:nvSpPr>
          <p:cNvPr id="20" name="Text 18"/>
          <p:cNvSpPr/>
          <p:nvPr/>
        </p:nvSpPr>
        <p:spPr>
          <a:xfrm>
            <a:off x="9198864"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Eksisterende Cisco-utstyr skal gjenbrukes, og den litauiske Layer 3-VPN-forbindelsen skal ikke endres.</a:t>
            </a:r>
            <a:endParaRPr lang="en-US" sz="1250" dirty="0"/>
          </a:p>
        </p:txBody>
      </p:sp>
      <p:sp>
        <p:nvSpPr>
          <p:cNvPr id="21" name="Text 19"/>
          <p:cNvSpPr/>
          <p:nvPr/>
        </p:nvSpPr>
        <p:spPr>
          <a:xfrm>
            <a:off x="566928" y="3337560"/>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DESIGNMÅL</a:t>
            </a:r>
            <a:endParaRPr lang="en-US" sz="950" dirty="0"/>
          </a:p>
        </p:txBody>
      </p:sp>
      <p:sp>
        <p:nvSpPr>
          <p:cNvPr id="22" name="Shape 20"/>
          <p:cNvSpPr/>
          <p:nvPr/>
        </p:nvSpPr>
        <p:spPr>
          <a:xfrm>
            <a:off x="685800"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3" name="Text 21"/>
          <p:cNvSpPr/>
          <p:nvPr/>
        </p:nvSpPr>
        <p:spPr>
          <a:xfrm>
            <a:off x="850392"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SEGMENTERE</a:t>
            </a:r>
            <a:endParaRPr lang="en-US" sz="1320" dirty="0"/>
          </a:p>
        </p:txBody>
      </p:sp>
      <p:sp>
        <p:nvSpPr>
          <p:cNvPr id="24" name="Text 22"/>
          <p:cNvSpPr/>
          <p:nvPr/>
        </p:nvSpPr>
        <p:spPr>
          <a:xfrm>
            <a:off x="868680"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Skille tjenester og brukergrupper</a:t>
            </a:r>
            <a:endParaRPr lang="en-US" sz="1120" dirty="0"/>
          </a:p>
        </p:txBody>
      </p:sp>
      <p:sp>
        <p:nvSpPr>
          <p:cNvPr id="25" name="Shape 23"/>
          <p:cNvSpPr/>
          <p:nvPr/>
        </p:nvSpPr>
        <p:spPr>
          <a:xfrm>
            <a:off x="3502152"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6" name="Text 24"/>
          <p:cNvSpPr/>
          <p:nvPr/>
        </p:nvSpPr>
        <p:spPr>
          <a:xfrm>
            <a:off x="3666744"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BEGRENSE</a:t>
            </a:r>
            <a:endParaRPr lang="en-US" sz="1320" dirty="0"/>
          </a:p>
        </p:txBody>
      </p:sp>
      <p:sp>
        <p:nvSpPr>
          <p:cNvPr id="27" name="Text 25"/>
          <p:cNvSpPr/>
          <p:nvPr/>
        </p:nvSpPr>
        <p:spPr>
          <a:xfrm>
            <a:off x="3685032"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Kun nødvendig trafikk mellom soner</a:t>
            </a:r>
            <a:endParaRPr lang="en-US" sz="1120" dirty="0"/>
          </a:p>
        </p:txBody>
      </p:sp>
      <p:sp>
        <p:nvSpPr>
          <p:cNvPr id="28" name="Shape 26"/>
          <p:cNvSpPr/>
          <p:nvPr/>
        </p:nvSpPr>
        <p:spPr>
          <a:xfrm>
            <a:off x="6318504"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9" name="Text 27"/>
          <p:cNvSpPr/>
          <p:nvPr/>
        </p:nvSpPr>
        <p:spPr>
          <a:xfrm>
            <a:off x="6483096"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OVERVÅKE</a:t>
            </a:r>
            <a:endParaRPr lang="en-US" sz="1320" dirty="0"/>
          </a:p>
        </p:txBody>
      </p:sp>
      <p:sp>
        <p:nvSpPr>
          <p:cNvPr id="30" name="Text 28"/>
          <p:cNvSpPr/>
          <p:nvPr/>
        </p:nvSpPr>
        <p:spPr>
          <a:xfrm>
            <a:off x="6501384"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Sentral logging </a:t>
            </a:r>
            <a:r>
              <a:rPr lang="en-US" sz="1120" dirty="0" err="1">
                <a:solidFill>
                  <a:srgbClr val="1E293B"/>
                </a:solidFill>
              </a:rPr>
              <a:t>og</a:t>
            </a:r>
            <a:r>
              <a:rPr lang="en-US" sz="1120" dirty="0">
                <a:solidFill>
                  <a:srgbClr val="1E293B"/>
                </a:solidFill>
              </a:rPr>
              <a:t> IDS/SIEM</a:t>
            </a:r>
            <a:endParaRPr lang="en-US" sz="1120" dirty="0"/>
          </a:p>
        </p:txBody>
      </p:sp>
      <p:sp>
        <p:nvSpPr>
          <p:cNvPr id="31" name="Shape 29"/>
          <p:cNvSpPr/>
          <p:nvPr/>
        </p:nvSpPr>
        <p:spPr>
          <a:xfrm>
            <a:off x="9134856"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32" name="Text 30"/>
          <p:cNvSpPr/>
          <p:nvPr/>
        </p:nvSpPr>
        <p:spPr>
          <a:xfrm>
            <a:off x="9299448"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STANDARDISERE</a:t>
            </a:r>
            <a:endParaRPr lang="en-US" sz="1320" dirty="0"/>
          </a:p>
        </p:txBody>
      </p:sp>
      <p:sp>
        <p:nvSpPr>
          <p:cNvPr id="33" name="Text 31"/>
          <p:cNvSpPr/>
          <p:nvPr/>
        </p:nvSpPr>
        <p:spPr>
          <a:xfrm>
            <a:off x="9317736"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Lik baseline og generator</a:t>
            </a:r>
            <a:endParaRPr lang="en-US" sz="1120" dirty="0"/>
          </a:p>
        </p:txBody>
      </p:sp>
      <p:sp>
        <p:nvSpPr>
          <p:cNvPr id="34" name="Shape 32"/>
          <p:cNvSpPr/>
          <p:nvPr/>
        </p:nvSpPr>
        <p:spPr>
          <a:xfrm>
            <a:off x="694944" y="5321808"/>
            <a:ext cx="10927080" cy="658368"/>
          </a:xfrm>
          <a:prstGeom prst="roundRect">
            <a:avLst>
              <a:gd name="adj" fmla="val 8333"/>
            </a:avLst>
          </a:prstGeom>
          <a:solidFill>
            <a:srgbClr val="E9F7EE"/>
          </a:solidFill>
          <a:ln w="12700">
            <a:solidFill>
              <a:srgbClr val="BFE8CD"/>
            </a:solidFill>
            <a:prstDash val="solid"/>
          </a:ln>
        </p:spPr>
        <p:txBody>
          <a:bodyPr/>
          <a:lstStyle/>
          <a:p>
            <a:endParaRPr lang="nb-NO"/>
          </a:p>
        </p:txBody>
      </p:sp>
      <p:sp>
        <p:nvSpPr>
          <p:cNvPr id="35" name="Text 33"/>
          <p:cNvSpPr/>
          <p:nvPr/>
        </p:nvSpPr>
        <p:spPr>
          <a:xfrm>
            <a:off x="914400" y="5522976"/>
            <a:ext cx="10469880" cy="228600"/>
          </a:xfrm>
          <a:prstGeom prst="rect">
            <a:avLst/>
          </a:prstGeom>
          <a:noFill/>
          <a:ln/>
        </p:spPr>
        <p:txBody>
          <a:bodyPr wrap="square" lIns="0" tIns="0" rIns="0" bIns="0" rtlCol="0" anchor="ctr"/>
          <a:lstStyle/>
          <a:p>
            <a:pPr marL="0" indent="0" algn="ctr">
              <a:buNone/>
            </a:pPr>
            <a:r>
              <a:rPr lang="en-US" sz="1520" b="1" dirty="0" err="1">
                <a:solidFill>
                  <a:srgbClr val="166534"/>
                </a:solidFill>
              </a:rPr>
              <a:t>Mål</a:t>
            </a:r>
            <a:r>
              <a:rPr lang="en-US" sz="1520" b="1" dirty="0">
                <a:solidFill>
                  <a:srgbClr val="166534"/>
                </a:solidFill>
              </a:rPr>
              <a:t>: behold underlayet – flytt kontroll, sikkerhet og standardisering inn i eget overlay.</a:t>
            </a:r>
            <a:endParaRPr lang="en-US" sz="1520" dirty="0"/>
          </a:p>
        </p:txBody>
      </p:sp>
      <p:sp>
        <p:nvSpPr>
          <p:cNvPr id="36"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2. Løsningen i ett bilde</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Eksisterende transport beholdes som underlay; sikkerhet og segmentering bygges som overlay.</a:t>
            </a:r>
            <a:endParaRPr lang="en-US" sz="1250" dirty="0"/>
          </a:p>
        </p:txBody>
      </p:sp>
      <p:sp>
        <p:nvSpPr>
          <p:cNvPr id="4" name="Shape 2"/>
          <p:cNvSpPr/>
          <p:nvPr/>
        </p:nvSpPr>
        <p:spPr>
          <a:xfrm>
            <a:off x="603504"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5" name="Shape 3"/>
          <p:cNvSpPr/>
          <p:nvPr/>
        </p:nvSpPr>
        <p:spPr>
          <a:xfrm>
            <a:off x="713232"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6" name="Text 4"/>
          <p:cNvSpPr/>
          <p:nvPr/>
        </p:nvSpPr>
        <p:spPr>
          <a:xfrm>
            <a:off x="713232"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1</a:t>
            </a:r>
            <a:endParaRPr lang="en-US" sz="1250" dirty="0"/>
          </a:p>
        </p:txBody>
      </p:sp>
      <p:sp>
        <p:nvSpPr>
          <p:cNvPr id="7" name="Text 5"/>
          <p:cNvSpPr/>
          <p:nvPr/>
        </p:nvSpPr>
        <p:spPr>
          <a:xfrm>
            <a:off x="1170432"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L3-VPN underlay</a:t>
            </a:r>
            <a:endParaRPr lang="en-US" sz="1070" dirty="0"/>
          </a:p>
        </p:txBody>
      </p:sp>
      <p:sp>
        <p:nvSpPr>
          <p:cNvPr id="8" name="Text 6"/>
          <p:cNvSpPr/>
          <p:nvPr/>
        </p:nvSpPr>
        <p:spPr>
          <a:xfrm>
            <a:off x="1170432"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Uendret transport</a:t>
            </a:r>
            <a:endParaRPr lang="en-US" sz="890" dirty="0"/>
          </a:p>
        </p:txBody>
      </p:sp>
      <p:sp>
        <p:nvSpPr>
          <p:cNvPr id="9" name="Shape 7"/>
          <p:cNvSpPr/>
          <p:nvPr/>
        </p:nvSpPr>
        <p:spPr>
          <a:xfrm>
            <a:off x="3419856"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10" name="Shape 8"/>
          <p:cNvSpPr/>
          <p:nvPr/>
        </p:nvSpPr>
        <p:spPr>
          <a:xfrm>
            <a:off x="3529584"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11" name="Text 9"/>
          <p:cNvSpPr/>
          <p:nvPr/>
        </p:nvSpPr>
        <p:spPr>
          <a:xfrm>
            <a:off x="3529584"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2</a:t>
            </a:r>
            <a:endParaRPr lang="en-US" sz="1250" dirty="0"/>
          </a:p>
        </p:txBody>
      </p:sp>
      <p:sp>
        <p:nvSpPr>
          <p:cNvPr id="12" name="Text 10"/>
          <p:cNvSpPr/>
          <p:nvPr/>
        </p:nvSpPr>
        <p:spPr>
          <a:xfrm>
            <a:off x="3986784"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DMVPN per VRF</a:t>
            </a:r>
            <a:endParaRPr lang="en-US" sz="1070" dirty="0"/>
          </a:p>
        </p:txBody>
      </p:sp>
      <p:sp>
        <p:nvSpPr>
          <p:cNvPr id="13" name="Text 11"/>
          <p:cNvSpPr/>
          <p:nvPr/>
        </p:nvSpPr>
        <p:spPr>
          <a:xfrm>
            <a:off x="3986784"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Segmentert overlay</a:t>
            </a:r>
            <a:endParaRPr lang="en-US" sz="890" dirty="0"/>
          </a:p>
        </p:txBody>
      </p:sp>
      <p:sp>
        <p:nvSpPr>
          <p:cNvPr id="14" name="Shape 12"/>
          <p:cNvSpPr/>
          <p:nvPr/>
        </p:nvSpPr>
        <p:spPr>
          <a:xfrm>
            <a:off x="6236208"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15" name="Shape 13"/>
          <p:cNvSpPr/>
          <p:nvPr/>
        </p:nvSpPr>
        <p:spPr>
          <a:xfrm>
            <a:off x="6345936"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16" name="Text 14"/>
          <p:cNvSpPr/>
          <p:nvPr/>
        </p:nvSpPr>
        <p:spPr>
          <a:xfrm>
            <a:off x="6345936"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3</a:t>
            </a:r>
            <a:endParaRPr lang="en-US" sz="1250" dirty="0"/>
          </a:p>
        </p:txBody>
      </p:sp>
      <p:sp>
        <p:nvSpPr>
          <p:cNvPr id="17" name="Text 15"/>
          <p:cNvSpPr/>
          <p:nvPr/>
        </p:nvSpPr>
        <p:spPr>
          <a:xfrm>
            <a:off x="6803136"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BNHQ som hub</a:t>
            </a:r>
            <a:endParaRPr lang="en-US" sz="1070" dirty="0"/>
          </a:p>
        </p:txBody>
      </p:sp>
      <p:sp>
        <p:nvSpPr>
          <p:cNvPr id="18" name="Text 16"/>
          <p:cNvSpPr/>
          <p:nvPr/>
        </p:nvSpPr>
        <p:spPr>
          <a:xfrm>
            <a:off x="6803136"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Sentrale tjenester</a:t>
            </a:r>
            <a:endParaRPr lang="en-US" sz="890" dirty="0"/>
          </a:p>
        </p:txBody>
      </p:sp>
      <p:sp>
        <p:nvSpPr>
          <p:cNvPr id="19" name="Shape 17"/>
          <p:cNvSpPr/>
          <p:nvPr/>
        </p:nvSpPr>
        <p:spPr>
          <a:xfrm>
            <a:off x="9052560"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20" name="Shape 18"/>
          <p:cNvSpPr/>
          <p:nvPr/>
        </p:nvSpPr>
        <p:spPr>
          <a:xfrm>
            <a:off x="9162288"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21" name="Text 19"/>
          <p:cNvSpPr/>
          <p:nvPr/>
        </p:nvSpPr>
        <p:spPr>
          <a:xfrm>
            <a:off x="9162288"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4</a:t>
            </a:r>
            <a:endParaRPr lang="en-US" sz="1250" dirty="0"/>
          </a:p>
        </p:txBody>
      </p:sp>
      <p:sp>
        <p:nvSpPr>
          <p:cNvPr id="22" name="Text 20"/>
          <p:cNvSpPr/>
          <p:nvPr/>
        </p:nvSpPr>
        <p:spPr>
          <a:xfrm>
            <a:off x="9619488"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ERSPAN</a:t>
            </a:r>
            <a:endParaRPr lang="en-US" sz="1070" dirty="0"/>
          </a:p>
        </p:txBody>
      </p:sp>
      <p:sp>
        <p:nvSpPr>
          <p:cNvPr id="23" name="Text 21"/>
          <p:cNvSpPr/>
          <p:nvPr/>
        </p:nvSpPr>
        <p:spPr>
          <a:xfrm>
            <a:off x="9619488" y="1362456"/>
            <a:ext cx="1783080" cy="128016"/>
          </a:xfrm>
          <a:prstGeom prst="rect">
            <a:avLst/>
          </a:prstGeom>
          <a:noFill/>
          <a:ln/>
        </p:spPr>
        <p:txBody>
          <a:bodyPr wrap="square" lIns="0" tIns="0" rIns="0" bIns="0" rtlCol="0" anchor="ctr">
            <a:normAutofit lnSpcReduction="10000"/>
          </a:bodyPr>
          <a:lstStyle/>
          <a:p>
            <a:pPr marL="0" indent="0">
              <a:buNone/>
            </a:pPr>
            <a:r>
              <a:rPr lang="en-US" sz="890" dirty="0">
                <a:solidFill>
                  <a:srgbClr val="64748B"/>
                </a:solidFill>
              </a:rPr>
              <a:t>Trafikk </a:t>
            </a:r>
            <a:r>
              <a:rPr lang="en-US" sz="890" dirty="0" err="1">
                <a:solidFill>
                  <a:srgbClr val="64748B"/>
                </a:solidFill>
              </a:rPr>
              <a:t>til</a:t>
            </a:r>
            <a:r>
              <a:rPr lang="en-US" sz="890" dirty="0">
                <a:solidFill>
                  <a:srgbClr val="64748B"/>
                </a:solidFill>
              </a:rPr>
              <a:t> IDS</a:t>
            </a:r>
            <a:endParaRPr lang="en-US" sz="890" dirty="0"/>
          </a:p>
        </p:txBody>
      </p:sp>
      <p:sp>
        <p:nvSpPr>
          <p:cNvPr id="24" name="Shape 22"/>
          <p:cNvSpPr/>
          <p:nvPr/>
        </p:nvSpPr>
        <p:spPr>
          <a:xfrm>
            <a:off x="502920" y="1810512"/>
            <a:ext cx="11201400" cy="4407408"/>
          </a:xfrm>
          <a:prstGeom prst="roundRect">
            <a:avLst>
              <a:gd name="adj" fmla="val 1037"/>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25" name="Image 0" descr="/mnt/data/logisk_arkitektur.png"/>
          <p:cNvPicPr>
            <a:picLocks noChangeAspect="1"/>
          </p:cNvPicPr>
          <p:nvPr/>
        </p:nvPicPr>
        <p:blipFill>
          <a:blip r:embed="rId3"/>
          <a:stretch>
            <a:fillRect/>
          </a:stretch>
        </p:blipFill>
        <p:spPr>
          <a:xfrm>
            <a:off x="2701789" y="1956816"/>
            <a:ext cx="6803662" cy="4096512"/>
          </a:xfrm>
          <a:prstGeom prst="rect">
            <a:avLst/>
          </a:prstGeom>
        </p:spPr>
      </p:pic>
      <p:sp>
        <p:nvSpPr>
          <p:cNvPr id="26"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3. Segmentering på hvert site</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Samme logiske struktur gjenbrukes på alle lokasjoner.</a:t>
            </a:r>
            <a:endParaRPr lang="en-US" sz="1250" dirty="0"/>
          </a:p>
        </p:txBody>
      </p:sp>
      <p:sp>
        <p:nvSpPr>
          <p:cNvPr id="4" name="Shape 2"/>
          <p:cNvSpPr/>
          <p:nvPr/>
        </p:nvSpPr>
        <p:spPr>
          <a:xfrm>
            <a:off x="502920" y="1170432"/>
            <a:ext cx="6876288" cy="5029200"/>
          </a:xfrm>
          <a:prstGeom prst="roundRect">
            <a:avLst>
              <a:gd name="adj" fmla="val 909"/>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log_ip.jpg"/>
          <p:cNvPicPr>
            <a:picLocks noChangeAspect="1"/>
          </p:cNvPicPr>
          <p:nvPr/>
        </p:nvPicPr>
        <p:blipFill>
          <a:blip r:embed="rId3"/>
          <a:stretch>
            <a:fillRect/>
          </a:stretch>
        </p:blipFill>
        <p:spPr>
          <a:xfrm>
            <a:off x="694944" y="1580309"/>
            <a:ext cx="6492240" cy="4200302"/>
          </a:xfrm>
          <a:prstGeom prst="rect">
            <a:avLst/>
          </a:prstGeom>
        </p:spPr>
      </p:pic>
      <p:sp>
        <p:nvSpPr>
          <p:cNvPr id="6" name="Text 3"/>
          <p:cNvSpPr/>
          <p:nvPr/>
        </p:nvSpPr>
        <p:spPr>
          <a:xfrm>
            <a:off x="7662672" y="1207008"/>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PRINSIPP</a:t>
            </a:r>
            <a:endParaRPr lang="en-US" sz="950" dirty="0"/>
          </a:p>
        </p:txBody>
      </p:sp>
      <p:sp>
        <p:nvSpPr>
          <p:cNvPr id="7" name="Shape 4"/>
          <p:cNvSpPr/>
          <p:nvPr/>
        </p:nvSpPr>
        <p:spPr>
          <a:xfrm>
            <a:off x="7635240" y="1481328"/>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8" name="Shape 5"/>
          <p:cNvSpPr/>
          <p:nvPr/>
        </p:nvSpPr>
        <p:spPr>
          <a:xfrm>
            <a:off x="7635240" y="1481328"/>
            <a:ext cx="64008" cy="950976"/>
          </a:xfrm>
          <a:prstGeom prst="rect">
            <a:avLst/>
          </a:prstGeom>
          <a:solidFill>
            <a:srgbClr val="2563EB"/>
          </a:solidFill>
          <a:ln w="12700">
            <a:solidFill>
              <a:srgbClr val="2563EB"/>
            </a:solidFill>
            <a:prstDash val="solid"/>
          </a:ln>
        </p:spPr>
        <p:txBody>
          <a:bodyPr/>
          <a:lstStyle/>
          <a:p>
            <a:endParaRPr lang="nb-NO"/>
          </a:p>
        </p:txBody>
      </p:sp>
      <p:sp>
        <p:nvSpPr>
          <p:cNvPr id="9" name="Text 6"/>
          <p:cNvSpPr/>
          <p:nvPr/>
        </p:nvSpPr>
        <p:spPr>
          <a:xfrm>
            <a:off x="7818120" y="1618488"/>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VLAN + VRF</a:t>
            </a:r>
            <a:endParaRPr lang="en-US" sz="1650" dirty="0"/>
          </a:p>
        </p:txBody>
      </p:sp>
      <p:sp>
        <p:nvSpPr>
          <p:cNvPr id="10" name="Text 7"/>
          <p:cNvSpPr/>
          <p:nvPr/>
        </p:nvSpPr>
        <p:spPr>
          <a:xfrm>
            <a:off x="7818120" y="1920240"/>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VLAN 10/20/30/40/50 termineres i hver sin VRF: MGMT, INET, UNET, PA og MONITORING.</a:t>
            </a:r>
            <a:endParaRPr lang="en-US" sz="1170" dirty="0"/>
          </a:p>
        </p:txBody>
      </p:sp>
      <p:sp>
        <p:nvSpPr>
          <p:cNvPr id="11" name="Shape 8"/>
          <p:cNvSpPr/>
          <p:nvPr/>
        </p:nvSpPr>
        <p:spPr>
          <a:xfrm>
            <a:off x="7635240" y="2606040"/>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12" name="Shape 9"/>
          <p:cNvSpPr/>
          <p:nvPr/>
        </p:nvSpPr>
        <p:spPr>
          <a:xfrm>
            <a:off x="7635240" y="2606040"/>
            <a:ext cx="64008" cy="950976"/>
          </a:xfrm>
          <a:prstGeom prst="rect">
            <a:avLst/>
          </a:prstGeom>
          <a:solidFill>
            <a:srgbClr val="28A745"/>
          </a:solidFill>
          <a:ln w="12700">
            <a:solidFill>
              <a:srgbClr val="28A745"/>
            </a:solidFill>
            <a:prstDash val="solid"/>
          </a:ln>
        </p:spPr>
        <p:txBody>
          <a:bodyPr/>
          <a:lstStyle/>
          <a:p>
            <a:endParaRPr lang="nb-NO"/>
          </a:p>
        </p:txBody>
      </p:sp>
      <p:sp>
        <p:nvSpPr>
          <p:cNvPr id="13" name="Text 10"/>
          <p:cNvSpPr/>
          <p:nvPr/>
        </p:nvSpPr>
        <p:spPr>
          <a:xfrm>
            <a:off x="7818120" y="2743200"/>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Fast IP-mønster</a:t>
            </a:r>
            <a:endParaRPr lang="en-US" sz="1650" dirty="0"/>
          </a:p>
        </p:txBody>
      </p:sp>
      <p:sp>
        <p:nvSpPr>
          <p:cNvPr id="14" name="Text 11"/>
          <p:cNvSpPr/>
          <p:nvPr/>
        </p:nvSpPr>
        <p:spPr>
          <a:xfrm>
            <a:off x="7818120" y="3044952"/>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10.X.&lt;</a:t>
            </a:r>
            <a:r>
              <a:rPr lang="en-US" sz="1170" dirty="0" err="1">
                <a:solidFill>
                  <a:srgbClr val="1E293B"/>
                </a:solidFill>
              </a:rPr>
              <a:t>tjeneste</a:t>
            </a:r>
            <a:r>
              <a:rPr lang="en-US" sz="1170" dirty="0">
                <a:solidFill>
                  <a:srgbClr val="1E293B"/>
                </a:solidFill>
              </a:rPr>
              <a:t>/</a:t>
            </a:r>
            <a:r>
              <a:rPr lang="en-US" sz="1170" dirty="0" err="1">
                <a:solidFill>
                  <a:srgbClr val="1E293B"/>
                </a:solidFill>
              </a:rPr>
              <a:t>vlan</a:t>
            </a:r>
            <a:r>
              <a:rPr lang="en-US" sz="1170" dirty="0">
                <a:solidFill>
                  <a:srgbClr val="1E293B"/>
                </a:solidFill>
              </a:rPr>
              <a:t>&gt;.0/24 gjør at site og tjeneste kan leses direkte fra adressen.</a:t>
            </a:r>
            <a:endParaRPr lang="en-US" sz="1170" dirty="0"/>
          </a:p>
        </p:txBody>
      </p:sp>
      <p:sp>
        <p:nvSpPr>
          <p:cNvPr id="15" name="Shape 12"/>
          <p:cNvSpPr/>
          <p:nvPr/>
        </p:nvSpPr>
        <p:spPr>
          <a:xfrm>
            <a:off x="7635240" y="3730752"/>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16" name="Shape 13"/>
          <p:cNvSpPr/>
          <p:nvPr/>
        </p:nvSpPr>
        <p:spPr>
          <a:xfrm>
            <a:off x="7635240" y="3730752"/>
            <a:ext cx="64008" cy="950976"/>
          </a:xfrm>
          <a:prstGeom prst="rect">
            <a:avLst/>
          </a:prstGeom>
          <a:solidFill>
            <a:srgbClr val="7C3AED"/>
          </a:solidFill>
          <a:ln w="12700">
            <a:solidFill>
              <a:srgbClr val="7C3AED"/>
            </a:solidFill>
            <a:prstDash val="solid"/>
          </a:ln>
        </p:spPr>
        <p:txBody>
          <a:bodyPr/>
          <a:lstStyle/>
          <a:p>
            <a:endParaRPr lang="nb-NO"/>
          </a:p>
        </p:txBody>
      </p:sp>
      <p:sp>
        <p:nvSpPr>
          <p:cNvPr id="17" name="Text 14"/>
          <p:cNvSpPr/>
          <p:nvPr/>
        </p:nvSpPr>
        <p:spPr>
          <a:xfrm>
            <a:off x="7818120" y="3867912"/>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Least privilege</a:t>
            </a:r>
            <a:endParaRPr lang="en-US" sz="1650" dirty="0"/>
          </a:p>
        </p:txBody>
      </p:sp>
      <p:sp>
        <p:nvSpPr>
          <p:cNvPr id="18" name="Text 15"/>
          <p:cNvSpPr/>
          <p:nvPr/>
        </p:nvSpPr>
        <p:spPr>
          <a:xfrm>
            <a:off x="7818120" y="4169664"/>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ACL-er bygges </a:t>
            </a:r>
            <a:r>
              <a:rPr lang="en-US" sz="1170" dirty="0" err="1">
                <a:solidFill>
                  <a:srgbClr val="1E293B"/>
                </a:solidFill>
              </a:rPr>
              <a:t>fra</a:t>
            </a:r>
            <a:r>
              <a:rPr lang="en-US" sz="1170" dirty="0">
                <a:solidFill>
                  <a:srgbClr val="1E293B"/>
                </a:solidFill>
              </a:rPr>
              <a:t> </a:t>
            </a:r>
            <a:r>
              <a:rPr lang="en-US" sz="1170" dirty="0" err="1">
                <a:solidFill>
                  <a:srgbClr val="1E293B"/>
                </a:solidFill>
              </a:rPr>
              <a:t>tjenestematrise</a:t>
            </a:r>
            <a:r>
              <a:rPr lang="en-US" sz="1170" dirty="0">
                <a:solidFill>
                  <a:srgbClr val="1E293B"/>
                </a:solidFill>
              </a:rPr>
              <a:t> (excel). Bare eksplisitt definert trafikk tillates.</a:t>
            </a:r>
            <a:endParaRPr lang="en-US" sz="1170" dirty="0"/>
          </a:p>
        </p:txBody>
      </p:sp>
      <p:sp>
        <p:nvSpPr>
          <p:cNvPr id="19" name="Shape 16"/>
          <p:cNvSpPr/>
          <p:nvPr/>
        </p:nvSpPr>
        <p:spPr>
          <a:xfrm>
            <a:off x="7635240" y="4855464"/>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20" name="Shape 17"/>
          <p:cNvSpPr/>
          <p:nvPr/>
        </p:nvSpPr>
        <p:spPr>
          <a:xfrm>
            <a:off x="7635240" y="4855464"/>
            <a:ext cx="64008" cy="950976"/>
          </a:xfrm>
          <a:prstGeom prst="rect">
            <a:avLst/>
          </a:prstGeom>
          <a:solidFill>
            <a:srgbClr val="D97706"/>
          </a:solidFill>
          <a:ln w="12700">
            <a:solidFill>
              <a:srgbClr val="D97706"/>
            </a:solidFill>
            <a:prstDash val="solid"/>
          </a:ln>
        </p:spPr>
        <p:txBody>
          <a:bodyPr/>
          <a:lstStyle/>
          <a:p>
            <a:endParaRPr lang="nb-NO"/>
          </a:p>
        </p:txBody>
      </p:sp>
      <p:sp>
        <p:nvSpPr>
          <p:cNvPr id="21" name="Text 18"/>
          <p:cNvSpPr/>
          <p:nvPr/>
        </p:nvSpPr>
        <p:spPr>
          <a:xfrm>
            <a:off x="7818120" y="4992624"/>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Ende-til-ende separasjon</a:t>
            </a:r>
            <a:endParaRPr lang="en-US" sz="1650" dirty="0"/>
          </a:p>
        </p:txBody>
      </p:sp>
      <p:sp>
        <p:nvSpPr>
          <p:cNvPr id="22" name="Text 19"/>
          <p:cNvSpPr/>
          <p:nvPr/>
        </p:nvSpPr>
        <p:spPr>
          <a:xfrm>
            <a:off x="7818120" y="5294376"/>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Hver VRF får eget DMVPN-overlay, slik at segmenteringen videreføres mellom sites.</a:t>
            </a:r>
            <a:endParaRPr lang="en-US" sz="117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9" name="Shape 2">
            <a:extLst>
              <a:ext uri="{FF2B5EF4-FFF2-40B4-BE49-F238E27FC236}">
                <a16:creationId xmlns:a16="http://schemas.microsoft.com/office/drawing/2014/main" id="{8CB69B47-C5E0-1A49-DC3E-B0C881CBB935}"/>
              </a:ext>
            </a:extLst>
          </p:cNvPr>
          <p:cNvSpPr/>
          <p:nvPr/>
        </p:nvSpPr>
        <p:spPr>
          <a:xfrm>
            <a:off x="594360" y="1298448"/>
            <a:ext cx="6812280" cy="4526280"/>
          </a:xfrm>
          <a:prstGeom prst="roundRect">
            <a:avLst>
              <a:gd name="adj" fmla="val 1212"/>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dirty="0"/>
          </a:p>
        </p:txBody>
      </p:sp>
      <p:sp>
        <p:nvSpPr>
          <p:cNvPr id="41" name="Shape 7">
            <a:extLst>
              <a:ext uri="{FF2B5EF4-FFF2-40B4-BE49-F238E27FC236}">
                <a16:creationId xmlns:a16="http://schemas.microsoft.com/office/drawing/2014/main" id="{8CE9C03D-C0CB-67F8-8045-EEE6D8E11BCF}"/>
              </a:ext>
            </a:extLst>
          </p:cNvPr>
          <p:cNvSpPr/>
          <p:nvPr/>
        </p:nvSpPr>
        <p:spPr>
          <a:xfrm>
            <a:off x="5166360" y="4434840"/>
            <a:ext cx="1417320" cy="658368"/>
          </a:xfrm>
          <a:prstGeom prst="roundRect">
            <a:avLst>
              <a:gd name="adj" fmla="val 8333"/>
            </a:avLst>
          </a:prstGeom>
          <a:solidFill>
            <a:srgbClr val="EAF2FF"/>
          </a:solidFill>
          <a:ln w="16510">
            <a:solidFill>
              <a:srgbClr val="2563EB"/>
            </a:solidFill>
            <a:prstDash val="solid"/>
          </a:ln>
        </p:spPr>
        <p:txBody>
          <a:bodyPr/>
          <a:lstStyle/>
          <a:p>
            <a:endParaRPr lang="nb-NO"/>
          </a:p>
        </p:txBody>
      </p:sp>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4. Mellom sites – DMVPN Phase 3</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Hub-and-spoke i kontrollplanet, men direkte spoke-to-spoke i dataplanet når det trengs.</a:t>
            </a:r>
            <a:endParaRPr lang="en-US" sz="1250" dirty="0"/>
          </a:p>
        </p:txBody>
      </p:sp>
      <p:sp>
        <p:nvSpPr>
          <p:cNvPr id="5" name="Shape 3"/>
          <p:cNvSpPr/>
          <p:nvPr/>
        </p:nvSpPr>
        <p:spPr>
          <a:xfrm>
            <a:off x="2971800" y="1856232"/>
            <a:ext cx="2011680" cy="841248"/>
          </a:xfrm>
          <a:prstGeom prst="roundRect">
            <a:avLst>
              <a:gd name="adj" fmla="val 8696"/>
            </a:avLst>
          </a:prstGeom>
          <a:solidFill>
            <a:srgbClr val="E6F5EB"/>
          </a:solidFill>
          <a:ln w="20320">
            <a:solidFill>
              <a:srgbClr val="28A745"/>
            </a:solidFill>
            <a:prstDash val="solid"/>
          </a:ln>
        </p:spPr>
        <p:txBody>
          <a:bodyPr/>
          <a:lstStyle/>
          <a:p>
            <a:endParaRPr lang="nb-NO"/>
          </a:p>
        </p:txBody>
      </p:sp>
      <p:sp>
        <p:nvSpPr>
          <p:cNvPr id="6" name="Text 4"/>
          <p:cNvSpPr/>
          <p:nvPr/>
        </p:nvSpPr>
        <p:spPr>
          <a:xfrm>
            <a:off x="3154680" y="2048256"/>
            <a:ext cx="1645920" cy="384048"/>
          </a:xfrm>
          <a:prstGeom prst="rect">
            <a:avLst/>
          </a:prstGeom>
          <a:noFill/>
          <a:ln/>
        </p:spPr>
        <p:txBody>
          <a:bodyPr wrap="square" lIns="0" tIns="0" rIns="0" bIns="0" rtlCol="0" anchor="ctr"/>
          <a:lstStyle/>
          <a:p>
            <a:pPr marL="0" indent="0" algn="ctr">
              <a:buNone/>
            </a:pPr>
            <a:r>
              <a:rPr lang="en-US" sz="1550" b="1" dirty="0">
                <a:solidFill>
                  <a:srgbClr val="166534"/>
                </a:solidFill>
              </a:rPr>
              <a:t>BNHQ / HUB</a:t>
            </a:r>
            <a:endParaRPr lang="en-US" sz="1550" dirty="0"/>
          </a:p>
          <a:p>
            <a:pPr marL="0" indent="0" algn="ctr">
              <a:buNone/>
            </a:pPr>
            <a:r>
              <a:rPr lang="en-US" sz="1550" b="1" dirty="0">
                <a:solidFill>
                  <a:srgbClr val="166534"/>
                </a:solidFill>
              </a:rPr>
              <a:t>NHRP NHS</a:t>
            </a:r>
            <a:endParaRPr lang="en-US" sz="1550" dirty="0"/>
          </a:p>
        </p:txBody>
      </p:sp>
      <p:sp>
        <p:nvSpPr>
          <p:cNvPr id="7" name="Shape 5"/>
          <p:cNvSpPr/>
          <p:nvPr/>
        </p:nvSpPr>
        <p:spPr>
          <a:xfrm>
            <a:off x="1005840" y="4434840"/>
            <a:ext cx="1417320" cy="658368"/>
          </a:xfrm>
          <a:prstGeom prst="roundRect">
            <a:avLst>
              <a:gd name="adj" fmla="val 8333"/>
            </a:avLst>
          </a:prstGeom>
          <a:solidFill>
            <a:srgbClr val="EAF2FF"/>
          </a:solidFill>
          <a:ln w="16510">
            <a:solidFill>
              <a:srgbClr val="2563EB"/>
            </a:solidFill>
            <a:prstDash val="solid"/>
          </a:ln>
        </p:spPr>
        <p:txBody>
          <a:bodyPr/>
          <a:lstStyle/>
          <a:p>
            <a:endParaRPr lang="nb-NO"/>
          </a:p>
        </p:txBody>
      </p:sp>
      <p:sp>
        <p:nvSpPr>
          <p:cNvPr id="8" name="Text 6"/>
          <p:cNvSpPr/>
          <p:nvPr/>
        </p:nvSpPr>
        <p:spPr>
          <a:xfrm>
            <a:off x="1005840" y="4617720"/>
            <a:ext cx="1417320" cy="164592"/>
          </a:xfrm>
          <a:prstGeom prst="rect">
            <a:avLst/>
          </a:prstGeom>
          <a:noFill/>
          <a:ln/>
        </p:spPr>
        <p:txBody>
          <a:bodyPr wrap="square" lIns="0" tIns="0" rIns="0" bIns="0" rtlCol="0" anchor="ctr"/>
          <a:lstStyle/>
          <a:p>
            <a:pPr marL="0" indent="0" algn="ctr">
              <a:buNone/>
            </a:pPr>
            <a:r>
              <a:rPr lang="en-US" sz="1400" b="1" dirty="0">
                <a:solidFill>
                  <a:srgbClr val="1E40AF"/>
                </a:solidFill>
              </a:rPr>
              <a:t>SITE 2</a:t>
            </a:r>
            <a:endParaRPr lang="en-US" sz="1400" dirty="0"/>
          </a:p>
        </p:txBody>
      </p:sp>
      <p:sp>
        <p:nvSpPr>
          <p:cNvPr id="10" name="Text 8"/>
          <p:cNvSpPr/>
          <p:nvPr/>
        </p:nvSpPr>
        <p:spPr>
          <a:xfrm>
            <a:off x="5166360" y="4617720"/>
            <a:ext cx="1417320" cy="164592"/>
          </a:xfrm>
          <a:prstGeom prst="rect">
            <a:avLst/>
          </a:prstGeom>
          <a:noFill/>
          <a:ln/>
        </p:spPr>
        <p:txBody>
          <a:bodyPr wrap="square" lIns="0" tIns="0" rIns="0" bIns="0" rtlCol="0" anchor="ctr"/>
          <a:lstStyle/>
          <a:p>
            <a:pPr marL="0" indent="0" algn="ctr">
              <a:buNone/>
            </a:pPr>
            <a:r>
              <a:rPr lang="en-US" sz="1400" b="1" dirty="0">
                <a:solidFill>
                  <a:srgbClr val="1E40AF"/>
                </a:solidFill>
              </a:rPr>
              <a:t>SITE 3</a:t>
            </a:r>
            <a:endParaRPr lang="en-US" sz="1400" dirty="0"/>
          </a:p>
        </p:txBody>
      </p:sp>
      <p:sp>
        <p:nvSpPr>
          <p:cNvPr id="11" name="Shape 9"/>
          <p:cNvSpPr/>
          <p:nvPr/>
        </p:nvSpPr>
        <p:spPr>
          <a:xfrm flipV="1">
            <a:off x="1831470" y="3437321"/>
            <a:ext cx="781101" cy="906078"/>
          </a:xfrm>
          <a:prstGeom prst="line">
            <a:avLst/>
          </a:prstGeom>
          <a:noFill/>
          <a:ln w="27940">
            <a:solidFill>
              <a:srgbClr val="64748B"/>
            </a:solidFill>
            <a:prstDash val="solid"/>
            <a:headEnd type="none"/>
            <a:tailEnd type="triangle"/>
          </a:ln>
        </p:spPr>
        <p:txBody>
          <a:bodyPr/>
          <a:lstStyle/>
          <a:p>
            <a:endParaRPr lang="nb-NO"/>
          </a:p>
        </p:txBody>
      </p:sp>
      <p:sp>
        <p:nvSpPr>
          <p:cNvPr id="13" name="Text 11"/>
          <p:cNvSpPr/>
          <p:nvPr/>
        </p:nvSpPr>
        <p:spPr>
          <a:xfrm>
            <a:off x="1046988" y="3181289"/>
            <a:ext cx="3246120" cy="256032"/>
          </a:xfrm>
          <a:prstGeom prst="rect">
            <a:avLst/>
          </a:prstGeom>
          <a:noFill/>
          <a:ln/>
        </p:spPr>
        <p:txBody>
          <a:bodyPr wrap="square" lIns="0" tIns="0" rIns="0" bIns="0" rtlCol="0" anchor="ctr"/>
          <a:lstStyle/>
          <a:p>
            <a:pPr marL="0" indent="0" algn="ctr">
              <a:buNone/>
            </a:pPr>
            <a:r>
              <a:rPr lang="en-US" sz="1150" b="1" dirty="0">
                <a:solidFill>
                  <a:srgbClr val="64748B"/>
                </a:solidFill>
              </a:rPr>
              <a:t>1  Første trafikk kan gå via hub</a:t>
            </a:r>
            <a:endParaRPr lang="en-US" sz="1150" dirty="0"/>
          </a:p>
        </p:txBody>
      </p:sp>
      <p:sp>
        <p:nvSpPr>
          <p:cNvPr id="14" name="Shape 12"/>
          <p:cNvSpPr/>
          <p:nvPr/>
        </p:nvSpPr>
        <p:spPr>
          <a:xfrm>
            <a:off x="2432304" y="4754880"/>
            <a:ext cx="2724912" cy="0"/>
          </a:xfrm>
          <a:prstGeom prst="line">
            <a:avLst/>
          </a:prstGeom>
          <a:noFill/>
          <a:ln w="50800">
            <a:solidFill>
              <a:srgbClr val="28A745"/>
            </a:solidFill>
            <a:prstDash val="solid"/>
            <a:headEnd type="none"/>
            <a:tailEnd type="triangle"/>
          </a:ln>
        </p:spPr>
        <p:txBody>
          <a:bodyPr/>
          <a:lstStyle/>
          <a:p>
            <a:endParaRPr lang="nb-NO"/>
          </a:p>
        </p:txBody>
      </p:sp>
      <p:sp>
        <p:nvSpPr>
          <p:cNvPr id="15" name="Text 13"/>
          <p:cNvSpPr/>
          <p:nvPr/>
        </p:nvSpPr>
        <p:spPr>
          <a:xfrm>
            <a:off x="2011680" y="5184648"/>
            <a:ext cx="3657600" cy="256032"/>
          </a:xfrm>
          <a:prstGeom prst="rect">
            <a:avLst/>
          </a:prstGeom>
          <a:noFill/>
          <a:ln/>
        </p:spPr>
        <p:txBody>
          <a:bodyPr wrap="square" lIns="0" tIns="0" rIns="0" bIns="0" rtlCol="0" anchor="ctr"/>
          <a:lstStyle/>
          <a:p>
            <a:pPr marL="0" indent="0" algn="ctr">
              <a:buNone/>
            </a:pPr>
            <a:r>
              <a:rPr lang="en-US" sz="1150" b="1" dirty="0">
                <a:solidFill>
                  <a:srgbClr val="166534"/>
                </a:solidFill>
              </a:rPr>
              <a:t>2  NHRP redirect + shortcut → direkte dataplan</a:t>
            </a:r>
            <a:endParaRPr lang="en-US" sz="1150" dirty="0"/>
          </a:p>
        </p:txBody>
      </p:sp>
      <p:sp>
        <p:nvSpPr>
          <p:cNvPr id="16" name="Shape 14"/>
          <p:cNvSpPr/>
          <p:nvPr/>
        </p:nvSpPr>
        <p:spPr>
          <a:xfrm>
            <a:off x="2670048" y="2788920"/>
            <a:ext cx="2651760" cy="347472"/>
          </a:xfrm>
          <a:prstGeom prst="roundRect">
            <a:avLst>
              <a:gd name="adj" fmla="val 21053"/>
            </a:avLst>
          </a:prstGeom>
          <a:solidFill>
            <a:srgbClr val="EDF7EF"/>
          </a:solidFill>
          <a:ln w="12700">
            <a:solidFill>
              <a:srgbClr val="EDF7EF"/>
            </a:solidFill>
            <a:prstDash val="solid"/>
          </a:ln>
        </p:spPr>
        <p:txBody>
          <a:bodyPr/>
          <a:lstStyle/>
          <a:p>
            <a:endParaRPr lang="nb-NO"/>
          </a:p>
        </p:txBody>
      </p:sp>
      <p:sp>
        <p:nvSpPr>
          <p:cNvPr id="17" name="Text 15"/>
          <p:cNvSpPr/>
          <p:nvPr/>
        </p:nvSpPr>
        <p:spPr>
          <a:xfrm>
            <a:off x="2715768" y="2857500"/>
            <a:ext cx="2560320" cy="173736"/>
          </a:xfrm>
          <a:prstGeom prst="rect">
            <a:avLst/>
          </a:prstGeom>
          <a:noFill/>
          <a:ln/>
        </p:spPr>
        <p:txBody>
          <a:bodyPr wrap="square" lIns="0" tIns="0" rIns="0" bIns="0" rtlCol="0" anchor="ctr">
            <a:normAutofit/>
          </a:bodyPr>
          <a:lstStyle/>
          <a:p>
            <a:pPr marL="0" indent="0" algn="ctr">
              <a:buNone/>
            </a:pPr>
            <a:r>
              <a:rPr lang="en-US" sz="1080" b="1" dirty="0">
                <a:solidFill>
                  <a:srgbClr val="166534"/>
                </a:solidFill>
              </a:rPr>
              <a:t>HUB: ip nhrp redirect</a:t>
            </a:r>
            <a:endParaRPr lang="en-US" sz="1080" dirty="0"/>
          </a:p>
        </p:txBody>
      </p:sp>
      <p:sp>
        <p:nvSpPr>
          <p:cNvPr id="18" name="Shape 16"/>
          <p:cNvSpPr/>
          <p:nvPr/>
        </p:nvSpPr>
        <p:spPr>
          <a:xfrm>
            <a:off x="2834640" y="4302252"/>
            <a:ext cx="1783080" cy="347472"/>
          </a:xfrm>
          <a:prstGeom prst="roundRect">
            <a:avLst>
              <a:gd name="adj" fmla="val 21053"/>
            </a:avLst>
          </a:prstGeom>
          <a:solidFill>
            <a:srgbClr val="EAF2FF"/>
          </a:solidFill>
          <a:ln w="12700">
            <a:solidFill>
              <a:srgbClr val="EAF2FF"/>
            </a:solidFill>
            <a:prstDash val="solid"/>
          </a:ln>
        </p:spPr>
        <p:txBody>
          <a:bodyPr/>
          <a:lstStyle/>
          <a:p>
            <a:endParaRPr lang="nb-NO" dirty="0"/>
          </a:p>
        </p:txBody>
      </p:sp>
      <p:sp>
        <p:nvSpPr>
          <p:cNvPr id="19" name="Text 17"/>
          <p:cNvSpPr/>
          <p:nvPr/>
        </p:nvSpPr>
        <p:spPr>
          <a:xfrm>
            <a:off x="2880360" y="4370832"/>
            <a:ext cx="1691640" cy="173736"/>
          </a:xfrm>
          <a:prstGeom prst="rect">
            <a:avLst/>
          </a:prstGeom>
          <a:noFill/>
          <a:ln/>
        </p:spPr>
        <p:txBody>
          <a:bodyPr wrap="square" lIns="0" tIns="0" rIns="0" bIns="0" rtlCol="0" anchor="ctr">
            <a:normAutofit/>
          </a:bodyPr>
          <a:lstStyle/>
          <a:p>
            <a:pPr marL="0" indent="0" algn="ctr">
              <a:buNone/>
            </a:pPr>
            <a:r>
              <a:rPr lang="en-US" sz="1080" b="1" dirty="0">
                <a:solidFill>
                  <a:srgbClr val="1E40AF"/>
                </a:solidFill>
              </a:rPr>
              <a:t>SPOKE: shortcut</a:t>
            </a:r>
            <a:endParaRPr lang="en-US" sz="1080" dirty="0"/>
          </a:p>
        </p:txBody>
      </p:sp>
      <p:sp>
        <p:nvSpPr>
          <p:cNvPr id="20" name="Text 18"/>
          <p:cNvSpPr/>
          <p:nvPr/>
        </p:nvSpPr>
        <p:spPr>
          <a:xfrm>
            <a:off x="7754112" y="1325880"/>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HVORFOR FASE 3?</a:t>
            </a:r>
            <a:endParaRPr lang="en-US" sz="950" dirty="0"/>
          </a:p>
        </p:txBody>
      </p:sp>
      <p:sp>
        <p:nvSpPr>
          <p:cNvPr id="21" name="Shape 19"/>
          <p:cNvSpPr/>
          <p:nvPr/>
        </p:nvSpPr>
        <p:spPr>
          <a:xfrm>
            <a:off x="7726680" y="1627632"/>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22" name="Shape 20"/>
          <p:cNvSpPr/>
          <p:nvPr/>
        </p:nvSpPr>
        <p:spPr>
          <a:xfrm>
            <a:off x="7726680" y="1627632"/>
            <a:ext cx="64008" cy="960120"/>
          </a:xfrm>
          <a:prstGeom prst="rect">
            <a:avLst/>
          </a:prstGeom>
          <a:solidFill>
            <a:srgbClr val="28A745"/>
          </a:solidFill>
          <a:ln w="12700">
            <a:solidFill>
              <a:srgbClr val="28A745"/>
            </a:solidFill>
            <a:prstDash val="solid"/>
          </a:ln>
        </p:spPr>
        <p:txBody>
          <a:bodyPr/>
          <a:lstStyle/>
          <a:p>
            <a:endParaRPr lang="nb-NO"/>
          </a:p>
        </p:txBody>
      </p:sp>
      <p:sp>
        <p:nvSpPr>
          <p:cNvPr id="23" name="Text 21"/>
          <p:cNvSpPr/>
          <p:nvPr/>
        </p:nvSpPr>
        <p:spPr>
          <a:xfrm>
            <a:off x="7909560" y="1764792"/>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Skalerbar routing</a:t>
            </a:r>
            <a:endParaRPr lang="en-US" sz="1650" dirty="0"/>
          </a:p>
        </p:txBody>
      </p:sp>
      <p:sp>
        <p:nvSpPr>
          <p:cNvPr id="24" name="Text 22"/>
          <p:cNvSpPr/>
          <p:nvPr/>
        </p:nvSpPr>
        <p:spPr>
          <a:xfrm>
            <a:off x="7909560" y="2066544"/>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Spokes kan route mot huben; NHRP finner en bedre direkte vei ved behov.</a:t>
            </a:r>
            <a:endParaRPr lang="en-US" sz="1160" dirty="0"/>
          </a:p>
        </p:txBody>
      </p:sp>
      <p:sp>
        <p:nvSpPr>
          <p:cNvPr id="25" name="Shape 23"/>
          <p:cNvSpPr/>
          <p:nvPr/>
        </p:nvSpPr>
        <p:spPr>
          <a:xfrm>
            <a:off x="7726680" y="2761488"/>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26" name="Shape 24"/>
          <p:cNvSpPr/>
          <p:nvPr/>
        </p:nvSpPr>
        <p:spPr>
          <a:xfrm>
            <a:off x="7726680" y="2761488"/>
            <a:ext cx="64008" cy="960120"/>
          </a:xfrm>
          <a:prstGeom prst="rect">
            <a:avLst/>
          </a:prstGeom>
          <a:solidFill>
            <a:srgbClr val="2563EB"/>
          </a:solidFill>
          <a:ln w="12700">
            <a:solidFill>
              <a:srgbClr val="2563EB"/>
            </a:solidFill>
            <a:prstDash val="solid"/>
          </a:ln>
        </p:spPr>
        <p:txBody>
          <a:bodyPr/>
          <a:lstStyle/>
          <a:p>
            <a:endParaRPr lang="nb-NO"/>
          </a:p>
        </p:txBody>
      </p:sp>
      <p:sp>
        <p:nvSpPr>
          <p:cNvPr id="27" name="Text 25"/>
          <p:cNvSpPr/>
          <p:nvPr/>
        </p:nvSpPr>
        <p:spPr>
          <a:xfrm>
            <a:off x="7909560" y="2898648"/>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Mindre flaskehals</a:t>
            </a:r>
            <a:endParaRPr lang="en-US" sz="1650" dirty="0"/>
          </a:p>
        </p:txBody>
      </p:sp>
      <p:sp>
        <p:nvSpPr>
          <p:cNvPr id="28" name="Text 26"/>
          <p:cNvSpPr/>
          <p:nvPr/>
        </p:nvSpPr>
        <p:spPr>
          <a:xfrm>
            <a:off x="7909560" y="3200400"/>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Direkte spoke-to-spoke reduserer unødvendig belastning på BNHQ og WAN-lenkene.</a:t>
            </a:r>
            <a:endParaRPr lang="en-US" sz="1160" dirty="0"/>
          </a:p>
        </p:txBody>
      </p:sp>
      <p:sp>
        <p:nvSpPr>
          <p:cNvPr id="29" name="Shape 27"/>
          <p:cNvSpPr/>
          <p:nvPr/>
        </p:nvSpPr>
        <p:spPr>
          <a:xfrm>
            <a:off x="7726680" y="3895344"/>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30" name="Shape 28"/>
          <p:cNvSpPr/>
          <p:nvPr/>
        </p:nvSpPr>
        <p:spPr>
          <a:xfrm>
            <a:off x="7726680" y="3895344"/>
            <a:ext cx="64008" cy="960120"/>
          </a:xfrm>
          <a:prstGeom prst="rect">
            <a:avLst/>
          </a:prstGeom>
          <a:solidFill>
            <a:srgbClr val="7C3AED"/>
          </a:solidFill>
          <a:ln w="12700">
            <a:solidFill>
              <a:srgbClr val="7C3AED"/>
            </a:solidFill>
            <a:prstDash val="solid"/>
          </a:ln>
        </p:spPr>
        <p:txBody>
          <a:bodyPr/>
          <a:lstStyle/>
          <a:p>
            <a:endParaRPr lang="nb-NO"/>
          </a:p>
        </p:txBody>
      </p:sp>
      <p:sp>
        <p:nvSpPr>
          <p:cNvPr id="31" name="Text 29"/>
          <p:cNvSpPr/>
          <p:nvPr/>
        </p:nvSpPr>
        <p:spPr>
          <a:xfrm>
            <a:off x="7909560" y="4032504"/>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Dynamisk routing</a:t>
            </a:r>
            <a:endParaRPr lang="en-US" sz="1650" dirty="0"/>
          </a:p>
        </p:txBody>
      </p:sp>
      <p:sp>
        <p:nvSpPr>
          <p:cNvPr id="32" name="Text 30"/>
          <p:cNvSpPr/>
          <p:nvPr/>
        </p:nvSpPr>
        <p:spPr>
          <a:xfrm>
            <a:off x="7909560" y="4334256"/>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EIGRP distribuerer rutene, mens NHRP håndterer mapping mellom tunnel- og underlay-adresser.</a:t>
            </a:r>
            <a:endParaRPr lang="en-US" sz="1160" dirty="0"/>
          </a:p>
        </p:txBody>
      </p:sp>
      <p:sp>
        <p:nvSpPr>
          <p:cNvPr id="33" name="Shape 31"/>
          <p:cNvSpPr/>
          <p:nvPr/>
        </p:nvSpPr>
        <p:spPr>
          <a:xfrm>
            <a:off x="7726680" y="5029200"/>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34" name="Shape 32"/>
          <p:cNvSpPr/>
          <p:nvPr/>
        </p:nvSpPr>
        <p:spPr>
          <a:xfrm>
            <a:off x="7726680" y="5029200"/>
            <a:ext cx="64008" cy="960120"/>
          </a:xfrm>
          <a:prstGeom prst="rect">
            <a:avLst/>
          </a:prstGeom>
          <a:solidFill>
            <a:srgbClr val="D97706"/>
          </a:solidFill>
          <a:ln w="12700">
            <a:solidFill>
              <a:srgbClr val="D97706"/>
            </a:solidFill>
            <a:prstDash val="solid"/>
          </a:ln>
        </p:spPr>
        <p:txBody>
          <a:bodyPr/>
          <a:lstStyle/>
          <a:p>
            <a:endParaRPr lang="nb-NO"/>
          </a:p>
        </p:txBody>
      </p:sp>
      <p:sp>
        <p:nvSpPr>
          <p:cNvPr id="35" name="Text 33"/>
          <p:cNvSpPr/>
          <p:nvPr/>
        </p:nvSpPr>
        <p:spPr>
          <a:xfrm>
            <a:off x="7909560" y="5166360"/>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Ingen tunnel-fullmesh</a:t>
            </a:r>
            <a:endParaRPr lang="en-US" sz="1650" dirty="0"/>
          </a:p>
        </p:txBody>
      </p:sp>
      <p:sp>
        <p:nvSpPr>
          <p:cNvPr id="36" name="Text 34"/>
          <p:cNvSpPr/>
          <p:nvPr/>
        </p:nvSpPr>
        <p:spPr>
          <a:xfrm>
            <a:off x="7909560" y="5468112"/>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Nye sites krever ikke separate punkt-til-punkt-tunneler til alle eksisterende sites.</a:t>
            </a:r>
            <a:endParaRPr lang="en-US" sz="1160" dirty="0"/>
          </a:p>
        </p:txBody>
      </p:sp>
      <p:sp>
        <p:nvSpPr>
          <p:cNvPr id="37"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5. Sikkerhet – flere lag, ikke ett enkelt tiltak</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Tiltakene er valgt for å redusere både lokale Layer 2-angrep og risiko ved administrasjon og transport.</a:t>
            </a:r>
            <a:endParaRPr lang="en-US" sz="1250" dirty="0"/>
          </a:p>
        </p:txBody>
      </p:sp>
      <p:sp>
        <p:nvSpPr>
          <p:cNvPr id="4" name="Shape 2"/>
          <p:cNvSpPr/>
          <p:nvPr/>
        </p:nvSpPr>
        <p:spPr>
          <a:xfrm>
            <a:off x="612648" y="1371600"/>
            <a:ext cx="3090672" cy="4526280"/>
          </a:xfrm>
          <a:prstGeom prst="roundRect">
            <a:avLst>
              <a:gd name="adj" fmla="val 1775"/>
            </a:avLst>
          </a:prstGeom>
          <a:solidFill>
            <a:srgbClr val="EAF2FF"/>
          </a:solidFill>
          <a:ln w="13970">
            <a:solidFill>
              <a:srgbClr val="2563EB"/>
            </a:solidFill>
            <a:prstDash val="solid"/>
          </a:ln>
        </p:spPr>
        <p:txBody>
          <a:bodyPr/>
          <a:lstStyle/>
          <a:p>
            <a:endParaRPr lang="nb-NO"/>
          </a:p>
        </p:txBody>
      </p:sp>
      <p:sp>
        <p:nvSpPr>
          <p:cNvPr id="5" name="Text 3"/>
          <p:cNvSpPr/>
          <p:nvPr/>
        </p:nvSpPr>
        <p:spPr>
          <a:xfrm>
            <a:off x="813816"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Aksesslaget</a:t>
            </a:r>
            <a:endParaRPr lang="en-US" sz="1750" dirty="0"/>
          </a:p>
        </p:txBody>
      </p:sp>
      <p:sp>
        <p:nvSpPr>
          <p:cNvPr id="6" name="Text 4"/>
          <p:cNvSpPr/>
          <p:nvPr/>
        </p:nvSpPr>
        <p:spPr>
          <a:xfrm>
            <a:off x="813816"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Beskytt klientporter</a:t>
            </a:r>
            <a:endParaRPr lang="en-US" sz="1030" dirty="0"/>
          </a:p>
        </p:txBody>
      </p:sp>
      <p:sp>
        <p:nvSpPr>
          <p:cNvPr id="7" name="Shape 5"/>
          <p:cNvSpPr/>
          <p:nvPr/>
        </p:nvSpPr>
        <p:spPr>
          <a:xfrm>
            <a:off x="4096512" y="1371600"/>
            <a:ext cx="3090672" cy="4526280"/>
          </a:xfrm>
          <a:prstGeom prst="roundRect">
            <a:avLst>
              <a:gd name="adj" fmla="val 1775"/>
            </a:avLst>
          </a:prstGeom>
          <a:solidFill>
            <a:srgbClr val="FFF4E5"/>
          </a:solidFill>
          <a:ln w="13970">
            <a:solidFill>
              <a:srgbClr val="D97706"/>
            </a:solidFill>
            <a:prstDash val="solid"/>
          </a:ln>
        </p:spPr>
        <p:txBody>
          <a:bodyPr/>
          <a:lstStyle/>
          <a:p>
            <a:endParaRPr lang="nb-NO"/>
          </a:p>
        </p:txBody>
      </p:sp>
      <p:sp>
        <p:nvSpPr>
          <p:cNvPr id="8" name="Text 6"/>
          <p:cNvSpPr/>
          <p:nvPr/>
        </p:nvSpPr>
        <p:spPr>
          <a:xfrm>
            <a:off x="4297680"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STP og fysisk tilgang</a:t>
            </a:r>
            <a:endParaRPr lang="en-US" sz="1750" dirty="0"/>
          </a:p>
        </p:txBody>
      </p:sp>
      <p:sp>
        <p:nvSpPr>
          <p:cNvPr id="9" name="Text 7"/>
          <p:cNvSpPr/>
          <p:nvPr/>
        </p:nvSpPr>
        <p:spPr>
          <a:xfrm>
            <a:off x="4297680"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Begrens feil og uautorisert utstyr</a:t>
            </a:r>
            <a:endParaRPr lang="en-US" sz="1030" dirty="0"/>
          </a:p>
        </p:txBody>
      </p:sp>
      <p:sp>
        <p:nvSpPr>
          <p:cNvPr id="10" name="Shape 8"/>
          <p:cNvSpPr/>
          <p:nvPr/>
        </p:nvSpPr>
        <p:spPr>
          <a:xfrm>
            <a:off x="7580376" y="1371600"/>
            <a:ext cx="3090672" cy="4526280"/>
          </a:xfrm>
          <a:prstGeom prst="roundRect">
            <a:avLst>
              <a:gd name="adj" fmla="val 1775"/>
            </a:avLst>
          </a:prstGeom>
          <a:solidFill>
            <a:srgbClr val="EAF7EE"/>
          </a:solidFill>
          <a:ln w="13970">
            <a:solidFill>
              <a:srgbClr val="28A745"/>
            </a:solidFill>
            <a:prstDash val="solid"/>
          </a:ln>
        </p:spPr>
        <p:txBody>
          <a:bodyPr/>
          <a:lstStyle/>
          <a:p>
            <a:endParaRPr lang="nb-NO"/>
          </a:p>
        </p:txBody>
      </p:sp>
      <p:sp>
        <p:nvSpPr>
          <p:cNvPr id="11" name="Text 9"/>
          <p:cNvSpPr/>
          <p:nvPr/>
        </p:nvSpPr>
        <p:spPr>
          <a:xfrm>
            <a:off x="7781544"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Management og transport</a:t>
            </a:r>
            <a:endParaRPr lang="en-US" sz="1750" dirty="0"/>
          </a:p>
        </p:txBody>
      </p:sp>
      <p:sp>
        <p:nvSpPr>
          <p:cNvPr id="12" name="Text 10"/>
          <p:cNvSpPr/>
          <p:nvPr/>
        </p:nvSpPr>
        <p:spPr>
          <a:xfrm>
            <a:off x="7781544"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Beskytt administrasjon og WAN</a:t>
            </a:r>
            <a:endParaRPr lang="en-US" sz="1030" dirty="0"/>
          </a:p>
        </p:txBody>
      </p:sp>
      <p:sp>
        <p:nvSpPr>
          <p:cNvPr id="13" name="Shape 11"/>
          <p:cNvSpPr/>
          <p:nvPr/>
        </p:nvSpPr>
        <p:spPr>
          <a:xfrm>
            <a:off x="877824" y="2404872"/>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14" name="Text 12"/>
          <p:cNvSpPr/>
          <p:nvPr/>
        </p:nvSpPr>
        <p:spPr>
          <a:xfrm>
            <a:off x="1005840"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DHCP Snooping</a:t>
            </a:r>
            <a:endParaRPr lang="en-US" sz="1070" dirty="0"/>
          </a:p>
        </p:txBody>
      </p:sp>
      <p:sp>
        <p:nvSpPr>
          <p:cNvPr id="15" name="Text 13"/>
          <p:cNvSpPr/>
          <p:nvPr/>
        </p:nvSpPr>
        <p:spPr>
          <a:xfrm>
            <a:off x="1005840"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Stopper falske DHCP-servere og bygger bindingtabell</a:t>
            </a:r>
            <a:endParaRPr lang="en-US" sz="835" dirty="0"/>
          </a:p>
        </p:txBody>
      </p:sp>
      <p:sp>
        <p:nvSpPr>
          <p:cNvPr id="16" name="Shape 14"/>
          <p:cNvSpPr/>
          <p:nvPr/>
        </p:nvSpPr>
        <p:spPr>
          <a:xfrm>
            <a:off x="877824" y="3108960"/>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17" name="Text 15"/>
          <p:cNvSpPr/>
          <p:nvPr/>
        </p:nvSpPr>
        <p:spPr>
          <a:xfrm>
            <a:off x="1005840"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DAI</a:t>
            </a:r>
            <a:endParaRPr lang="en-US" sz="1070" dirty="0"/>
          </a:p>
        </p:txBody>
      </p:sp>
      <p:sp>
        <p:nvSpPr>
          <p:cNvPr id="18" name="Text 16"/>
          <p:cNvSpPr/>
          <p:nvPr/>
        </p:nvSpPr>
        <p:spPr>
          <a:xfrm>
            <a:off x="1005840"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Validerer ARP mot IP–MAC-bindinger</a:t>
            </a:r>
            <a:endParaRPr lang="en-US" sz="835" dirty="0"/>
          </a:p>
        </p:txBody>
      </p:sp>
      <p:sp>
        <p:nvSpPr>
          <p:cNvPr id="19" name="Shape 17"/>
          <p:cNvSpPr/>
          <p:nvPr/>
        </p:nvSpPr>
        <p:spPr>
          <a:xfrm>
            <a:off x="877824" y="3813048"/>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20" name="Text 18"/>
          <p:cNvSpPr/>
          <p:nvPr/>
        </p:nvSpPr>
        <p:spPr>
          <a:xfrm>
            <a:off x="1005840"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IP Source Guard</a:t>
            </a:r>
            <a:endParaRPr lang="en-US" sz="1070" dirty="0"/>
          </a:p>
        </p:txBody>
      </p:sp>
      <p:sp>
        <p:nvSpPr>
          <p:cNvPr id="21" name="Text 19"/>
          <p:cNvSpPr/>
          <p:nvPr/>
        </p:nvSpPr>
        <p:spPr>
          <a:xfrm>
            <a:off x="1005840"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Sjekker gyldig source-IP på porten</a:t>
            </a:r>
            <a:endParaRPr lang="en-US" sz="835" dirty="0"/>
          </a:p>
        </p:txBody>
      </p:sp>
      <p:sp>
        <p:nvSpPr>
          <p:cNvPr id="22" name="Shape 20"/>
          <p:cNvSpPr/>
          <p:nvPr/>
        </p:nvSpPr>
        <p:spPr>
          <a:xfrm>
            <a:off x="877824" y="4517136"/>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23" name="Text 21"/>
          <p:cNvSpPr/>
          <p:nvPr/>
        </p:nvSpPr>
        <p:spPr>
          <a:xfrm>
            <a:off x="1005840"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Port Security</a:t>
            </a:r>
            <a:endParaRPr lang="en-US" sz="1070" dirty="0"/>
          </a:p>
        </p:txBody>
      </p:sp>
      <p:sp>
        <p:nvSpPr>
          <p:cNvPr id="24" name="Text 22"/>
          <p:cNvSpPr/>
          <p:nvPr/>
        </p:nvSpPr>
        <p:spPr>
          <a:xfrm>
            <a:off x="1005840"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Begrenser MAC-adresser per accessport</a:t>
            </a:r>
            <a:endParaRPr lang="en-US" sz="835" dirty="0"/>
          </a:p>
        </p:txBody>
      </p:sp>
      <p:sp>
        <p:nvSpPr>
          <p:cNvPr id="25" name="Text 23"/>
          <p:cNvSpPr/>
          <p:nvPr/>
        </p:nvSpPr>
        <p:spPr>
          <a:xfrm>
            <a:off x="914400" y="5321808"/>
            <a:ext cx="2468880" cy="201168"/>
          </a:xfrm>
          <a:prstGeom prst="rect">
            <a:avLst/>
          </a:prstGeom>
          <a:noFill/>
          <a:ln/>
        </p:spPr>
        <p:txBody>
          <a:bodyPr wrap="square" lIns="0" tIns="0" rIns="0" bIns="0" rtlCol="0" anchor="ctr">
            <a:normAutofit/>
          </a:bodyPr>
          <a:lstStyle/>
          <a:p>
            <a:pPr marL="0" indent="0" algn="ctr">
              <a:buNone/>
            </a:pPr>
            <a:r>
              <a:rPr lang="en-US" sz="1000" b="1" dirty="0">
                <a:solidFill>
                  <a:srgbClr val="1E40AF"/>
                </a:solidFill>
              </a:rPr>
              <a:t>DHCP Snooping → grunnlag for DAI + IPSG</a:t>
            </a:r>
            <a:endParaRPr lang="en-US" sz="1000" dirty="0"/>
          </a:p>
        </p:txBody>
      </p:sp>
      <p:sp>
        <p:nvSpPr>
          <p:cNvPr id="26" name="Shape 24"/>
          <p:cNvSpPr/>
          <p:nvPr/>
        </p:nvSpPr>
        <p:spPr>
          <a:xfrm>
            <a:off x="4361688" y="2404872"/>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27" name="Text 25"/>
          <p:cNvSpPr/>
          <p:nvPr/>
        </p:nvSpPr>
        <p:spPr>
          <a:xfrm>
            <a:off x="4489704"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BPDU Guard</a:t>
            </a:r>
            <a:endParaRPr lang="en-US" sz="1070" dirty="0"/>
          </a:p>
        </p:txBody>
      </p:sp>
      <p:sp>
        <p:nvSpPr>
          <p:cNvPr id="28" name="Text 26"/>
          <p:cNvSpPr/>
          <p:nvPr/>
        </p:nvSpPr>
        <p:spPr>
          <a:xfrm>
            <a:off x="4489704"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Stenger edge-port ved mottatt BPDU</a:t>
            </a:r>
            <a:endParaRPr lang="en-US" sz="835" dirty="0"/>
          </a:p>
        </p:txBody>
      </p:sp>
      <p:sp>
        <p:nvSpPr>
          <p:cNvPr id="29" name="Shape 27"/>
          <p:cNvSpPr/>
          <p:nvPr/>
        </p:nvSpPr>
        <p:spPr>
          <a:xfrm>
            <a:off x="4361688" y="3108960"/>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0" name="Text 28"/>
          <p:cNvSpPr/>
          <p:nvPr/>
        </p:nvSpPr>
        <p:spPr>
          <a:xfrm>
            <a:off x="4489704"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Root Guard</a:t>
            </a:r>
            <a:endParaRPr lang="en-US" sz="1070" dirty="0"/>
          </a:p>
        </p:txBody>
      </p:sp>
      <p:sp>
        <p:nvSpPr>
          <p:cNvPr id="31" name="Text 29"/>
          <p:cNvSpPr/>
          <p:nvPr/>
        </p:nvSpPr>
        <p:spPr>
          <a:xfrm>
            <a:off x="4489704"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Hindrer downstream-switch i å bli root</a:t>
            </a:r>
            <a:endParaRPr lang="en-US" sz="835" dirty="0"/>
          </a:p>
        </p:txBody>
      </p:sp>
      <p:sp>
        <p:nvSpPr>
          <p:cNvPr id="32" name="Shape 30"/>
          <p:cNvSpPr/>
          <p:nvPr/>
        </p:nvSpPr>
        <p:spPr>
          <a:xfrm>
            <a:off x="4361688" y="3813048"/>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3" name="Text 31"/>
          <p:cNvSpPr/>
          <p:nvPr/>
        </p:nvSpPr>
        <p:spPr>
          <a:xfrm>
            <a:off x="4489704"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Loop Guard</a:t>
            </a:r>
            <a:endParaRPr lang="en-US" sz="1070" dirty="0"/>
          </a:p>
        </p:txBody>
      </p:sp>
      <p:sp>
        <p:nvSpPr>
          <p:cNvPr id="34" name="Text 32"/>
          <p:cNvSpPr/>
          <p:nvPr/>
        </p:nvSpPr>
        <p:spPr>
          <a:xfrm>
            <a:off x="4489704"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Beskytter mot feilaktig forwarding ved linkfeil</a:t>
            </a:r>
            <a:endParaRPr lang="en-US" sz="835" dirty="0"/>
          </a:p>
        </p:txBody>
      </p:sp>
      <p:sp>
        <p:nvSpPr>
          <p:cNvPr id="35" name="Shape 33"/>
          <p:cNvSpPr/>
          <p:nvPr/>
        </p:nvSpPr>
        <p:spPr>
          <a:xfrm>
            <a:off x="4361688" y="4517136"/>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6" name="Text 34"/>
          <p:cNvSpPr/>
          <p:nvPr/>
        </p:nvSpPr>
        <p:spPr>
          <a:xfrm>
            <a:off x="4489704"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VLAN 999 + shutdown</a:t>
            </a:r>
            <a:endParaRPr lang="en-US" sz="1070" dirty="0"/>
          </a:p>
        </p:txBody>
      </p:sp>
      <p:sp>
        <p:nvSpPr>
          <p:cNvPr id="37" name="Text 35"/>
          <p:cNvSpPr/>
          <p:nvPr/>
        </p:nvSpPr>
        <p:spPr>
          <a:xfrm>
            <a:off x="4489704"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Ubrukte porter bærer ikke produksjonstrafikk</a:t>
            </a:r>
            <a:endParaRPr lang="en-US" sz="835" dirty="0"/>
          </a:p>
        </p:txBody>
      </p:sp>
      <p:sp>
        <p:nvSpPr>
          <p:cNvPr id="38" name="Shape 36"/>
          <p:cNvSpPr/>
          <p:nvPr/>
        </p:nvSpPr>
        <p:spPr>
          <a:xfrm>
            <a:off x="7845552" y="2404872"/>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39" name="Text 37"/>
          <p:cNvSpPr/>
          <p:nvPr/>
        </p:nvSpPr>
        <p:spPr>
          <a:xfrm>
            <a:off x="7973568"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VRF + ACL</a:t>
            </a:r>
            <a:endParaRPr lang="en-US" sz="1070" dirty="0"/>
          </a:p>
        </p:txBody>
      </p:sp>
      <p:sp>
        <p:nvSpPr>
          <p:cNvPr id="40" name="Text 38"/>
          <p:cNvSpPr/>
          <p:nvPr/>
        </p:nvSpPr>
        <p:spPr>
          <a:xfrm>
            <a:off x="7973568"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Segmentering og eksplisitt trafikkpolicy</a:t>
            </a:r>
            <a:endParaRPr lang="en-US" sz="835" dirty="0"/>
          </a:p>
        </p:txBody>
      </p:sp>
      <p:sp>
        <p:nvSpPr>
          <p:cNvPr id="41" name="Shape 39"/>
          <p:cNvSpPr/>
          <p:nvPr/>
        </p:nvSpPr>
        <p:spPr>
          <a:xfrm>
            <a:off x="7845552" y="3108960"/>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2" name="Text 40"/>
          <p:cNvSpPr/>
          <p:nvPr/>
        </p:nvSpPr>
        <p:spPr>
          <a:xfrm>
            <a:off x="7973568"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SSH v2</a:t>
            </a:r>
            <a:endParaRPr lang="en-US" sz="1070" dirty="0"/>
          </a:p>
        </p:txBody>
      </p:sp>
      <p:sp>
        <p:nvSpPr>
          <p:cNvPr id="43" name="Text 41"/>
          <p:cNvSpPr/>
          <p:nvPr/>
        </p:nvSpPr>
        <p:spPr>
          <a:xfrm>
            <a:off x="7973568"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Kryptert administrasjon fra MGMT-nett</a:t>
            </a:r>
            <a:endParaRPr lang="en-US" sz="835" dirty="0"/>
          </a:p>
        </p:txBody>
      </p:sp>
      <p:sp>
        <p:nvSpPr>
          <p:cNvPr id="44" name="Shape 42"/>
          <p:cNvSpPr/>
          <p:nvPr/>
        </p:nvSpPr>
        <p:spPr>
          <a:xfrm>
            <a:off x="7845552" y="3813048"/>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5" name="Text 43"/>
          <p:cNvSpPr/>
          <p:nvPr/>
        </p:nvSpPr>
        <p:spPr>
          <a:xfrm>
            <a:off x="7973568"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TACACS+</a:t>
            </a:r>
            <a:endParaRPr lang="en-US" sz="1070" dirty="0"/>
          </a:p>
        </p:txBody>
      </p:sp>
      <p:sp>
        <p:nvSpPr>
          <p:cNvPr id="46" name="Text 44"/>
          <p:cNvSpPr/>
          <p:nvPr/>
        </p:nvSpPr>
        <p:spPr>
          <a:xfrm>
            <a:off x="7973568"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Sentral autentisering og autorisasjon</a:t>
            </a:r>
            <a:endParaRPr lang="en-US" sz="835" dirty="0"/>
          </a:p>
        </p:txBody>
      </p:sp>
      <p:sp>
        <p:nvSpPr>
          <p:cNvPr id="47" name="Shape 45"/>
          <p:cNvSpPr/>
          <p:nvPr/>
        </p:nvSpPr>
        <p:spPr>
          <a:xfrm>
            <a:off x="7845552" y="4517136"/>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8" name="Text 46"/>
          <p:cNvSpPr/>
          <p:nvPr/>
        </p:nvSpPr>
        <p:spPr>
          <a:xfrm>
            <a:off x="7973568"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IPsec</a:t>
            </a:r>
            <a:endParaRPr lang="en-US" sz="1070" dirty="0"/>
          </a:p>
        </p:txBody>
      </p:sp>
      <p:sp>
        <p:nvSpPr>
          <p:cNvPr id="49" name="Text 47"/>
          <p:cNvSpPr/>
          <p:nvPr/>
        </p:nvSpPr>
        <p:spPr>
          <a:xfrm>
            <a:off x="7973568"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Kryptering/integritet på operative overlay</a:t>
            </a:r>
            <a:endParaRPr lang="en-US" sz="835" dirty="0"/>
          </a:p>
        </p:txBody>
      </p:sp>
      <p:sp>
        <p:nvSpPr>
          <p:cNvPr id="50"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6. Sentral overvåkning, logging og tid</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BNHQ samler synlighet og administrasjon – uten å blande sammen syslog og speilet trafikk.</a:t>
            </a:r>
            <a:endParaRPr lang="en-US" sz="1250" dirty="0"/>
          </a:p>
        </p:txBody>
      </p:sp>
      <p:sp>
        <p:nvSpPr>
          <p:cNvPr id="4" name="Shape 2"/>
          <p:cNvSpPr/>
          <p:nvPr/>
        </p:nvSpPr>
        <p:spPr>
          <a:xfrm>
            <a:off x="566928" y="1261872"/>
            <a:ext cx="5715000" cy="4553712"/>
          </a:xfrm>
          <a:prstGeom prst="roundRect">
            <a:avLst>
              <a:gd name="adj" fmla="val 120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bnhq_crop.png"/>
          <p:cNvPicPr>
            <a:picLocks noChangeAspect="1"/>
          </p:cNvPicPr>
          <p:nvPr/>
        </p:nvPicPr>
        <p:blipFill>
          <a:blip r:embed="rId3"/>
          <a:stretch>
            <a:fillRect/>
          </a:stretch>
        </p:blipFill>
        <p:spPr>
          <a:xfrm>
            <a:off x="749808" y="1802276"/>
            <a:ext cx="5349240" cy="3445471"/>
          </a:xfrm>
          <a:prstGeom prst="rect">
            <a:avLst/>
          </a:prstGeom>
        </p:spPr>
      </p:pic>
      <p:sp>
        <p:nvSpPr>
          <p:cNvPr id="6" name="Text 3"/>
          <p:cNvSpPr/>
          <p:nvPr/>
        </p:nvSpPr>
        <p:spPr>
          <a:xfrm>
            <a:off x="6656832" y="1307592"/>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TO DATASTRØMMER</a:t>
            </a:r>
            <a:endParaRPr lang="en-US" sz="950" dirty="0"/>
          </a:p>
        </p:txBody>
      </p:sp>
      <p:sp>
        <p:nvSpPr>
          <p:cNvPr id="7" name="Shape 4"/>
          <p:cNvSpPr/>
          <p:nvPr/>
        </p:nvSpPr>
        <p:spPr>
          <a:xfrm>
            <a:off x="6629400" y="1645920"/>
            <a:ext cx="4800600" cy="1143000"/>
          </a:xfrm>
          <a:prstGeom prst="roundRect">
            <a:avLst>
              <a:gd name="adj" fmla="val 4800"/>
            </a:avLst>
          </a:prstGeom>
          <a:solidFill>
            <a:srgbClr val="EAF2FF"/>
          </a:solidFill>
          <a:ln w="12700">
            <a:solidFill>
              <a:srgbClr val="B7D2F5"/>
            </a:solidFill>
            <a:prstDash val="solid"/>
          </a:ln>
        </p:spPr>
        <p:txBody>
          <a:bodyPr/>
          <a:lstStyle/>
          <a:p>
            <a:endParaRPr lang="nb-NO"/>
          </a:p>
        </p:txBody>
      </p:sp>
      <p:sp>
        <p:nvSpPr>
          <p:cNvPr id="8" name="Text 5"/>
          <p:cNvSpPr/>
          <p:nvPr/>
        </p:nvSpPr>
        <p:spPr>
          <a:xfrm>
            <a:off x="6858000" y="1865376"/>
            <a:ext cx="1371600" cy="201168"/>
          </a:xfrm>
          <a:prstGeom prst="rect">
            <a:avLst/>
          </a:prstGeom>
          <a:noFill/>
          <a:ln/>
        </p:spPr>
        <p:txBody>
          <a:bodyPr wrap="square" lIns="0" tIns="0" rIns="0" bIns="0" rtlCol="0" anchor="ctr"/>
          <a:lstStyle/>
          <a:p>
            <a:pPr marL="0" indent="0">
              <a:buNone/>
            </a:pPr>
            <a:r>
              <a:rPr lang="en-US" sz="1550" b="1" dirty="0">
                <a:solidFill>
                  <a:srgbClr val="1E40AF"/>
                </a:solidFill>
              </a:rPr>
              <a:t>SYSLOG + NTP</a:t>
            </a:r>
            <a:endParaRPr lang="en-US" sz="1550" dirty="0"/>
          </a:p>
        </p:txBody>
      </p:sp>
      <p:sp>
        <p:nvSpPr>
          <p:cNvPr id="9" name="Text 6"/>
          <p:cNvSpPr/>
          <p:nvPr/>
        </p:nvSpPr>
        <p:spPr>
          <a:xfrm>
            <a:off x="8275320" y="1801368"/>
            <a:ext cx="2907792" cy="566928"/>
          </a:xfrm>
          <a:prstGeom prst="rect">
            <a:avLst/>
          </a:prstGeom>
          <a:noFill/>
          <a:ln/>
        </p:spPr>
        <p:txBody>
          <a:bodyPr wrap="square" lIns="0" tIns="0" rIns="0" bIns="0" rtlCol="0" anchor="ctr">
            <a:normAutofit/>
          </a:bodyPr>
          <a:lstStyle/>
          <a:p>
            <a:pPr marL="0" indent="0">
              <a:buNone/>
            </a:pPr>
            <a:r>
              <a:rPr lang="en-US" sz="1110" dirty="0">
                <a:solidFill>
                  <a:srgbClr val="1E293B"/>
                </a:solidFill>
              </a:rPr>
              <a:t>Enhetene sender hendelser til sentral loggtjeneste. Felles NTP gjør at hendelser kan korreleres i riktig tidsrekkefølge.</a:t>
            </a:r>
            <a:endParaRPr lang="en-US" sz="1110" dirty="0"/>
          </a:p>
        </p:txBody>
      </p:sp>
      <p:sp>
        <p:nvSpPr>
          <p:cNvPr id="10" name="Shape 7"/>
          <p:cNvSpPr/>
          <p:nvPr/>
        </p:nvSpPr>
        <p:spPr>
          <a:xfrm>
            <a:off x="6629400" y="2999232"/>
            <a:ext cx="4800600" cy="1143000"/>
          </a:xfrm>
          <a:prstGeom prst="roundRect">
            <a:avLst>
              <a:gd name="adj" fmla="val 4800"/>
            </a:avLst>
          </a:prstGeom>
          <a:solidFill>
            <a:srgbClr val="EAF7EE"/>
          </a:solidFill>
          <a:ln w="12700">
            <a:solidFill>
              <a:srgbClr val="BFE3CB"/>
            </a:solidFill>
            <a:prstDash val="solid"/>
          </a:ln>
        </p:spPr>
        <p:txBody>
          <a:bodyPr/>
          <a:lstStyle/>
          <a:p>
            <a:endParaRPr lang="nb-NO"/>
          </a:p>
        </p:txBody>
      </p:sp>
      <p:sp>
        <p:nvSpPr>
          <p:cNvPr id="11" name="Text 8"/>
          <p:cNvSpPr/>
          <p:nvPr/>
        </p:nvSpPr>
        <p:spPr>
          <a:xfrm>
            <a:off x="6858000" y="3227832"/>
            <a:ext cx="1234440" cy="201168"/>
          </a:xfrm>
          <a:prstGeom prst="rect">
            <a:avLst/>
          </a:prstGeom>
          <a:noFill/>
          <a:ln/>
        </p:spPr>
        <p:txBody>
          <a:bodyPr wrap="square" lIns="0" tIns="0" rIns="0" bIns="0" rtlCol="0" anchor="ctr"/>
          <a:lstStyle/>
          <a:p>
            <a:pPr marL="0" indent="0">
              <a:buNone/>
            </a:pPr>
            <a:r>
              <a:rPr lang="en-US" sz="1550" b="1" dirty="0">
                <a:solidFill>
                  <a:srgbClr val="166534"/>
                </a:solidFill>
              </a:rPr>
              <a:t>ERSPAN</a:t>
            </a:r>
            <a:endParaRPr lang="en-US" sz="1550" dirty="0"/>
          </a:p>
        </p:txBody>
      </p:sp>
      <p:sp>
        <p:nvSpPr>
          <p:cNvPr id="12" name="Text 9"/>
          <p:cNvSpPr/>
          <p:nvPr/>
        </p:nvSpPr>
        <p:spPr>
          <a:xfrm>
            <a:off x="8275320" y="3145536"/>
            <a:ext cx="2907792" cy="530352"/>
          </a:xfrm>
          <a:prstGeom prst="rect">
            <a:avLst/>
          </a:prstGeom>
          <a:noFill/>
          <a:ln/>
        </p:spPr>
        <p:txBody>
          <a:bodyPr wrap="square" lIns="0" tIns="0" rIns="0" bIns="0" rtlCol="0" anchor="ctr">
            <a:normAutofit/>
          </a:bodyPr>
          <a:lstStyle/>
          <a:p>
            <a:pPr marL="0" indent="0">
              <a:buNone/>
            </a:pPr>
            <a:r>
              <a:rPr lang="en-US" sz="1110" dirty="0">
                <a:solidFill>
                  <a:srgbClr val="1E293B"/>
                </a:solidFill>
              </a:rPr>
              <a:t>Utvalgt dataplantrafikk speiles over MONITORING-overlayet til Security Onion for IDS- og nettverksanalyse.</a:t>
            </a:r>
            <a:endParaRPr lang="en-US" sz="1110" dirty="0"/>
          </a:p>
        </p:txBody>
      </p:sp>
      <p:sp>
        <p:nvSpPr>
          <p:cNvPr id="13" name="Shape 10"/>
          <p:cNvSpPr/>
          <p:nvPr/>
        </p:nvSpPr>
        <p:spPr>
          <a:xfrm>
            <a:off x="6629400" y="4352544"/>
            <a:ext cx="4800600" cy="1051560"/>
          </a:xfrm>
          <a:prstGeom prst="roundRect">
            <a:avLst>
              <a:gd name="adj" fmla="val 5217"/>
            </a:avLst>
          </a:prstGeom>
          <a:solidFill>
            <a:srgbClr val="F1EBFF"/>
          </a:solidFill>
          <a:ln w="12700">
            <a:solidFill>
              <a:srgbClr val="D8C7FF"/>
            </a:solidFill>
            <a:prstDash val="solid"/>
          </a:ln>
        </p:spPr>
        <p:txBody>
          <a:bodyPr/>
          <a:lstStyle/>
          <a:p>
            <a:endParaRPr lang="nb-NO"/>
          </a:p>
        </p:txBody>
      </p:sp>
      <p:sp>
        <p:nvSpPr>
          <p:cNvPr id="14" name="Text 11"/>
          <p:cNvSpPr/>
          <p:nvPr/>
        </p:nvSpPr>
        <p:spPr>
          <a:xfrm>
            <a:off x="6858000" y="4590288"/>
            <a:ext cx="1417320" cy="201168"/>
          </a:xfrm>
          <a:prstGeom prst="rect">
            <a:avLst/>
          </a:prstGeom>
          <a:noFill/>
          <a:ln/>
        </p:spPr>
        <p:txBody>
          <a:bodyPr wrap="square" lIns="0" tIns="0" rIns="0" bIns="0" rtlCol="0" anchor="ctr"/>
          <a:lstStyle/>
          <a:p>
            <a:pPr marL="0" indent="0">
              <a:buNone/>
            </a:pPr>
            <a:r>
              <a:rPr lang="en-US" sz="1550" b="1" dirty="0">
                <a:solidFill>
                  <a:srgbClr val="5B21B6"/>
                </a:solidFill>
              </a:rPr>
              <a:t>AAA / TACACS+</a:t>
            </a:r>
            <a:endParaRPr lang="en-US" sz="1550" dirty="0"/>
          </a:p>
        </p:txBody>
      </p:sp>
      <p:sp>
        <p:nvSpPr>
          <p:cNvPr id="15" name="Text 12"/>
          <p:cNvSpPr/>
          <p:nvPr/>
        </p:nvSpPr>
        <p:spPr>
          <a:xfrm>
            <a:off x="8275320" y="4507992"/>
            <a:ext cx="2907792" cy="530352"/>
          </a:xfrm>
          <a:prstGeom prst="rect">
            <a:avLst/>
          </a:prstGeom>
          <a:noFill/>
          <a:ln/>
        </p:spPr>
        <p:txBody>
          <a:bodyPr wrap="square" lIns="0" tIns="0" rIns="0" bIns="0" rtlCol="0" anchor="ctr">
            <a:normAutofit/>
          </a:bodyPr>
          <a:lstStyle/>
          <a:p>
            <a:pPr marL="0" indent="0">
              <a:buNone/>
            </a:pPr>
            <a:r>
              <a:rPr lang="en-US" sz="1110" dirty="0">
                <a:solidFill>
                  <a:srgbClr val="1E293B"/>
                </a:solidFill>
              </a:rPr>
              <a:t>Sentral kontroll på hvem som kan administrere utstyret, med lokal fallback dersom tjenesten er utilgjengelig.</a:t>
            </a:r>
            <a:endParaRPr lang="en-US" sz="1110" dirty="0"/>
          </a:p>
        </p:txBody>
      </p:sp>
      <p:sp>
        <p:nvSpPr>
          <p:cNvPr id="16" name="Shape 13"/>
          <p:cNvSpPr/>
          <p:nvPr/>
        </p:nvSpPr>
        <p:spPr>
          <a:xfrm>
            <a:off x="804672" y="5925312"/>
            <a:ext cx="10378440" cy="384048"/>
          </a:xfrm>
          <a:prstGeom prst="roundRect">
            <a:avLst>
              <a:gd name="adj" fmla="val 9524"/>
            </a:avLst>
          </a:prstGeom>
          <a:solidFill>
            <a:srgbClr val="EEF2F7"/>
          </a:solidFill>
          <a:ln w="12700">
            <a:solidFill>
              <a:srgbClr val="D8E0EA"/>
            </a:solidFill>
            <a:prstDash val="solid"/>
          </a:ln>
        </p:spPr>
        <p:txBody>
          <a:bodyPr/>
          <a:lstStyle/>
          <a:p>
            <a:endParaRPr lang="nb-NO"/>
          </a:p>
        </p:txBody>
      </p:sp>
      <p:sp>
        <p:nvSpPr>
          <p:cNvPr id="17" name="Text 14"/>
          <p:cNvSpPr/>
          <p:nvPr/>
        </p:nvSpPr>
        <p:spPr>
          <a:xfrm>
            <a:off x="1005840" y="6025896"/>
            <a:ext cx="9966960" cy="155448"/>
          </a:xfrm>
          <a:prstGeom prst="rect">
            <a:avLst/>
          </a:prstGeom>
          <a:noFill/>
          <a:ln/>
        </p:spPr>
        <p:txBody>
          <a:bodyPr wrap="square" lIns="0" tIns="0" rIns="0" bIns="0" rtlCol="0" anchor="ctr">
            <a:normAutofit/>
          </a:bodyPr>
          <a:lstStyle/>
          <a:p>
            <a:pPr marL="0" indent="0" algn="ctr">
              <a:buNone/>
            </a:pPr>
            <a:r>
              <a:rPr lang="en-US" sz="1140" b="1" dirty="0">
                <a:solidFill>
                  <a:srgbClr val="0F172A"/>
                </a:solidFill>
              </a:rPr>
              <a:t>Poenget: vi får både hendelseslogger og selve nettverkstrafikken – to komplementære kilder ved feilsøking og hendelseshåndtering.</a:t>
            </a:r>
            <a:endParaRPr lang="en-US" sz="114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7. Drift og skalerbarhet</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Standardisert fysisk oppbygning og konfigurasjonsgenerator reduserer manuelt arbeid og konfigurasjonsavvik.</a:t>
            </a:r>
            <a:endParaRPr lang="en-US" sz="1250" dirty="0"/>
          </a:p>
        </p:txBody>
      </p:sp>
      <p:sp>
        <p:nvSpPr>
          <p:cNvPr id="4" name="Shape 2"/>
          <p:cNvSpPr/>
          <p:nvPr/>
        </p:nvSpPr>
        <p:spPr>
          <a:xfrm>
            <a:off x="548640" y="1261872"/>
            <a:ext cx="6080760" cy="4434840"/>
          </a:xfrm>
          <a:prstGeom prst="roundRect">
            <a:avLst>
              <a:gd name="adj" fmla="val 1237"/>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bygg_nettverk(2).png"/>
          <p:cNvPicPr>
            <a:picLocks noChangeAspect="1"/>
          </p:cNvPicPr>
          <p:nvPr/>
        </p:nvPicPr>
        <p:blipFill>
          <a:blip r:embed="rId3"/>
          <a:stretch>
            <a:fillRect/>
          </a:stretch>
        </p:blipFill>
        <p:spPr>
          <a:xfrm>
            <a:off x="777240" y="1744394"/>
            <a:ext cx="5623560" cy="3460652"/>
          </a:xfrm>
          <a:prstGeom prst="rect">
            <a:avLst/>
          </a:prstGeom>
        </p:spPr>
      </p:pic>
      <p:sp>
        <p:nvSpPr>
          <p:cNvPr id="6" name="Text 3"/>
          <p:cNvSpPr/>
          <p:nvPr/>
        </p:nvSpPr>
        <p:spPr>
          <a:xfrm>
            <a:off x="6986016" y="1298448"/>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FRA MAL TIL FERDIG KONFIG</a:t>
            </a:r>
            <a:endParaRPr lang="en-US" sz="950" dirty="0"/>
          </a:p>
        </p:txBody>
      </p:sp>
      <p:sp>
        <p:nvSpPr>
          <p:cNvPr id="7" name="Shape 4"/>
          <p:cNvSpPr/>
          <p:nvPr/>
        </p:nvSpPr>
        <p:spPr>
          <a:xfrm>
            <a:off x="6967728" y="1828800"/>
            <a:ext cx="1261872" cy="1298448"/>
          </a:xfrm>
          <a:prstGeom prst="roundRect">
            <a:avLst>
              <a:gd name="adj" fmla="val 4348"/>
            </a:avLst>
          </a:prstGeom>
          <a:solidFill>
            <a:srgbClr val="EAF2FF"/>
          </a:solidFill>
          <a:ln w="13970">
            <a:solidFill>
              <a:srgbClr val="2563EB"/>
            </a:solidFill>
            <a:prstDash val="solid"/>
          </a:ln>
        </p:spPr>
        <p:txBody>
          <a:bodyPr/>
          <a:lstStyle/>
          <a:p>
            <a:endParaRPr lang="nb-NO"/>
          </a:p>
        </p:txBody>
      </p:sp>
      <p:sp>
        <p:nvSpPr>
          <p:cNvPr id="8" name="Text 5"/>
          <p:cNvSpPr/>
          <p:nvPr/>
        </p:nvSpPr>
        <p:spPr>
          <a:xfrm>
            <a:off x="7059168" y="1993392"/>
            <a:ext cx="1078992"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Excel-mal</a:t>
            </a:r>
            <a:endParaRPr lang="en-US" sz="1320" dirty="0"/>
          </a:p>
        </p:txBody>
      </p:sp>
      <p:sp>
        <p:nvSpPr>
          <p:cNvPr id="9" name="Text 6"/>
          <p:cNvSpPr/>
          <p:nvPr/>
        </p:nvSpPr>
        <p:spPr>
          <a:xfrm>
            <a:off x="7059168" y="2331720"/>
            <a:ext cx="1078992"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Sites</a:t>
            </a:r>
            <a:endParaRPr lang="en-US" sz="1020" dirty="0"/>
          </a:p>
          <a:p>
            <a:pPr marL="0" indent="0" algn="ctr">
              <a:buNone/>
            </a:pPr>
            <a:r>
              <a:rPr lang="en-US" sz="1020" dirty="0">
                <a:solidFill>
                  <a:srgbClr val="1E293B"/>
                </a:solidFill>
              </a:rPr>
              <a:t>VLAN/VRF</a:t>
            </a:r>
            <a:endParaRPr lang="en-US" sz="1020" dirty="0"/>
          </a:p>
          <a:p>
            <a:pPr marL="0" indent="0" algn="ctr">
              <a:buNone/>
            </a:pPr>
            <a:r>
              <a:rPr lang="en-US" sz="1020" dirty="0">
                <a:solidFill>
                  <a:srgbClr val="1E293B"/>
                </a:solidFill>
              </a:rPr>
              <a:t>policy</a:t>
            </a:r>
            <a:endParaRPr lang="en-US" sz="1020" dirty="0"/>
          </a:p>
        </p:txBody>
      </p:sp>
      <p:sp>
        <p:nvSpPr>
          <p:cNvPr id="10" name="Shape 7"/>
          <p:cNvSpPr/>
          <p:nvPr/>
        </p:nvSpPr>
        <p:spPr>
          <a:xfrm>
            <a:off x="8659368" y="1828800"/>
            <a:ext cx="1353312" cy="1298448"/>
          </a:xfrm>
          <a:prstGeom prst="roundRect">
            <a:avLst>
              <a:gd name="adj" fmla="val 4225"/>
            </a:avLst>
          </a:prstGeom>
          <a:solidFill>
            <a:srgbClr val="F1EBFF"/>
          </a:solidFill>
          <a:ln w="13970">
            <a:solidFill>
              <a:srgbClr val="7C3AED"/>
            </a:solidFill>
            <a:prstDash val="solid"/>
          </a:ln>
        </p:spPr>
        <p:txBody>
          <a:bodyPr/>
          <a:lstStyle/>
          <a:p>
            <a:endParaRPr lang="nb-NO"/>
          </a:p>
        </p:txBody>
      </p:sp>
      <p:sp>
        <p:nvSpPr>
          <p:cNvPr id="11" name="Text 8"/>
          <p:cNvSpPr/>
          <p:nvPr/>
        </p:nvSpPr>
        <p:spPr>
          <a:xfrm>
            <a:off x="8750808" y="1993392"/>
            <a:ext cx="1170432"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Generator</a:t>
            </a:r>
            <a:endParaRPr lang="en-US" sz="1320" dirty="0"/>
          </a:p>
        </p:txBody>
      </p:sp>
      <p:sp>
        <p:nvSpPr>
          <p:cNvPr id="12" name="Text 9"/>
          <p:cNvSpPr/>
          <p:nvPr/>
        </p:nvSpPr>
        <p:spPr>
          <a:xfrm>
            <a:off x="8750808" y="2331720"/>
            <a:ext cx="1170432"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Validerer</a:t>
            </a:r>
            <a:endParaRPr lang="en-US" sz="1020" dirty="0"/>
          </a:p>
          <a:p>
            <a:pPr marL="0" indent="0" algn="ctr">
              <a:buNone/>
            </a:pPr>
            <a:r>
              <a:rPr lang="en-US" sz="1020" dirty="0">
                <a:solidFill>
                  <a:srgbClr val="1E293B"/>
                </a:solidFill>
              </a:rPr>
              <a:t>og bygger</a:t>
            </a:r>
            <a:endParaRPr lang="en-US" sz="1020" dirty="0"/>
          </a:p>
          <a:p>
            <a:pPr marL="0" indent="0" algn="ctr">
              <a:buNone/>
            </a:pPr>
            <a:r>
              <a:rPr lang="en-US" sz="1020" dirty="0">
                <a:solidFill>
                  <a:srgbClr val="1E293B"/>
                </a:solidFill>
              </a:rPr>
              <a:t>config</a:t>
            </a:r>
            <a:endParaRPr lang="en-US" sz="1020" dirty="0"/>
          </a:p>
        </p:txBody>
      </p:sp>
      <p:sp>
        <p:nvSpPr>
          <p:cNvPr id="13" name="Shape 10"/>
          <p:cNvSpPr/>
          <p:nvPr/>
        </p:nvSpPr>
        <p:spPr>
          <a:xfrm>
            <a:off x="10442448" y="1828800"/>
            <a:ext cx="1115568" cy="1298448"/>
          </a:xfrm>
          <a:prstGeom prst="roundRect">
            <a:avLst>
              <a:gd name="adj" fmla="val 4918"/>
            </a:avLst>
          </a:prstGeom>
          <a:solidFill>
            <a:srgbClr val="EAF7EE"/>
          </a:solidFill>
          <a:ln w="13970">
            <a:solidFill>
              <a:srgbClr val="28A745"/>
            </a:solidFill>
            <a:prstDash val="solid"/>
          </a:ln>
        </p:spPr>
        <p:txBody>
          <a:bodyPr/>
          <a:lstStyle/>
          <a:p>
            <a:endParaRPr lang="nb-NO"/>
          </a:p>
        </p:txBody>
      </p:sp>
      <p:sp>
        <p:nvSpPr>
          <p:cNvPr id="14" name="Text 11"/>
          <p:cNvSpPr/>
          <p:nvPr/>
        </p:nvSpPr>
        <p:spPr>
          <a:xfrm>
            <a:off x="10533888" y="1993392"/>
            <a:ext cx="932688"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Output</a:t>
            </a:r>
            <a:endParaRPr lang="en-US" sz="1320" dirty="0"/>
          </a:p>
        </p:txBody>
      </p:sp>
      <p:sp>
        <p:nvSpPr>
          <p:cNvPr id="15" name="Text 12"/>
          <p:cNvSpPr/>
          <p:nvPr/>
        </p:nvSpPr>
        <p:spPr>
          <a:xfrm>
            <a:off x="10533888" y="2331720"/>
            <a:ext cx="932688"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Router</a:t>
            </a:r>
            <a:endParaRPr lang="en-US" sz="1020" dirty="0"/>
          </a:p>
          <a:p>
            <a:pPr marL="0" indent="0" algn="ctr">
              <a:buNone/>
            </a:pPr>
            <a:r>
              <a:rPr lang="en-US" sz="1020" dirty="0">
                <a:solidFill>
                  <a:srgbClr val="1E293B"/>
                </a:solidFill>
              </a:rPr>
              <a:t>Switch</a:t>
            </a:r>
            <a:endParaRPr lang="en-US" sz="1020" dirty="0"/>
          </a:p>
          <a:p>
            <a:pPr marL="0" indent="0" algn="ctr">
              <a:buNone/>
            </a:pPr>
            <a:r>
              <a:rPr lang="en-US" sz="1020" dirty="0">
                <a:solidFill>
                  <a:srgbClr val="1E293B"/>
                </a:solidFill>
              </a:rPr>
              <a:t>baseline</a:t>
            </a:r>
            <a:endParaRPr lang="en-US" sz="1020" dirty="0"/>
          </a:p>
        </p:txBody>
      </p:sp>
      <p:sp>
        <p:nvSpPr>
          <p:cNvPr id="16" name="Shape 13"/>
          <p:cNvSpPr/>
          <p:nvPr/>
        </p:nvSpPr>
        <p:spPr>
          <a:xfrm>
            <a:off x="8275320" y="2478024"/>
            <a:ext cx="310896" cy="0"/>
          </a:xfrm>
          <a:prstGeom prst="line">
            <a:avLst/>
          </a:prstGeom>
          <a:noFill/>
          <a:ln w="22860">
            <a:solidFill>
              <a:srgbClr val="94A3B8"/>
            </a:solidFill>
            <a:prstDash val="solid"/>
            <a:tailEnd type="triangle"/>
          </a:ln>
        </p:spPr>
        <p:txBody>
          <a:bodyPr/>
          <a:lstStyle/>
          <a:p>
            <a:endParaRPr lang="nb-NO"/>
          </a:p>
        </p:txBody>
      </p:sp>
      <p:sp>
        <p:nvSpPr>
          <p:cNvPr id="17" name="Shape 14"/>
          <p:cNvSpPr/>
          <p:nvPr/>
        </p:nvSpPr>
        <p:spPr>
          <a:xfrm>
            <a:off x="10058400" y="2478024"/>
            <a:ext cx="310896" cy="0"/>
          </a:xfrm>
          <a:prstGeom prst="line">
            <a:avLst/>
          </a:prstGeom>
          <a:noFill/>
          <a:ln w="22860">
            <a:solidFill>
              <a:srgbClr val="94A3B8"/>
            </a:solidFill>
            <a:prstDash val="solid"/>
            <a:tailEnd type="triangle"/>
          </a:ln>
        </p:spPr>
        <p:txBody>
          <a:bodyPr/>
          <a:lstStyle/>
          <a:p>
            <a:endParaRPr lang="nb-NO"/>
          </a:p>
        </p:txBody>
      </p:sp>
      <p:sp>
        <p:nvSpPr>
          <p:cNvPr id="18" name="Shape 15"/>
          <p:cNvSpPr/>
          <p:nvPr/>
        </p:nvSpPr>
        <p:spPr>
          <a:xfrm>
            <a:off x="6976872" y="3429000"/>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19" name="Shape 16"/>
          <p:cNvSpPr/>
          <p:nvPr/>
        </p:nvSpPr>
        <p:spPr>
          <a:xfrm>
            <a:off x="6976872" y="3429000"/>
            <a:ext cx="64008" cy="786384"/>
          </a:xfrm>
          <a:prstGeom prst="rect">
            <a:avLst/>
          </a:prstGeom>
          <a:solidFill>
            <a:srgbClr val="28A745"/>
          </a:solidFill>
          <a:ln w="12700">
            <a:solidFill>
              <a:srgbClr val="28A745"/>
            </a:solidFill>
            <a:prstDash val="solid"/>
          </a:ln>
        </p:spPr>
        <p:txBody>
          <a:bodyPr/>
          <a:lstStyle/>
          <a:p>
            <a:endParaRPr lang="nb-NO"/>
          </a:p>
        </p:txBody>
      </p:sp>
      <p:sp>
        <p:nvSpPr>
          <p:cNvPr id="20" name="Text 17"/>
          <p:cNvSpPr/>
          <p:nvPr/>
        </p:nvSpPr>
        <p:spPr>
          <a:xfrm>
            <a:off x="7159752" y="3566160"/>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Ny site</a:t>
            </a:r>
            <a:endParaRPr lang="en-US" sz="1650" dirty="0"/>
          </a:p>
        </p:txBody>
      </p:sp>
      <p:sp>
        <p:nvSpPr>
          <p:cNvPr id="21" name="Text 18"/>
          <p:cNvSpPr/>
          <p:nvPr/>
        </p:nvSpPr>
        <p:spPr>
          <a:xfrm>
            <a:off x="7159752" y="3867912"/>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Samme VLAN/VRF-struktur og DMVPN-baseline gjenbrukes. Færre manuelle endringer på hub.</a:t>
            </a:r>
            <a:endParaRPr lang="en-US" sz="1120" dirty="0"/>
          </a:p>
        </p:txBody>
      </p:sp>
      <p:sp>
        <p:nvSpPr>
          <p:cNvPr id="22" name="Shape 19"/>
          <p:cNvSpPr/>
          <p:nvPr/>
        </p:nvSpPr>
        <p:spPr>
          <a:xfrm>
            <a:off x="6976872" y="4370832"/>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23" name="Shape 20"/>
          <p:cNvSpPr/>
          <p:nvPr/>
        </p:nvSpPr>
        <p:spPr>
          <a:xfrm>
            <a:off x="6976872" y="4370832"/>
            <a:ext cx="64008" cy="786384"/>
          </a:xfrm>
          <a:prstGeom prst="rect">
            <a:avLst/>
          </a:prstGeom>
          <a:solidFill>
            <a:srgbClr val="2563EB"/>
          </a:solidFill>
          <a:ln w="12700">
            <a:solidFill>
              <a:srgbClr val="2563EB"/>
            </a:solidFill>
            <a:prstDash val="solid"/>
          </a:ln>
        </p:spPr>
        <p:txBody>
          <a:bodyPr/>
          <a:lstStyle/>
          <a:p>
            <a:endParaRPr lang="nb-NO"/>
          </a:p>
        </p:txBody>
      </p:sp>
      <p:sp>
        <p:nvSpPr>
          <p:cNvPr id="24" name="Text 21"/>
          <p:cNvSpPr/>
          <p:nvPr/>
        </p:nvSpPr>
        <p:spPr>
          <a:xfrm>
            <a:off x="7159752" y="4507992"/>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Tilgjengelighet</a:t>
            </a:r>
            <a:endParaRPr lang="en-US" sz="1650" dirty="0"/>
          </a:p>
        </p:txBody>
      </p:sp>
      <p:sp>
        <p:nvSpPr>
          <p:cNvPr id="25" name="Text 22"/>
          <p:cNvSpPr/>
          <p:nvPr/>
        </p:nvSpPr>
        <p:spPr>
          <a:xfrm>
            <a:off x="7159752" y="4809744"/>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EtherChannel, STP-beskyttelse og QoS reduserer konsekvensene av feil og kapasitetsmangel.</a:t>
            </a:r>
            <a:endParaRPr lang="en-US" sz="1120" dirty="0"/>
          </a:p>
        </p:txBody>
      </p:sp>
      <p:sp>
        <p:nvSpPr>
          <p:cNvPr id="26" name="Shape 23"/>
          <p:cNvSpPr/>
          <p:nvPr/>
        </p:nvSpPr>
        <p:spPr>
          <a:xfrm>
            <a:off x="6976872" y="5312664"/>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27" name="Shape 24"/>
          <p:cNvSpPr/>
          <p:nvPr/>
        </p:nvSpPr>
        <p:spPr>
          <a:xfrm>
            <a:off x="6976872" y="5312664"/>
            <a:ext cx="64008" cy="786384"/>
          </a:xfrm>
          <a:prstGeom prst="rect">
            <a:avLst/>
          </a:prstGeom>
          <a:solidFill>
            <a:srgbClr val="D97706"/>
          </a:solidFill>
          <a:ln w="12700">
            <a:solidFill>
              <a:srgbClr val="D97706"/>
            </a:solidFill>
            <a:prstDash val="solid"/>
          </a:ln>
        </p:spPr>
        <p:txBody>
          <a:bodyPr/>
          <a:lstStyle/>
          <a:p>
            <a:endParaRPr lang="nb-NO"/>
          </a:p>
        </p:txBody>
      </p:sp>
      <p:sp>
        <p:nvSpPr>
          <p:cNvPr id="28" name="Text 25"/>
          <p:cNvSpPr/>
          <p:nvPr/>
        </p:nvSpPr>
        <p:spPr>
          <a:xfrm>
            <a:off x="7159752" y="5449824"/>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Kontrollert innføring</a:t>
            </a:r>
            <a:endParaRPr lang="en-US" sz="1650" dirty="0"/>
          </a:p>
        </p:txBody>
      </p:sp>
      <p:sp>
        <p:nvSpPr>
          <p:cNvPr id="29" name="Text 26"/>
          <p:cNvSpPr/>
          <p:nvPr/>
        </p:nvSpPr>
        <p:spPr>
          <a:xfrm>
            <a:off x="7159752" y="5751576"/>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Konfigurasjonen testes i lab før produksjon og dokumenteres for senere kontingenter.</a:t>
            </a:r>
            <a:endParaRPr lang="en-US" sz="1120" dirty="0"/>
          </a:p>
        </p:txBody>
      </p:sp>
      <p:sp>
        <p:nvSpPr>
          <p:cNvPr id="30"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8. Hvorfor denne løsningen?</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Designet møter kravene uten å gjøre transportnettet eller driften unødvendig komplisert.</a:t>
            </a:r>
            <a:endParaRPr lang="en-US" sz="1250" dirty="0"/>
          </a:p>
        </p:txBody>
      </p:sp>
      <p:sp>
        <p:nvSpPr>
          <p:cNvPr id="4" name="Shape 2"/>
          <p:cNvSpPr/>
          <p:nvPr/>
        </p:nvSpPr>
        <p:spPr>
          <a:xfrm>
            <a:off x="685800" y="1417320"/>
            <a:ext cx="3520440" cy="1508760"/>
          </a:xfrm>
          <a:prstGeom prst="roundRect">
            <a:avLst>
              <a:gd name="adj" fmla="val 4848"/>
            </a:avLst>
          </a:prstGeom>
          <a:solidFill>
            <a:srgbClr val="EAF7EE"/>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5" name="Shape 3"/>
          <p:cNvSpPr/>
          <p:nvPr/>
        </p:nvSpPr>
        <p:spPr>
          <a:xfrm>
            <a:off x="685800" y="1417320"/>
            <a:ext cx="64008" cy="1508760"/>
          </a:xfrm>
          <a:prstGeom prst="rect">
            <a:avLst/>
          </a:prstGeom>
          <a:solidFill>
            <a:srgbClr val="28A745"/>
          </a:solidFill>
          <a:ln w="12700">
            <a:solidFill>
              <a:srgbClr val="28A745"/>
            </a:solidFill>
            <a:prstDash val="solid"/>
          </a:ln>
        </p:spPr>
        <p:txBody>
          <a:bodyPr/>
          <a:lstStyle/>
          <a:p>
            <a:endParaRPr lang="nb-NO"/>
          </a:p>
        </p:txBody>
      </p:sp>
      <p:sp>
        <p:nvSpPr>
          <p:cNvPr id="6" name="Text 4"/>
          <p:cNvSpPr/>
          <p:nvPr/>
        </p:nvSpPr>
        <p:spPr>
          <a:xfrm>
            <a:off x="8686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Sikkerhet</a:t>
            </a:r>
            <a:endParaRPr lang="en-US" sz="1800" dirty="0"/>
          </a:p>
        </p:txBody>
      </p:sp>
      <p:sp>
        <p:nvSpPr>
          <p:cNvPr id="7" name="Text 5"/>
          <p:cNvSpPr/>
          <p:nvPr/>
        </p:nvSpPr>
        <p:spPr>
          <a:xfrm>
            <a:off x="8686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VRF/VLAN, least-privilege ACL, Layer 2-beskyttelse, SSH/TACACS+ og IPsec.</a:t>
            </a:r>
            <a:endParaRPr lang="en-US" sz="1230" dirty="0"/>
          </a:p>
        </p:txBody>
      </p:sp>
      <p:sp>
        <p:nvSpPr>
          <p:cNvPr id="8" name="Shape 6"/>
          <p:cNvSpPr/>
          <p:nvPr/>
        </p:nvSpPr>
        <p:spPr>
          <a:xfrm>
            <a:off x="4343400" y="1417320"/>
            <a:ext cx="3520440" cy="1508760"/>
          </a:xfrm>
          <a:prstGeom prst="roundRect">
            <a:avLst>
              <a:gd name="adj" fmla="val 4848"/>
            </a:avLst>
          </a:prstGeom>
          <a:solidFill>
            <a:srgbClr val="EAF2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9" name="Shape 7"/>
          <p:cNvSpPr/>
          <p:nvPr/>
        </p:nvSpPr>
        <p:spPr>
          <a:xfrm>
            <a:off x="4343400" y="1417320"/>
            <a:ext cx="64008" cy="1508760"/>
          </a:xfrm>
          <a:prstGeom prst="rect">
            <a:avLst/>
          </a:prstGeom>
          <a:solidFill>
            <a:srgbClr val="2563EB"/>
          </a:solidFill>
          <a:ln w="12700">
            <a:solidFill>
              <a:srgbClr val="2563EB"/>
            </a:solidFill>
            <a:prstDash val="solid"/>
          </a:ln>
        </p:spPr>
        <p:txBody>
          <a:bodyPr/>
          <a:lstStyle/>
          <a:p>
            <a:endParaRPr lang="nb-NO"/>
          </a:p>
        </p:txBody>
      </p:sp>
      <p:sp>
        <p:nvSpPr>
          <p:cNvPr id="10" name="Text 8"/>
          <p:cNvSpPr/>
          <p:nvPr/>
        </p:nvSpPr>
        <p:spPr>
          <a:xfrm>
            <a:off x="45262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Skalerbarhet</a:t>
            </a:r>
            <a:endParaRPr lang="en-US" sz="1800" dirty="0"/>
          </a:p>
        </p:txBody>
      </p:sp>
      <p:sp>
        <p:nvSpPr>
          <p:cNvPr id="11" name="Text 9"/>
          <p:cNvSpPr/>
          <p:nvPr/>
        </p:nvSpPr>
        <p:spPr>
          <a:xfrm>
            <a:off x="45262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DMVPN Phase 3, EIGRP og standardiserte sites gjør vekst enklere.</a:t>
            </a:r>
            <a:endParaRPr lang="en-US" sz="1230" dirty="0"/>
          </a:p>
        </p:txBody>
      </p:sp>
      <p:sp>
        <p:nvSpPr>
          <p:cNvPr id="12" name="Shape 10"/>
          <p:cNvSpPr/>
          <p:nvPr/>
        </p:nvSpPr>
        <p:spPr>
          <a:xfrm>
            <a:off x="8001000" y="1417320"/>
            <a:ext cx="3520440" cy="1508760"/>
          </a:xfrm>
          <a:prstGeom prst="roundRect">
            <a:avLst>
              <a:gd name="adj" fmla="val 4848"/>
            </a:avLst>
          </a:prstGeom>
          <a:solidFill>
            <a:srgbClr val="F1EB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3" name="Shape 11"/>
          <p:cNvSpPr/>
          <p:nvPr/>
        </p:nvSpPr>
        <p:spPr>
          <a:xfrm>
            <a:off x="8001000" y="1417320"/>
            <a:ext cx="64008" cy="1508760"/>
          </a:xfrm>
          <a:prstGeom prst="rect">
            <a:avLst/>
          </a:prstGeom>
          <a:solidFill>
            <a:srgbClr val="7C3AED"/>
          </a:solidFill>
          <a:ln w="12700">
            <a:solidFill>
              <a:srgbClr val="7C3AED"/>
            </a:solidFill>
            <a:prstDash val="solid"/>
          </a:ln>
        </p:spPr>
        <p:txBody>
          <a:bodyPr/>
          <a:lstStyle/>
          <a:p>
            <a:endParaRPr lang="nb-NO"/>
          </a:p>
        </p:txBody>
      </p:sp>
      <p:sp>
        <p:nvSpPr>
          <p:cNvPr id="14" name="Text 12"/>
          <p:cNvSpPr/>
          <p:nvPr/>
        </p:nvSpPr>
        <p:spPr>
          <a:xfrm>
            <a:off x="81838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Synlighet</a:t>
            </a:r>
            <a:endParaRPr lang="en-US" sz="1800" dirty="0"/>
          </a:p>
        </p:txBody>
      </p:sp>
      <p:sp>
        <p:nvSpPr>
          <p:cNvPr id="15" name="Text 13"/>
          <p:cNvSpPr/>
          <p:nvPr/>
        </p:nvSpPr>
        <p:spPr>
          <a:xfrm>
            <a:off x="81838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Sentral syslog, NTP, ERSPAN og Security Onion gir bedre deteksjon og feilsøking.</a:t>
            </a:r>
            <a:endParaRPr lang="en-US" sz="1230" dirty="0"/>
          </a:p>
        </p:txBody>
      </p:sp>
      <p:sp>
        <p:nvSpPr>
          <p:cNvPr id="16" name="Shape 14"/>
          <p:cNvSpPr/>
          <p:nvPr/>
        </p:nvSpPr>
        <p:spPr>
          <a:xfrm>
            <a:off x="2514600" y="3182112"/>
            <a:ext cx="3520440" cy="1508760"/>
          </a:xfrm>
          <a:prstGeom prst="roundRect">
            <a:avLst>
              <a:gd name="adj" fmla="val 4848"/>
            </a:avLst>
          </a:prstGeom>
          <a:solidFill>
            <a:srgbClr val="FFF4E5"/>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7" name="Shape 15"/>
          <p:cNvSpPr/>
          <p:nvPr/>
        </p:nvSpPr>
        <p:spPr>
          <a:xfrm>
            <a:off x="2514600" y="3182112"/>
            <a:ext cx="64008" cy="1508760"/>
          </a:xfrm>
          <a:prstGeom prst="rect">
            <a:avLst/>
          </a:prstGeom>
          <a:solidFill>
            <a:srgbClr val="D97706"/>
          </a:solidFill>
          <a:ln w="12700">
            <a:solidFill>
              <a:srgbClr val="D97706"/>
            </a:solidFill>
            <a:prstDash val="solid"/>
          </a:ln>
        </p:spPr>
        <p:txBody>
          <a:bodyPr/>
          <a:lstStyle/>
          <a:p>
            <a:endParaRPr lang="nb-NO"/>
          </a:p>
        </p:txBody>
      </p:sp>
      <p:sp>
        <p:nvSpPr>
          <p:cNvPr id="18" name="Text 16"/>
          <p:cNvSpPr/>
          <p:nvPr/>
        </p:nvSpPr>
        <p:spPr>
          <a:xfrm>
            <a:off x="2697480" y="3319272"/>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Gjenbruk</a:t>
            </a:r>
            <a:endParaRPr lang="en-US" sz="1800" dirty="0"/>
          </a:p>
        </p:txBody>
      </p:sp>
      <p:sp>
        <p:nvSpPr>
          <p:cNvPr id="19" name="Text 17"/>
          <p:cNvSpPr/>
          <p:nvPr/>
        </p:nvSpPr>
        <p:spPr>
          <a:xfrm>
            <a:off x="2697480" y="3621024"/>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Litauisk L3-VPN beholdes uendret og eksisterende Cisco-utstyr brukes så langt som mulig.</a:t>
            </a:r>
            <a:endParaRPr lang="en-US" sz="1230" dirty="0"/>
          </a:p>
        </p:txBody>
      </p:sp>
      <p:sp>
        <p:nvSpPr>
          <p:cNvPr id="20" name="Shape 18"/>
          <p:cNvSpPr/>
          <p:nvPr/>
        </p:nvSpPr>
        <p:spPr>
          <a:xfrm>
            <a:off x="6172200" y="3182112"/>
            <a:ext cx="3520440" cy="1508760"/>
          </a:xfrm>
          <a:prstGeom prst="roundRect">
            <a:avLst>
              <a:gd name="adj" fmla="val 4848"/>
            </a:avLst>
          </a:prstGeom>
          <a:solidFill>
            <a:srgbClr val="FDECEC"/>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21" name="Shape 19"/>
          <p:cNvSpPr/>
          <p:nvPr/>
        </p:nvSpPr>
        <p:spPr>
          <a:xfrm>
            <a:off x="6172200" y="3182112"/>
            <a:ext cx="64008" cy="1508760"/>
          </a:xfrm>
          <a:prstGeom prst="rect">
            <a:avLst/>
          </a:prstGeom>
          <a:solidFill>
            <a:srgbClr val="DC2626"/>
          </a:solidFill>
          <a:ln w="12700">
            <a:solidFill>
              <a:srgbClr val="DC2626"/>
            </a:solidFill>
            <a:prstDash val="solid"/>
          </a:ln>
        </p:spPr>
        <p:txBody>
          <a:bodyPr/>
          <a:lstStyle/>
          <a:p>
            <a:endParaRPr lang="nb-NO"/>
          </a:p>
        </p:txBody>
      </p:sp>
      <p:sp>
        <p:nvSpPr>
          <p:cNvPr id="22" name="Text 20"/>
          <p:cNvSpPr/>
          <p:nvPr/>
        </p:nvSpPr>
        <p:spPr>
          <a:xfrm>
            <a:off x="6355080" y="3319272"/>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Drift</a:t>
            </a:r>
            <a:endParaRPr lang="en-US" sz="1800" dirty="0"/>
          </a:p>
        </p:txBody>
      </p:sp>
      <p:sp>
        <p:nvSpPr>
          <p:cNvPr id="23" name="Text 21"/>
          <p:cNvSpPr/>
          <p:nvPr/>
        </p:nvSpPr>
        <p:spPr>
          <a:xfrm>
            <a:off x="6355080" y="3621024"/>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Konfigurasjonsgenerator, felles baseline og labtesting reduserer konfigurasjonsavvik og risiko.</a:t>
            </a:r>
            <a:endParaRPr lang="en-US" sz="1230" dirty="0"/>
          </a:p>
        </p:txBody>
      </p:sp>
      <p:sp>
        <p:nvSpPr>
          <p:cNvPr id="24" name="Shape 22"/>
          <p:cNvSpPr/>
          <p:nvPr/>
        </p:nvSpPr>
        <p:spPr>
          <a:xfrm>
            <a:off x="1005840" y="5166360"/>
            <a:ext cx="10149840" cy="777240"/>
          </a:xfrm>
          <a:prstGeom prst="roundRect">
            <a:avLst>
              <a:gd name="adj" fmla="val 7059"/>
            </a:avLst>
          </a:prstGeom>
          <a:solidFill>
            <a:srgbClr val="0B1F33"/>
          </a:solidFill>
          <a:ln w="12700">
            <a:solidFill>
              <a:srgbClr val="0B1F33"/>
            </a:solidFill>
            <a:prstDash val="solid"/>
          </a:ln>
          <a:effectLst>
            <a:outerShdw algn="bl" rotWithShape="0">
              <a:srgbClr val="000000">
                <a:alpha val="0"/>
              </a:srgbClr>
            </a:outerShdw>
          </a:effectLst>
        </p:spPr>
        <p:txBody>
          <a:bodyPr/>
          <a:lstStyle/>
          <a:p>
            <a:endParaRPr lang="nb-NO"/>
          </a:p>
        </p:txBody>
      </p:sp>
      <p:sp>
        <p:nvSpPr>
          <p:cNvPr id="25" name="Text 23"/>
          <p:cNvSpPr/>
          <p:nvPr/>
        </p:nvSpPr>
        <p:spPr>
          <a:xfrm>
            <a:off x="1280160" y="5413248"/>
            <a:ext cx="9601200" cy="228600"/>
          </a:xfrm>
          <a:prstGeom prst="rect">
            <a:avLst/>
          </a:prstGeom>
          <a:noFill/>
          <a:ln/>
        </p:spPr>
        <p:txBody>
          <a:bodyPr wrap="square" lIns="0" tIns="0" rIns="0" bIns="0" rtlCol="0" anchor="ctr">
            <a:normAutofit/>
          </a:bodyPr>
          <a:lstStyle/>
          <a:p>
            <a:pPr marL="0" indent="0" algn="ctr">
              <a:buNone/>
            </a:pPr>
            <a:r>
              <a:rPr lang="en-US" sz="1850" b="1" dirty="0">
                <a:solidFill>
                  <a:srgbClr val="FFFFFF"/>
                </a:solidFill>
              </a:rPr>
              <a:t>Behold underlayet. Segmenter tjenestene. Sikre overlayet. Standardiser driften.</a:t>
            </a:r>
            <a:endParaRPr lang="en-US" sz="1850" dirty="0"/>
          </a:p>
        </p:txBody>
      </p:sp>
      <p:sp>
        <p:nvSpPr>
          <p:cNvPr id="26" name="Text 24"/>
          <p:cNvSpPr/>
          <p:nvPr/>
        </p:nvSpPr>
        <p:spPr>
          <a:xfrm>
            <a:off x="5074920" y="6080760"/>
            <a:ext cx="2011680" cy="292608"/>
          </a:xfrm>
          <a:prstGeom prst="rect">
            <a:avLst/>
          </a:prstGeom>
          <a:noFill/>
          <a:ln/>
        </p:spPr>
        <p:txBody>
          <a:bodyPr wrap="square" lIns="0" tIns="0" rIns="0" bIns="0" rtlCol="0" anchor="ctr"/>
          <a:lstStyle/>
          <a:p>
            <a:pPr marL="0" indent="0" algn="ctr">
              <a:buNone/>
            </a:pPr>
            <a:r>
              <a:rPr lang="en-US" sz="2100" b="1" dirty="0">
                <a:solidFill>
                  <a:srgbClr val="16A34A"/>
                </a:solidFill>
              </a:rPr>
              <a:t>Spørsmål?</a:t>
            </a:r>
            <a:endParaRPr lang="en-US" sz="2100" dirty="0"/>
          </a:p>
        </p:txBody>
      </p:sp>
      <p:sp>
        <p:nvSpPr>
          <p:cNvPr id="27"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1381</Words>
  <Application>Microsoft Office PowerPoint</Application>
  <PresentationFormat>Widescreen</PresentationFormat>
  <Paragraphs>185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NETworkSTUFF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Designløsning for bataljonsnettverk</dc:title>
  <dc:subject>Designpresentasjon – bataljonsnettverk</dc:subject>
  <dc:creator>OpenAI</dc:creator>
  <cp:lastModifiedBy>yonatan moknen</cp:lastModifiedBy>
  <cp:revision>3</cp:revision>
  <dcterms:created xsi:type="dcterms:W3CDTF">2026-09-21T14:36:40Z</dcterms:created>
  <dcterms:modified xsi:type="dcterms:W3CDTF">2026-09-21T15:25:33Z</dcterms:modified>
</cp:coreProperties>
</file>